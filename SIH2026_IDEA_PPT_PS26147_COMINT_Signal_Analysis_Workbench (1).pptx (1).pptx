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3"/>
  </p:notesMasterIdLst>
  <p:sldIdLst>
    <p:sldId id="256" r:id="rId6"/>
    <p:sldId id="257" r:id="rId7"/>
    <p:sldId id="258" r:id="rId8"/>
    <p:sldId id="259" r:id="rId9"/>
    <p:sldId id="260" r:id="rId10"/>
    <p:sldId id="261" r:id="rId11"/>
  </p:sldIdLst>
  <p:sldSz cx="18288000" cy="10287000"/>
  <p:notesSz cx="6858000" cy="9144000"/>
  <p:embeddedFontLst>
    <p:embeddedFont>
      <p:font typeface="Garamond Bold" charset="1" panose="02020804030307010803"/>
      <p:regular r:id="rId12"/>
    </p:embeddedFont>
    <p:embeddedFont>
      <p:font typeface="Arial" charset="1" panose="020B0604020202020204"/>
      <p:regular r:id="rId13"/>
    </p:embeddedFont>
    <p:embeddedFont>
      <p:font typeface="Arial Bold" charset="1" panose="020B0704020202020204"/>
      <p:regular r:id="rId14"/>
    </p:embeddedFont>
    <p:embeddedFont>
      <p:font typeface="Times New Roman Bold" charset="1" panose="02020803070505020304"/>
      <p:regular r:id="rId15"/>
    </p:embeddedFont>
    <p:embeddedFont>
      <p:font typeface="Phatt" charset="1" panose="00000000000000000000"/>
      <p:regular r:id="rId16"/>
    </p:embeddedFont>
    <p:embeddedFont>
      <p:font typeface="Canva Sans Bold" charset="1" panose="020B0803030501040103"/>
      <p:regular r:id="rId17"/>
    </p:embeddedFont>
    <p:embeddedFont>
      <p:font typeface="Cardo Bold" charset="1" panose="02020804080000020003"/>
      <p:regular r:id="rId18"/>
    </p:embeddedFont>
    <p:embeddedFont>
      <p:font typeface="Canva Sans" charset="1" panose="020B0503030501040103"/>
      <p:regular r:id="rId19"/>
    </p:embeddedFont>
    <p:embeddedFont>
      <p:font typeface="Open Sauce" charset="1" panose="00000500000000000000"/>
      <p:regular r:id="rId20"/>
    </p:embeddedFont>
    <p:embeddedFont>
      <p:font typeface="Canva Sans Italics" charset="1" panose="020B0503030501040103"/>
      <p:regular r:id="rId21"/>
    </p:embeddedFont>
    <p:embeddedFont>
      <p:font typeface="HK Modular" charset="1" panose="00000800000000000000"/>
      <p:regular r:id="rId22"/>
    </p:embeddedFont>
    <p:embeddedFont>
      <p:font typeface="Barlow Condensed Medium" charset="1" panose="00000606000000000000"/>
      <p:regular r:id="rId26"/>
    </p:embeddedFont>
    <p:embeddedFont>
      <p:font typeface="Barlow Semi-Bold" charset="1" panose="00000700000000000000"/>
      <p:regular r:id="rId27"/>
    </p:embeddedFont>
    <p:embeddedFont>
      <p:font typeface="Barlow Condensed" charset="1" panose="00000506000000000000"/>
      <p:regular r:id="rId28"/>
    </p:embeddedFont>
    <p:embeddedFont>
      <p:font typeface="Trade Gothic Condensed" charset="1" panose="020B0506040303020004"/>
      <p:regular r:id="rId29"/>
    </p:embeddedFont>
    <p:embeddedFont>
      <p:font typeface="Inndam Bold" charset="1" panose="00000800000000000000"/>
      <p:regular r:id="rId30"/>
    </p:embeddedFont>
    <p:embeddedFont>
      <p:font typeface="Barlow Bold" charset="1" panose="000008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notesMasters/notesMaster1.xml" Type="http://schemas.openxmlformats.org/officeDocument/2006/relationships/notesMaster"/><Relationship Id="rId24" Target="theme/theme2.xml" Type="http://schemas.openxmlformats.org/officeDocument/2006/relationships/theme"/><Relationship Id="rId25" Target="notesSlides/notesSlide1.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notesSlides/notesSlide2.xml" Type="http://schemas.openxmlformats.org/officeDocument/2006/relationships/notesSlide"/><Relationship Id="rId33" Target="notesSlides/notesSlide3.xml" Type="http://schemas.openxmlformats.org/officeDocument/2006/relationships/notesSlide"/><Relationship Id="rId34" Target="notesSlides/notesSlide4.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jpe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png" Type="http://schemas.openxmlformats.org/officeDocument/2006/relationships/image"/><Relationship Id="rId12" Target="../media/image15.png" Type="http://schemas.openxmlformats.org/officeDocument/2006/relationships/image"/><Relationship Id="rId13" Target="../media/image16.png" Type="http://schemas.openxmlformats.org/officeDocument/2006/relationships/image"/><Relationship Id="rId14" Target="../media/image17.svg" Type="http://schemas.openxmlformats.org/officeDocument/2006/relationships/image"/><Relationship Id="rId2" Target="../media/image6.png" Type="http://schemas.openxmlformats.org/officeDocument/2006/relationships/image"/><Relationship Id="rId3" Target="../media/image7.png" Type="http://schemas.openxmlformats.org/officeDocument/2006/relationships/image"/><Relationship Id="rId4" Target="../media/image5.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 Id="rId7" Target="../media/image10.png" Type="http://schemas.openxmlformats.org/officeDocument/2006/relationships/image"/><Relationship Id="rId8" Target="../media/image11.png" Type="http://schemas.openxmlformats.org/officeDocument/2006/relationships/image"/><Relationship Id="rId9" Target="../media/image1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png" Type="http://schemas.openxmlformats.org/officeDocument/2006/relationships/image"/><Relationship Id="rId12" Target="../media/image27.png" Type="http://schemas.openxmlformats.org/officeDocument/2006/relationships/image"/><Relationship Id="rId13" Target="../media/image28.png" Type="http://schemas.openxmlformats.org/officeDocument/2006/relationships/image"/><Relationship Id="rId14" Target="../media/image29.png" Type="http://schemas.openxmlformats.org/officeDocument/2006/relationships/image"/><Relationship Id="rId15" Target="../media/image30.png" Type="http://schemas.openxmlformats.org/officeDocument/2006/relationships/image"/><Relationship Id="rId16" Target="../media/image31.png" Type="http://schemas.openxmlformats.org/officeDocument/2006/relationships/image"/><Relationship Id="rId17" Target="../media/image32.png" Type="http://schemas.openxmlformats.org/officeDocument/2006/relationships/image"/><Relationship Id="rId18" Target="../media/image33.png" Type="http://schemas.openxmlformats.org/officeDocument/2006/relationships/image"/><Relationship Id="rId19" Target="../media/image4.jpeg" Type="http://schemas.openxmlformats.org/officeDocument/2006/relationships/image"/><Relationship Id="rId2" Target="../notesSlides/notesSlide1.xml" Type="http://schemas.openxmlformats.org/officeDocument/2006/relationships/notesSlide"/><Relationship Id="rId20" Target="../media/image34.png" Type="http://schemas.openxmlformats.org/officeDocument/2006/relationships/image"/><Relationship Id="rId21" Target="../media/image35.png" Type="http://schemas.openxmlformats.org/officeDocument/2006/relationships/image"/><Relationship Id="rId22" Target="../media/image36.png" Type="http://schemas.openxmlformats.org/officeDocument/2006/relationships/image"/><Relationship Id="rId23" Target="../media/image37.png" Type="http://schemas.openxmlformats.org/officeDocument/2006/relationships/image"/><Relationship Id="rId24" Target="../media/image38.png" Type="http://schemas.openxmlformats.org/officeDocument/2006/relationships/image"/><Relationship Id="rId25" Target="../media/image39.png" Type="http://schemas.openxmlformats.org/officeDocument/2006/relationships/image"/><Relationship Id="rId26" Target="../media/image5.pn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 Id="rId9" Target="../media/image2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4.jpeg" Type="http://schemas.openxmlformats.org/officeDocument/2006/relationships/image"/><Relationship Id="rId4" Target="../media/image5.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 Id="rId7" Target="../media/image10.png" Type="http://schemas.openxmlformats.org/officeDocument/2006/relationships/image"/><Relationship Id="rId8" Target="../media/image40.png" Type="http://schemas.openxmlformats.org/officeDocument/2006/relationships/image"/><Relationship Id="rId9" Target="../media/image4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png" Type="http://schemas.openxmlformats.org/officeDocument/2006/relationships/image"/><Relationship Id="rId11" Target="../media/image45.svg" Type="http://schemas.openxmlformats.org/officeDocument/2006/relationships/image"/><Relationship Id="rId12" Target="../media/image46.png" Type="http://schemas.openxmlformats.org/officeDocument/2006/relationships/image"/><Relationship Id="rId13" Target="../media/image47.svg" Type="http://schemas.openxmlformats.org/officeDocument/2006/relationships/image"/><Relationship Id="rId14" Target="../media/image48.png" Type="http://schemas.openxmlformats.org/officeDocument/2006/relationships/image"/><Relationship Id="rId15" Target="../media/image49.svg" Type="http://schemas.openxmlformats.org/officeDocument/2006/relationships/image"/><Relationship Id="rId16" Target="../media/image50.png" Type="http://schemas.openxmlformats.org/officeDocument/2006/relationships/image"/><Relationship Id="rId17" Target="../media/image51.png" Type="http://schemas.openxmlformats.org/officeDocument/2006/relationships/image"/><Relationship Id="rId18" Target="../media/image52.svg" Type="http://schemas.openxmlformats.org/officeDocument/2006/relationships/image"/><Relationship Id="rId2" Target="../notesSlides/notesSlide3.xml" Type="http://schemas.openxmlformats.org/officeDocument/2006/relationships/notesSlide"/><Relationship Id="rId3" Target="../media/image4.jpeg" Type="http://schemas.openxmlformats.org/officeDocument/2006/relationships/image"/><Relationship Id="rId4" Target="../media/image5.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 Id="rId7" Target="../media/image10.png" Type="http://schemas.openxmlformats.org/officeDocument/2006/relationships/image"/><Relationship Id="rId8" Target="../media/image42.png" Type="http://schemas.openxmlformats.org/officeDocument/2006/relationships/image"/><Relationship Id="rId9" Target="../media/image4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https://pypi.org/project/reedsolo/" TargetMode="External" Type="http://schemas.openxmlformats.org/officeDocument/2006/relationships/hyperlink"/><Relationship Id="rId11" Target="../media/image55.png" Type="http://schemas.openxmlformats.org/officeDocument/2006/relationships/image"/><Relationship Id="rId12" Target="../media/image56.png" Type="http://schemas.openxmlformats.org/officeDocument/2006/relationships/image"/><Relationship Id="rId13" Target="../media/image57.png" Type="http://schemas.openxmlformats.org/officeDocument/2006/relationships/image"/><Relationship Id="rId14" Target="../media/image58.svg" Type="http://schemas.openxmlformats.org/officeDocument/2006/relationships/image"/><Relationship Id="rId15" Target="../media/image59.png" Type="http://schemas.openxmlformats.org/officeDocument/2006/relationships/image"/><Relationship Id="rId16" Target="../media/image60.svg" Type="http://schemas.openxmlformats.org/officeDocument/2006/relationships/image"/><Relationship Id="rId17" Target="https://pysdr.org" TargetMode="External" Type="http://schemas.openxmlformats.org/officeDocument/2006/relationships/hyperlink"/><Relationship Id="rId18" Target="https://getsamplefiles.com/sample-audio-files/wav" TargetMode="External" Type="http://schemas.openxmlformats.org/officeDocument/2006/relationships/hyperlink"/><Relationship Id="rId19" Target="https://github.com/gourabde7/Spectra" TargetMode="External" Type="http://schemas.openxmlformats.org/officeDocument/2006/relationships/hyperlink"/><Relationship Id="rId2" Target="../notesSlides/notesSlide4.xml" Type="http://schemas.openxmlformats.org/officeDocument/2006/relationships/notesSlide"/><Relationship Id="rId3" Target="../media/image4.jpeg" Type="http://schemas.openxmlformats.org/officeDocument/2006/relationships/image"/><Relationship Id="rId4" Target="../media/image5.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 Id="rId7" Target="../media/image10.png" Type="http://schemas.openxmlformats.org/officeDocument/2006/relationships/image"/><Relationship Id="rId8" Target="../media/image53.png" Type="http://schemas.openxmlformats.org/officeDocument/2006/relationships/image"/><Relationship Id="rId9" Target="../media/image5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485165" y="1277283"/>
            <a:ext cx="6957908" cy="7732452"/>
          </a:xfrm>
          <a:custGeom>
            <a:avLst/>
            <a:gdLst/>
            <a:ahLst/>
            <a:cxnLst/>
            <a:rect r="r" b="b" t="t" l="l"/>
            <a:pathLst>
              <a:path h="7732452" w="6957908">
                <a:moveTo>
                  <a:pt x="0" y="0"/>
                </a:moveTo>
                <a:lnTo>
                  <a:pt x="6957908" y="0"/>
                </a:lnTo>
                <a:lnTo>
                  <a:pt x="6957908" y="7732453"/>
                </a:lnTo>
                <a:lnTo>
                  <a:pt x="0" y="77324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338363" y="3160395"/>
            <a:ext cx="4805267" cy="5139357"/>
            <a:chOff x="0" y="0"/>
            <a:chExt cx="6407023" cy="6852476"/>
          </a:xfrm>
        </p:grpSpPr>
        <p:sp>
          <p:nvSpPr>
            <p:cNvPr name="Freeform 4" id="4"/>
            <p:cNvSpPr/>
            <p:nvPr/>
          </p:nvSpPr>
          <p:spPr>
            <a:xfrm flipH="false" flipV="false" rot="0">
              <a:off x="0" y="0"/>
              <a:ext cx="6407023" cy="6852412"/>
            </a:xfrm>
            <a:custGeom>
              <a:avLst/>
              <a:gdLst/>
              <a:ahLst/>
              <a:cxnLst/>
              <a:rect r="r" b="b" t="t" l="l"/>
              <a:pathLst>
                <a:path h="6852412" w="6407023">
                  <a:moveTo>
                    <a:pt x="0" y="0"/>
                  </a:moveTo>
                  <a:lnTo>
                    <a:pt x="6407023" y="0"/>
                  </a:lnTo>
                  <a:lnTo>
                    <a:pt x="6407023" y="6852412"/>
                  </a:lnTo>
                  <a:lnTo>
                    <a:pt x="0" y="6852412"/>
                  </a:lnTo>
                  <a:lnTo>
                    <a:pt x="0" y="0"/>
                  </a:lnTo>
                  <a:close/>
                </a:path>
              </a:pathLst>
            </a:custGeom>
            <a:blipFill>
              <a:blip r:embed="rId4"/>
              <a:stretch>
                <a:fillRect l="0" t="0" r="-149475" b="-1"/>
              </a:stretch>
            </a:blipFill>
          </p:spPr>
        </p:sp>
      </p:grpSp>
      <p:grpSp>
        <p:nvGrpSpPr>
          <p:cNvPr name="Group 5" id="5"/>
          <p:cNvGrpSpPr/>
          <p:nvPr/>
        </p:nvGrpSpPr>
        <p:grpSpPr>
          <a:xfrm rot="0">
            <a:off x="628459" y="-329100"/>
            <a:ext cx="14814614" cy="2085918"/>
            <a:chOff x="0" y="0"/>
            <a:chExt cx="19752818" cy="2781224"/>
          </a:xfrm>
        </p:grpSpPr>
        <p:sp>
          <p:nvSpPr>
            <p:cNvPr name="Freeform 6" id="6"/>
            <p:cNvSpPr/>
            <p:nvPr/>
          </p:nvSpPr>
          <p:spPr>
            <a:xfrm flipH="false" flipV="false" rot="0">
              <a:off x="0" y="0"/>
              <a:ext cx="19752818" cy="2781224"/>
            </a:xfrm>
            <a:custGeom>
              <a:avLst/>
              <a:gdLst/>
              <a:ahLst/>
              <a:cxnLst/>
              <a:rect r="r" b="b" t="t" l="l"/>
              <a:pathLst>
                <a:path h="2781224" w="19752818">
                  <a:moveTo>
                    <a:pt x="0" y="0"/>
                  </a:moveTo>
                  <a:lnTo>
                    <a:pt x="19752818" y="0"/>
                  </a:lnTo>
                  <a:lnTo>
                    <a:pt x="19752818" y="2781224"/>
                  </a:lnTo>
                  <a:lnTo>
                    <a:pt x="0" y="2781224"/>
                  </a:lnTo>
                  <a:close/>
                </a:path>
              </a:pathLst>
            </a:custGeom>
            <a:blipFill>
              <a:blip r:embed="rId5">
                <a:alphaModFix amt="0"/>
              </a:blip>
              <a:stretch>
                <a:fillRect l="0" t="-70547" r="-4928" b="-119867"/>
              </a:stretch>
            </a:blipFill>
          </p:spPr>
        </p:sp>
        <p:sp>
          <p:nvSpPr>
            <p:cNvPr name="TextBox 7" id="7"/>
            <p:cNvSpPr txBox="true"/>
            <p:nvPr/>
          </p:nvSpPr>
          <p:spPr>
            <a:xfrm>
              <a:off x="0" y="-19050"/>
              <a:ext cx="19752818" cy="2800274"/>
            </a:xfrm>
            <a:prstGeom prst="rect">
              <a:avLst/>
            </a:prstGeom>
          </p:spPr>
          <p:txBody>
            <a:bodyPr anchor="ctr" rtlCol="false" tIns="0" lIns="0" bIns="0" rIns="0"/>
            <a:lstStyle/>
            <a:p>
              <a:pPr algn="ctr">
                <a:lnSpc>
                  <a:spcPts val="7200"/>
                </a:lnSpc>
              </a:pPr>
              <a:r>
                <a:rPr lang="en-US" sz="6000" b="true">
                  <a:solidFill>
                    <a:srgbClr val="1F497D"/>
                  </a:solidFill>
                  <a:latin typeface="Garamond Bold"/>
                  <a:ea typeface="Garamond Bold"/>
                  <a:cs typeface="Garamond Bold"/>
                  <a:sym typeface="Garamond Bold"/>
                </a:rPr>
                <a:t>SMART INDIA HACKATHON 2026</a:t>
              </a:r>
            </a:p>
          </p:txBody>
        </p:sp>
      </p:grpSp>
      <p:sp>
        <p:nvSpPr>
          <p:cNvPr name="TextBox 8" id="8"/>
          <p:cNvSpPr txBox="true"/>
          <p:nvPr/>
        </p:nvSpPr>
        <p:spPr>
          <a:xfrm rot="0">
            <a:off x="154613" y="2823618"/>
            <a:ext cx="8989387" cy="6630130"/>
          </a:xfrm>
          <a:prstGeom prst="rect">
            <a:avLst/>
          </a:prstGeom>
        </p:spPr>
        <p:txBody>
          <a:bodyPr anchor="t" rtlCol="false" tIns="0" lIns="0" bIns="0" rIns="0">
            <a:spAutoFit/>
          </a:bodyPr>
          <a:lstStyle/>
          <a:p>
            <a:pPr algn="l">
              <a:lnSpc>
                <a:spcPts val="3718"/>
              </a:lnSpc>
            </a:pPr>
          </a:p>
          <a:p>
            <a:pPr algn="just" marL="672875" indent="-336438" lvl="1">
              <a:lnSpc>
                <a:spcPts val="5800"/>
              </a:lnSpc>
              <a:buFont typeface="Arial"/>
              <a:buChar char="•"/>
            </a:pPr>
            <a:r>
              <a:rPr lang="en-US" sz="3718">
                <a:solidFill>
                  <a:srgbClr val="000000"/>
                </a:solidFill>
                <a:latin typeface="Arial"/>
                <a:ea typeface="Arial"/>
                <a:cs typeface="Arial"/>
                <a:sym typeface="Arial"/>
              </a:rPr>
              <a:t>Problem Statement ID</a:t>
            </a:r>
            <a:r>
              <a:rPr lang="en-US" b="true" sz="3718">
                <a:solidFill>
                  <a:srgbClr val="000000"/>
                </a:solidFill>
                <a:latin typeface="Arial Bold"/>
                <a:ea typeface="Arial Bold"/>
                <a:cs typeface="Arial Bold"/>
                <a:sym typeface="Arial Bold"/>
              </a:rPr>
              <a:t> – SIH26147</a:t>
            </a:r>
          </a:p>
          <a:p>
            <a:pPr algn="just" marL="560730" indent="-280365" lvl="1">
              <a:lnSpc>
                <a:spcPts val="4833"/>
              </a:lnSpc>
              <a:buFont typeface="Arial"/>
              <a:buChar char="•"/>
            </a:pPr>
            <a:r>
              <a:rPr lang="en-US" sz="3098">
                <a:solidFill>
                  <a:srgbClr val="000000"/>
                </a:solidFill>
                <a:latin typeface="Arial"/>
                <a:ea typeface="Arial"/>
                <a:cs typeface="Arial"/>
                <a:sym typeface="Arial"/>
              </a:rPr>
              <a:t>Problem Statement Title</a:t>
            </a:r>
            <a:r>
              <a:rPr lang="en-US" b="true" sz="3098">
                <a:solidFill>
                  <a:srgbClr val="000000"/>
                </a:solidFill>
                <a:latin typeface="Arial Bold"/>
                <a:ea typeface="Arial Bold"/>
                <a:cs typeface="Arial Bold"/>
                <a:sym typeface="Arial Bold"/>
              </a:rPr>
              <a:t> –  Automated model for analysis of .IQ and .wav files along with signal parameter extraction</a:t>
            </a:r>
          </a:p>
          <a:p>
            <a:pPr algn="just" marL="672875" indent="-336438" lvl="1">
              <a:lnSpc>
                <a:spcPts val="5800"/>
              </a:lnSpc>
              <a:buFont typeface="Arial"/>
              <a:buChar char="•"/>
            </a:pPr>
            <a:r>
              <a:rPr lang="en-US" sz="3718">
                <a:solidFill>
                  <a:srgbClr val="000000"/>
                </a:solidFill>
                <a:latin typeface="Arial"/>
                <a:ea typeface="Arial"/>
                <a:cs typeface="Arial"/>
                <a:sym typeface="Arial"/>
              </a:rPr>
              <a:t>Theme </a:t>
            </a:r>
            <a:r>
              <a:rPr lang="en-US" b="true" sz="3718">
                <a:solidFill>
                  <a:srgbClr val="000000"/>
                </a:solidFill>
                <a:latin typeface="Arial Bold"/>
                <a:ea typeface="Arial Bold"/>
                <a:cs typeface="Arial Bold"/>
                <a:sym typeface="Arial Bold"/>
              </a:rPr>
              <a:t>- Space Technology</a:t>
            </a:r>
          </a:p>
          <a:p>
            <a:pPr algn="just" marL="672875" indent="-336438" lvl="1">
              <a:lnSpc>
                <a:spcPts val="5800"/>
              </a:lnSpc>
              <a:buFont typeface="Arial"/>
              <a:buChar char="•"/>
            </a:pPr>
            <a:r>
              <a:rPr lang="en-US" sz="3718">
                <a:solidFill>
                  <a:srgbClr val="000000"/>
                </a:solidFill>
                <a:latin typeface="Arial"/>
                <a:ea typeface="Arial"/>
                <a:cs typeface="Arial"/>
                <a:sym typeface="Arial"/>
              </a:rPr>
              <a:t>PS Category</a:t>
            </a:r>
            <a:r>
              <a:rPr lang="en-US" b="true" sz="3718">
                <a:solidFill>
                  <a:srgbClr val="000000"/>
                </a:solidFill>
                <a:latin typeface="Arial Bold"/>
                <a:ea typeface="Arial Bold"/>
                <a:cs typeface="Arial Bold"/>
                <a:sym typeface="Arial Bold"/>
              </a:rPr>
              <a:t>- Software</a:t>
            </a:r>
          </a:p>
          <a:p>
            <a:pPr algn="just" marL="672875" indent="-336438" lvl="1">
              <a:lnSpc>
                <a:spcPts val="5800"/>
              </a:lnSpc>
              <a:buFont typeface="Arial"/>
              <a:buChar char="•"/>
            </a:pPr>
            <a:r>
              <a:rPr lang="en-US" sz="3718">
                <a:solidFill>
                  <a:srgbClr val="000000"/>
                </a:solidFill>
                <a:latin typeface="Arial"/>
                <a:ea typeface="Arial"/>
                <a:cs typeface="Arial"/>
                <a:sym typeface="Arial"/>
              </a:rPr>
              <a:t>Team ID</a:t>
            </a:r>
            <a:r>
              <a:rPr lang="en-US" b="true" sz="3718">
                <a:solidFill>
                  <a:srgbClr val="000000"/>
                </a:solidFill>
                <a:latin typeface="Arial Bold"/>
                <a:ea typeface="Arial Bold"/>
                <a:cs typeface="Arial Bold"/>
                <a:sym typeface="Arial Bold"/>
              </a:rPr>
              <a:t> -</a:t>
            </a:r>
          </a:p>
          <a:p>
            <a:pPr algn="just" marL="672875" indent="-336438" lvl="1">
              <a:lnSpc>
                <a:spcPts val="5800"/>
              </a:lnSpc>
              <a:buFont typeface="Arial"/>
              <a:buChar char="•"/>
            </a:pPr>
            <a:r>
              <a:rPr lang="en-US" sz="3718">
                <a:solidFill>
                  <a:srgbClr val="000000"/>
                </a:solidFill>
                <a:latin typeface="Arial"/>
                <a:ea typeface="Arial"/>
                <a:cs typeface="Arial"/>
                <a:sym typeface="Arial"/>
              </a:rPr>
              <a:t>Team Name (Registered on portal)</a:t>
            </a:r>
            <a:r>
              <a:rPr lang="en-US" b="true" sz="3718">
                <a:solidFill>
                  <a:srgbClr val="000000"/>
                </a:solidFill>
                <a:latin typeface="Arial Bold"/>
                <a:ea typeface="Arial Bold"/>
                <a:cs typeface="Arial Bold"/>
                <a:sym typeface="Arial Bold"/>
              </a:rPr>
              <a:t> - Spectra</a:t>
            </a:r>
          </a:p>
        </p:txBody>
      </p:sp>
      <p:grpSp>
        <p:nvGrpSpPr>
          <p:cNvPr name="Group 9" id="9"/>
          <p:cNvGrpSpPr/>
          <p:nvPr/>
        </p:nvGrpSpPr>
        <p:grpSpPr>
          <a:xfrm rot="0">
            <a:off x="14670129" y="2248"/>
            <a:ext cx="3374774" cy="1593504"/>
            <a:chOff x="0" y="0"/>
            <a:chExt cx="4499699" cy="2124672"/>
          </a:xfrm>
        </p:grpSpPr>
        <p:sp>
          <p:nvSpPr>
            <p:cNvPr name="Freeform 10" id="10"/>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6"/>
              <a:stretch>
                <a:fillRect l="0" t="0" r="0" b="1"/>
              </a:stretch>
            </a:blipFill>
          </p:spPr>
        </p:sp>
      </p:grpSp>
      <p:sp>
        <p:nvSpPr>
          <p:cNvPr name="TextBox 11" id="11"/>
          <p:cNvSpPr txBox="true"/>
          <p:nvPr/>
        </p:nvSpPr>
        <p:spPr>
          <a:xfrm rot="0">
            <a:off x="1266561" y="1366293"/>
            <a:ext cx="13403568" cy="752475"/>
          </a:xfrm>
          <a:prstGeom prst="rect">
            <a:avLst/>
          </a:prstGeom>
        </p:spPr>
        <p:txBody>
          <a:bodyPr anchor="t" rtlCol="false" tIns="0" lIns="0" bIns="0" rIns="0">
            <a:spAutoFit/>
          </a:bodyPr>
          <a:lstStyle/>
          <a:p>
            <a:pPr algn="ctr">
              <a:lnSpc>
                <a:spcPts val="5759"/>
              </a:lnSpc>
            </a:pPr>
            <a:r>
              <a:rPr lang="en-US" sz="4800" b="true">
                <a:solidFill>
                  <a:srgbClr val="000000"/>
                </a:solidFill>
                <a:latin typeface="Times New Roman Bold"/>
                <a:ea typeface="Times New Roman Bold"/>
                <a:cs typeface="Times New Roman Bold"/>
                <a:sym typeface="Times New Roman Bold"/>
              </a:rPr>
              <a:t>Automated Model for Analysis of .IQ and .wav files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0888" y="2043502"/>
            <a:ext cx="6289330" cy="2205903"/>
            <a:chOff x="0" y="0"/>
            <a:chExt cx="1656449" cy="580979"/>
          </a:xfrm>
        </p:grpSpPr>
        <p:sp>
          <p:nvSpPr>
            <p:cNvPr name="Freeform 3" id="3"/>
            <p:cNvSpPr/>
            <p:nvPr/>
          </p:nvSpPr>
          <p:spPr>
            <a:xfrm flipH="false" flipV="false" rot="0">
              <a:off x="0" y="0"/>
              <a:ext cx="1656449" cy="580979"/>
            </a:xfrm>
            <a:custGeom>
              <a:avLst/>
              <a:gdLst/>
              <a:ahLst/>
              <a:cxnLst/>
              <a:rect r="r" b="b" t="t" l="l"/>
              <a:pathLst>
                <a:path h="580979" w="1656449">
                  <a:moveTo>
                    <a:pt x="0" y="0"/>
                  </a:moveTo>
                  <a:lnTo>
                    <a:pt x="1656449" y="0"/>
                  </a:lnTo>
                  <a:lnTo>
                    <a:pt x="1656449" y="580979"/>
                  </a:lnTo>
                  <a:lnTo>
                    <a:pt x="0" y="580979"/>
                  </a:lnTo>
                  <a:close/>
                </a:path>
              </a:pathLst>
            </a:custGeom>
            <a:gradFill rotWithShape="true">
              <a:gsLst>
                <a:gs pos="0">
                  <a:srgbClr val="FFDE59">
                    <a:alpha val="100000"/>
                  </a:srgbClr>
                </a:gs>
                <a:gs pos="100000">
                  <a:srgbClr val="FF914D">
                    <a:alpha val="100000"/>
                  </a:srgbClr>
                </a:gs>
              </a:gsLst>
              <a:lin ang="0"/>
            </a:gradFill>
            <a:ln w="38100" cap="sq">
              <a:solidFill>
                <a:srgbClr val="000000"/>
              </a:solidFill>
              <a:prstDash val="lgDash"/>
              <a:miter/>
            </a:ln>
          </p:spPr>
        </p:sp>
        <p:sp>
          <p:nvSpPr>
            <p:cNvPr name="TextBox 4" id="4"/>
            <p:cNvSpPr txBox="true"/>
            <p:nvPr/>
          </p:nvSpPr>
          <p:spPr>
            <a:xfrm>
              <a:off x="0" y="9525"/>
              <a:ext cx="1656449" cy="571454"/>
            </a:xfrm>
            <a:prstGeom prst="rect">
              <a:avLst/>
            </a:prstGeom>
          </p:spPr>
          <p:txBody>
            <a:bodyPr anchor="ctr" rtlCol="false" tIns="50800" lIns="50800" bIns="50800" rIns="50800"/>
            <a:lstStyle/>
            <a:p>
              <a:pPr algn="ctr">
                <a:lnSpc>
                  <a:spcPts val="1808"/>
                </a:lnSpc>
              </a:pPr>
            </a:p>
          </p:txBody>
        </p:sp>
      </p:grpSp>
      <p:grpSp>
        <p:nvGrpSpPr>
          <p:cNvPr name="Group 5" id="5"/>
          <p:cNvGrpSpPr/>
          <p:nvPr/>
        </p:nvGrpSpPr>
        <p:grpSpPr>
          <a:xfrm rot="0">
            <a:off x="6559322" y="7902042"/>
            <a:ext cx="8066733" cy="2039764"/>
            <a:chOff x="0" y="0"/>
            <a:chExt cx="2124572" cy="537222"/>
          </a:xfrm>
        </p:grpSpPr>
        <p:sp>
          <p:nvSpPr>
            <p:cNvPr name="Freeform 6" id="6"/>
            <p:cNvSpPr/>
            <p:nvPr/>
          </p:nvSpPr>
          <p:spPr>
            <a:xfrm flipH="false" flipV="false" rot="0">
              <a:off x="0" y="0"/>
              <a:ext cx="2124572" cy="537222"/>
            </a:xfrm>
            <a:custGeom>
              <a:avLst/>
              <a:gdLst/>
              <a:ahLst/>
              <a:cxnLst/>
              <a:rect r="r" b="b" t="t" l="l"/>
              <a:pathLst>
                <a:path h="537222" w="2124572">
                  <a:moveTo>
                    <a:pt x="0" y="0"/>
                  </a:moveTo>
                  <a:lnTo>
                    <a:pt x="2124572" y="0"/>
                  </a:lnTo>
                  <a:lnTo>
                    <a:pt x="2124572" y="537222"/>
                  </a:lnTo>
                  <a:lnTo>
                    <a:pt x="0" y="537222"/>
                  </a:lnTo>
                  <a:close/>
                </a:path>
              </a:pathLst>
            </a:custGeom>
            <a:solidFill>
              <a:srgbClr val="D9D9D9"/>
            </a:solidFill>
            <a:ln w="38100" cap="sq">
              <a:solidFill>
                <a:srgbClr val="000000"/>
              </a:solidFill>
              <a:prstDash val="lgDash"/>
              <a:miter/>
            </a:ln>
          </p:spPr>
        </p:sp>
        <p:sp>
          <p:nvSpPr>
            <p:cNvPr name="TextBox 7" id="7"/>
            <p:cNvSpPr txBox="true"/>
            <p:nvPr/>
          </p:nvSpPr>
          <p:spPr>
            <a:xfrm>
              <a:off x="0" y="9525"/>
              <a:ext cx="2124572" cy="527697"/>
            </a:xfrm>
            <a:prstGeom prst="rect">
              <a:avLst/>
            </a:prstGeom>
          </p:spPr>
          <p:txBody>
            <a:bodyPr anchor="ctr" rtlCol="false" tIns="50800" lIns="50800" bIns="50800" rIns="50800"/>
            <a:lstStyle/>
            <a:p>
              <a:pPr algn="ctr">
                <a:lnSpc>
                  <a:spcPts val="1808"/>
                </a:lnSpc>
              </a:pPr>
            </a:p>
          </p:txBody>
        </p:sp>
      </p:grpSp>
      <p:grpSp>
        <p:nvGrpSpPr>
          <p:cNvPr name="Group 8" id="8"/>
          <p:cNvGrpSpPr/>
          <p:nvPr/>
        </p:nvGrpSpPr>
        <p:grpSpPr>
          <a:xfrm rot="0">
            <a:off x="14519314" y="1834248"/>
            <a:ext cx="213483" cy="8295392"/>
            <a:chOff x="0" y="0"/>
            <a:chExt cx="271499" cy="10549774"/>
          </a:xfrm>
        </p:grpSpPr>
        <p:sp>
          <p:nvSpPr>
            <p:cNvPr name="Freeform 9" id="9"/>
            <p:cNvSpPr/>
            <p:nvPr/>
          </p:nvSpPr>
          <p:spPr>
            <a:xfrm flipH="false" flipV="false" rot="0">
              <a:off x="0" y="0"/>
              <a:ext cx="271499" cy="10549775"/>
            </a:xfrm>
            <a:custGeom>
              <a:avLst/>
              <a:gdLst/>
              <a:ahLst/>
              <a:cxnLst/>
              <a:rect r="r" b="b" t="t" l="l"/>
              <a:pathLst>
                <a:path h="10549775" w="271499">
                  <a:moveTo>
                    <a:pt x="0" y="0"/>
                  </a:moveTo>
                  <a:lnTo>
                    <a:pt x="271499" y="0"/>
                  </a:lnTo>
                  <a:lnTo>
                    <a:pt x="271499" y="10549775"/>
                  </a:lnTo>
                  <a:lnTo>
                    <a:pt x="0" y="10549775"/>
                  </a:lnTo>
                  <a:close/>
                </a:path>
              </a:pathLst>
            </a:custGeom>
            <a:blipFill>
              <a:blip r:embed="rId2"/>
              <a:stretch>
                <a:fillRect l="-531" t="0" r="-531" b="0"/>
              </a:stretch>
            </a:blipFill>
          </p:spPr>
        </p:sp>
      </p:grpSp>
      <p:grpSp>
        <p:nvGrpSpPr>
          <p:cNvPr name="Group 10" id="10"/>
          <p:cNvGrpSpPr/>
          <p:nvPr/>
        </p:nvGrpSpPr>
        <p:grpSpPr>
          <a:xfrm rot="0">
            <a:off x="170888" y="4355459"/>
            <a:ext cx="6289330" cy="2589695"/>
            <a:chOff x="0" y="0"/>
            <a:chExt cx="1656449" cy="682060"/>
          </a:xfrm>
        </p:grpSpPr>
        <p:sp>
          <p:nvSpPr>
            <p:cNvPr name="Freeform 11" id="11"/>
            <p:cNvSpPr/>
            <p:nvPr/>
          </p:nvSpPr>
          <p:spPr>
            <a:xfrm flipH="false" flipV="false" rot="0">
              <a:off x="0" y="0"/>
              <a:ext cx="1656449" cy="682060"/>
            </a:xfrm>
            <a:custGeom>
              <a:avLst/>
              <a:gdLst/>
              <a:ahLst/>
              <a:cxnLst/>
              <a:rect r="r" b="b" t="t" l="l"/>
              <a:pathLst>
                <a:path h="682060" w="1656449">
                  <a:moveTo>
                    <a:pt x="0" y="0"/>
                  </a:moveTo>
                  <a:lnTo>
                    <a:pt x="1656449" y="0"/>
                  </a:lnTo>
                  <a:lnTo>
                    <a:pt x="1656449" y="682060"/>
                  </a:lnTo>
                  <a:lnTo>
                    <a:pt x="0" y="682060"/>
                  </a:lnTo>
                  <a:close/>
                </a:path>
              </a:pathLst>
            </a:custGeom>
            <a:gradFill rotWithShape="true">
              <a:gsLst>
                <a:gs pos="0">
                  <a:srgbClr val="7AF6EE">
                    <a:alpha val="100000"/>
                  </a:srgbClr>
                </a:gs>
                <a:gs pos="100000">
                  <a:srgbClr val="EAFFFE">
                    <a:alpha val="100000"/>
                  </a:srgbClr>
                </a:gs>
              </a:gsLst>
              <a:lin ang="5400000"/>
            </a:gradFill>
            <a:ln w="38100" cap="sq">
              <a:solidFill>
                <a:srgbClr val="000000"/>
              </a:solidFill>
              <a:prstDash val="lgDash"/>
              <a:miter/>
            </a:ln>
          </p:spPr>
        </p:sp>
        <p:sp>
          <p:nvSpPr>
            <p:cNvPr name="TextBox 12" id="12"/>
            <p:cNvSpPr txBox="true"/>
            <p:nvPr/>
          </p:nvSpPr>
          <p:spPr>
            <a:xfrm>
              <a:off x="0" y="9525"/>
              <a:ext cx="1656449" cy="672535"/>
            </a:xfrm>
            <a:prstGeom prst="rect">
              <a:avLst/>
            </a:prstGeom>
          </p:spPr>
          <p:txBody>
            <a:bodyPr anchor="ctr" rtlCol="false" tIns="50800" lIns="50800" bIns="50800" rIns="50800"/>
            <a:lstStyle/>
            <a:p>
              <a:pPr algn="ctr">
                <a:lnSpc>
                  <a:spcPts val="1808"/>
                </a:lnSpc>
              </a:pPr>
            </a:p>
          </p:txBody>
        </p:sp>
      </p:grpSp>
      <p:sp>
        <p:nvSpPr>
          <p:cNvPr name="TextBox 13" id="13"/>
          <p:cNvSpPr txBox="true"/>
          <p:nvPr/>
        </p:nvSpPr>
        <p:spPr>
          <a:xfrm rot="0">
            <a:off x="7515126" y="5276349"/>
            <a:ext cx="6486426" cy="427120"/>
          </a:xfrm>
          <a:prstGeom prst="rect">
            <a:avLst/>
          </a:prstGeom>
        </p:spPr>
        <p:txBody>
          <a:bodyPr anchor="t" rtlCol="false" tIns="0" lIns="0" bIns="0" rIns="0">
            <a:spAutoFit/>
          </a:bodyPr>
          <a:lstStyle/>
          <a:p>
            <a:pPr algn="l">
              <a:lnSpc>
                <a:spcPts val="1657"/>
              </a:lnSpc>
            </a:pPr>
            <a:r>
              <a:rPr lang="en-US" sz="1184">
                <a:solidFill>
                  <a:srgbClr val="FFFFFF"/>
                </a:solidFill>
                <a:latin typeface="Phatt"/>
                <a:ea typeface="Phatt"/>
                <a:cs typeface="Phatt"/>
                <a:sym typeface="Phatt"/>
              </a:rPr>
              <a:t>AI IoT Based Portable Smart Cotton Picking and Crop Health Monitoring Machine</a:t>
            </a:r>
          </a:p>
        </p:txBody>
      </p:sp>
      <p:sp>
        <p:nvSpPr>
          <p:cNvPr name="TextBox 14" id="14"/>
          <p:cNvSpPr txBox="true"/>
          <p:nvPr/>
        </p:nvSpPr>
        <p:spPr>
          <a:xfrm rot="0">
            <a:off x="7268181" y="6212788"/>
            <a:ext cx="2782249" cy="395996"/>
          </a:xfrm>
          <a:prstGeom prst="rect">
            <a:avLst/>
          </a:prstGeom>
        </p:spPr>
        <p:txBody>
          <a:bodyPr anchor="t" rtlCol="false" tIns="0" lIns="0" bIns="0" rIns="0">
            <a:spAutoFit/>
          </a:bodyPr>
          <a:lstStyle/>
          <a:p>
            <a:pPr algn="l">
              <a:lnSpc>
                <a:spcPts val="3373"/>
              </a:lnSpc>
            </a:pPr>
            <a:r>
              <a:rPr lang="en-US" sz="2409" b="true">
                <a:solidFill>
                  <a:srgbClr val="0066B8"/>
                </a:solidFill>
                <a:latin typeface="Canva Sans Bold"/>
                <a:ea typeface="Canva Sans Bold"/>
                <a:cs typeface="Canva Sans Bold"/>
                <a:sym typeface="Canva Sans Bold"/>
              </a:rPr>
              <a:t>Why We Stand Out</a:t>
            </a:r>
          </a:p>
        </p:txBody>
      </p:sp>
      <p:sp>
        <p:nvSpPr>
          <p:cNvPr name="Freeform 15" id="15"/>
          <p:cNvSpPr/>
          <p:nvPr/>
        </p:nvSpPr>
        <p:spPr>
          <a:xfrm flipH="false" flipV="false" rot="0">
            <a:off x="6858309" y="2120990"/>
            <a:ext cx="7632429" cy="5197199"/>
          </a:xfrm>
          <a:custGeom>
            <a:avLst/>
            <a:gdLst/>
            <a:ahLst/>
            <a:cxnLst/>
            <a:rect r="r" b="b" t="t" l="l"/>
            <a:pathLst>
              <a:path h="5197199" w="7632429">
                <a:moveTo>
                  <a:pt x="0" y="0"/>
                </a:moveTo>
                <a:lnTo>
                  <a:pt x="7632430" y="0"/>
                </a:lnTo>
                <a:lnTo>
                  <a:pt x="7632430" y="5197199"/>
                </a:lnTo>
                <a:lnTo>
                  <a:pt x="0" y="5197199"/>
                </a:lnTo>
                <a:lnTo>
                  <a:pt x="0" y="0"/>
                </a:lnTo>
                <a:close/>
              </a:path>
            </a:pathLst>
          </a:custGeom>
          <a:blipFill>
            <a:blip r:embed="rId3"/>
            <a:stretch>
              <a:fillRect l="0" t="0" r="0" b="0"/>
            </a:stretch>
          </a:blipFill>
        </p:spPr>
      </p:sp>
      <p:grpSp>
        <p:nvGrpSpPr>
          <p:cNvPr name="Group 16" id="16"/>
          <p:cNvGrpSpPr/>
          <p:nvPr/>
        </p:nvGrpSpPr>
        <p:grpSpPr>
          <a:xfrm rot="0">
            <a:off x="14670129" y="2248"/>
            <a:ext cx="3036050" cy="1433565"/>
            <a:chOff x="0" y="0"/>
            <a:chExt cx="4499699" cy="2124672"/>
          </a:xfrm>
        </p:grpSpPr>
        <p:sp>
          <p:nvSpPr>
            <p:cNvPr name="Freeform 17" id="17"/>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4"/>
              <a:stretch>
                <a:fillRect l="0" t="0" r="0" b="1"/>
              </a:stretch>
            </a:blipFill>
          </p:spPr>
        </p:sp>
      </p:grpSp>
      <p:grpSp>
        <p:nvGrpSpPr>
          <p:cNvPr name="Group 18" id="18"/>
          <p:cNvGrpSpPr/>
          <p:nvPr/>
        </p:nvGrpSpPr>
        <p:grpSpPr>
          <a:xfrm rot="0">
            <a:off x="170888" y="7049929"/>
            <a:ext cx="6289330" cy="3079711"/>
            <a:chOff x="0" y="0"/>
            <a:chExt cx="1656449" cy="811117"/>
          </a:xfrm>
        </p:grpSpPr>
        <p:sp>
          <p:nvSpPr>
            <p:cNvPr name="Freeform 19" id="19"/>
            <p:cNvSpPr/>
            <p:nvPr/>
          </p:nvSpPr>
          <p:spPr>
            <a:xfrm flipH="false" flipV="false" rot="0">
              <a:off x="0" y="0"/>
              <a:ext cx="1656449" cy="811117"/>
            </a:xfrm>
            <a:custGeom>
              <a:avLst/>
              <a:gdLst/>
              <a:ahLst/>
              <a:cxnLst/>
              <a:rect r="r" b="b" t="t" l="l"/>
              <a:pathLst>
                <a:path h="811117" w="1656449">
                  <a:moveTo>
                    <a:pt x="0" y="0"/>
                  </a:moveTo>
                  <a:lnTo>
                    <a:pt x="1656449" y="0"/>
                  </a:lnTo>
                  <a:lnTo>
                    <a:pt x="1656449" y="811117"/>
                  </a:lnTo>
                  <a:lnTo>
                    <a:pt x="0" y="811117"/>
                  </a:lnTo>
                  <a:close/>
                </a:path>
              </a:pathLst>
            </a:custGeom>
            <a:gradFill rotWithShape="true">
              <a:gsLst>
                <a:gs pos="0">
                  <a:srgbClr val="7CCE6B">
                    <a:alpha val="100000"/>
                  </a:srgbClr>
                </a:gs>
                <a:gs pos="100000">
                  <a:srgbClr val="D8FFD0">
                    <a:alpha val="100000"/>
                  </a:srgbClr>
                </a:gs>
              </a:gsLst>
              <a:lin ang="5400000"/>
            </a:gradFill>
            <a:ln w="38100" cap="sq">
              <a:solidFill>
                <a:srgbClr val="000000"/>
              </a:solidFill>
              <a:prstDash val="lgDash"/>
              <a:miter/>
            </a:ln>
          </p:spPr>
        </p:sp>
        <p:sp>
          <p:nvSpPr>
            <p:cNvPr name="TextBox 20" id="20"/>
            <p:cNvSpPr txBox="true"/>
            <p:nvPr/>
          </p:nvSpPr>
          <p:spPr>
            <a:xfrm>
              <a:off x="0" y="9525"/>
              <a:ext cx="1656449" cy="801592"/>
            </a:xfrm>
            <a:prstGeom prst="rect">
              <a:avLst/>
            </a:prstGeom>
          </p:spPr>
          <p:txBody>
            <a:bodyPr anchor="ctr" rtlCol="false" tIns="50800" lIns="50800" bIns="50800" rIns="50800"/>
            <a:lstStyle/>
            <a:p>
              <a:pPr algn="ctr">
                <a:lnSpc>
                  <a:spcPts val="1808"/>
                </a:lnSpc>
              </a:pPr>
            </a:p>
          </p:txBody>
        </p:sp>
      </p:grpSp>
      <p:grpSp>
        <p:nvGrpSpPr>
          <p:cNvPr name="Group 21" id="21"/>
          <p:cNvGrpSpPr/>
          <p:nvPr/>
        </p:nvGrpSpPr>
        <p:grpSpPr>
          <a:xfrm rot="0">
            <a:off x="6418447" y="1763292"/>
            <a:ext cx="217664" cy="8368964"/>
            <a:chOff x="0" y="0"/>
            <a:chExt cx="274384" cy="10549774"/>
          </a:xfrm>
        </p:grpSpPr>
        <p:sp>
          <p:nvSpPr>
            <p:cNvPr name="Freeform 22" id="22"/>
            <p:cNvSpPr/>
            <p:nvPr/>
          </p:nvSpPr>
          <p:spPr>
            <a:xfrm flipH="false" flipV="false" rot="0">
              <a:off x="0" y="0"/>
              <a:ext cx="274383" cy="10549775"/>
            </a:xfrm>
            <a:custGeom>
              <a:avLst/>
              <a:gdLst/>
              <a:ahLst/>
              <a:cxnLst/>
              <a:rect r="r" b="b" t="t" l="l"/>
              <a:pathLst>
                <a:path h="10549775" w="274383">
                  <a:moveTo>
                    <a:pt x="0" y="0"/>
                  </a:moveTo>
                  <a:lnTo>
                    <a:pt x="274383" y="0"/>
                  </a:lnTo>
                  <a:lnTo>
                    <a:pt x="274383" y="10549775"/>
                  </a:lnTo>
                  <a:lnTo>
                    <a:pt x="0" y="10549775"/>
                  </a:lnTo>
                  <a:close/>
                </a:path>
              </a:pathLst>
            </a:custGeom>
            <a:blipFill>
              <a:blip r:embed="rId2"/>
              <a:stretch>
                <a:fillRect l="0" t="0" r="0" b="0"/>
              </a:stretch>
            </a:blipFill>
          </p:spPr>
        </p:sp>
      </p:grpSp>
      <p:sp>
        <p:nvSpPr>
          <p:cNvPr name="Freeform 23" id="23"/>
          <p:cNvSpPr/>
          <p:nvPr/>
        </p:nvSpPr>
        <p:spPr>
          <a:xfrm flipH="false" flipV="false" rot="0">
            <a:off x="0" y="0"/>
            <a:ext cx="1515063" cy="1510935"/>
          </a:xfrm>
          <a:custGeom>
            <a:avLst/>
            <a:gdLst/>
            <a:ahLst/>
            <a:cxnLst/>
            <a:rect r="r" b="b" t="t" l="l"/>
            <a:pathLst>
              <a:path h="1510935" w="1515063">
                <a:moveTo>
                  <a:pt x="0" y="0"/>
                </a:moveTo>
                <a:lnTo>
                  <a:pt x="1515063" y="0"/>
                </a:lnTo>
                <a:lnTo>
                  <a:pt x="1515063" y="1510935"/>
                </a:lnTo>
                <a:lnTo>
                  <a:pt x="0" y="1510935"/>
                </a:lnTo>
                <a:lnTo>
                  <a:pt x="0" y="0"/>
                </a:lnTo>
                <a:close/>
              </a:path>
            </a:pathLst>
          </a:custGeom>
          <a:blipFill>
            <a:blip r:embed="rId5"/>
            <a:stretch>
              <a:fillRect l="0" t="-136" r="0" b="-136"/>
            </a:stretch>
          </a:blipFill>
        </p:spPr>
      </p:sp>
      <p:sp>
        <p:nvSpPr>
          <p:cNvPr name="Freeform 24" id="24"/>
          <p:cNvSpPr/>
          <p:nvPr/>
        </p:nvSpPr>
        <p:spPr>
          <a:xfrm flipH="false" flipV="false" rot="0">
            <a:off x="118175" y="46967"/>
            <a:ext cx="1278713" cy="1137055"/>
          </a:xfrm>
          <a:custGeom>
            <a:avLst/>
            <a:gdLst/>
            <a:ahLst/>
            <a:cxnLst/>
            <a:rect r="r" b="b" t="t" l="l"/>
            <a:pathLst>
              <a:path h="1137055" w="1278713">
                <a:moveTo>
                  <a:pt x="0" y="0"/>
                </a:moveTo>
                <a:lnTo>
                  <a:pt x="1278713" y="0"/>
                </a:lnTo>
                <a:lnTo>
                  <a:pt x="1278713" y="1137055"/>
                </a:lnTo>
                <a:lnTo>
                  <a:pt x="0" y="1137055"/>
                </a:lnTo>
                <a:lnTo>
                  <a:pt x="0" y="0"/>
                </a:lnTo>
                <a:close/>
              </a:path>
            </a:pathLst>
          </a:custGeom>
          <a:blipFill>
            <a:blip r:embed="rId6"/>
            <a:stretch>
              <a:fillRect l="0" t="0" r="0" b="0"/>
            </a:stretch>
          </a:blipFill>
        </p:spPr>
      </p:sp>
      <p:sp>
        <p:nvSpPr>
          <p:cNvPr name="Freeform 25" id="25"/>
          <p:cNvSpPr/>
          <p:nvPr/>
        </p:nvSpPr>
        <p:spPr>
          <a:xfrm flipH="false" flipV="false" rot="0">
            <a:off x="378766" y="331041"/>
            <a:ext cx="805256" cy="592390"/>
          </a:xfrm>
          <a:custGeom>
            <a:avLst/>
            <a:gdLst/>
            <a:ahLst/>
            <a:cxnLst/>
            <a:rect r="r" b="b" t="t" l="l"/>
            <a:pathLst>
              <a:path h="592390" w="805256">
                <a:moveTo>
                  <a:pt x="0" y="0"/>
                </a:moveTo>
                <a:lnTo>
                  <a:pt x="805256" y="0"/>
                </a:lnTo>
                <a:lnTo>
                  <a:pt x="805256" y="592390"/>
                </a:lnTo>
                <a:lnTo>
                  <a:pt x="0" y="592390"/>
                </a:lnTo>
                <a:lnTo>
                  <a:pt x="0" y="0"/>
                </a:lnTo>
                <a:close/>
              </a:path>
            </a:pathLst>
          </a:custGeom>
          <a:blipFill>
            <a:blip r:embed="rId7"/>
            <a:stretch>
              <a:fillRect l="0" t="0" r="0" b="0"/>
            </a:stretch>
          </a:blipFill>
        </p:spPr>
      </p:sp>
      <p:sp>
        <p:nvSpPr>
          <p:cNvPr name="Freeform 26" id="26"/>
          <p:cNvSpPr/>
          <p:nvPr/>
        </p:nvSpPr>
        <p:spPr>
          <a:xfrm flipH="false" flipV="false" rot="0">
            <a:off x="14878146" y="2043502"/>
            <a:ext cx="1222186" cy="990550"/>
          </a:xfrm>
          <a:custGeom>
            <a:avLst/>
            <a:gdLst/>
            <a:ahLst/>
            <a:cxnLst/>
            <a:rect r="r" b="b" t="t" l="l"/>
            <a:pathLst>
              <a:path h="990550" w="1222186">
                <a:moveTo>
                  <a:pt x="0" y="0"/>
                </a:moveTo>
                <a:lnTo>
                  <a:pt x="1222185" y="0"/>
                </a:lnTo>
                <a:lnTo>
                  <a:pt x="1222185" y="990550"/>
                </a:lnTo>
                <a:lnTo>
                  <a:pt x="0" y="990550"/>
                </a:lnTo>
                <a:lnTo>
                  <a:pt x="0" y="0"/>
                </a:lnTo>
                <a:close/>
              </a:path>
            </a:pathLst>
          </a:custGeom>
          <a:blipFill>
            <a:blip r:embed="rId8"/>
            <a:stretch>
              <a:fillRect l="0" t="0" r="0" b="0"/>
            </a:stretch>
          </a:blipFill>
        </p:spPr>
      </p:sp>
      <p:sp>
        <p:nvSpPr>
          <p:cNvPr name="Freeform 27" id="27"/>
          <p:cNvSpPr/>
          <p:nvPr/>
        </p:nvSpPr>
        <p:spPr>
          <a:xfrm flipH="false" flipV="false" rot="0">
            <a:off x="16424428" y="3290250"/>
            <a:ext cx="1697899" cy="1104883"/>
          </a:xfrm>
          <a:custGeom>
            <a:avLst/>
            <a:gdLst/>
            <a:ahLst/>
            <a:cxnLst/>
            <a:rect r="r" b="b" t="t" l="l"/>
            <a:pathLst>
              <a:path h="1104883" w="1697899">
                <a:moveTo>
                  <a:pt x="0" y="0"/>
                </a:moveTo>
                <a:lnTo>
                  <a:pt x="1697899" y="0"/>
                </a:lnTo>
                <a:lnTo>
                  <a:pt x="1697899" y="1104883"/>
                </a:lnTo>
                <a:lnTo>
                  <a:pt x="0" y="1104883"/>
                </a:lnTo>
                <a:lnTo>
                  <a:pt x="0" y="0"/>
                </a:lnTo>
                <a:close/>
              </a:path>
            </a:pathLst>
          </a:custGeom>
          <a:blipFill>
            <a:blip r:embed="rId9"/>
            <a:stretch>
              <a:fillRect l="0" t="0" r="0" b="0"/>
            </a:stretch>
          </a:blipFill>
        </p:spPr>
      </p:sp>
      <p:sp>
        <p:nvSpPr>
          <p:cNvPr name="Freeform 28" id="28"/>
          <p:cNvSpPr/>
          <p:nvPr/>
        </p:nvSpPr>
        <p:spPr>
          <a:xfrm flipH="false" flipV="false" rot="0">
            <a:off x="14732796" y="4653229"/>
            <a:ext cx="1607079" cy="1068694"/>
          </a:xfrm>
          <a:custGeom>
            <a:avLst/>
            <a:gdLst/>
            <a:ahLst/>
            <a:cxnLst/>
            <a:rect r="r" b="b" t="t" l="l"/>
            <a:pathLst>
              <a:path h="1068694" w="1607079">
                <a:moveTo>
                  <a:pt x="0" y="0"/>
                </a:moveTo>
                <a:lnTo>
                  <a:pt x="1607079" y="0"/>
                </a:lnTo>
                <a:lnTo>
                  <a:pt x="1607079" y="1068695"/>
                </a:lnTo>
                <a:lnTo>
                  <a:pt x="0" y="1068695"/>
                </a:lnTo>
                <a:lnTo>
                  <a:pt x="0" y="0"/>
                </a:lnTo>
                <a:close/>
              </a:path>
            </a:pathLst>
          </a:custGeom>
          <a:blipFill>
            <a:blip r:embed="rId10"/>
            <a:stretch>
              <a:fillRect l="0" t="0" r="0" b="0"/>
            </a:stretch>
          </a:blipFill>
        </p:spPr>
      </p:sp>
      <p:sp>
        <p:nvSpPr>
          <p:cNvPr name="Freeform 29" id="29"/>
          <p:cNvSpPr/>
          <p:nvPr/>
        </p:nvSpPr>
        <p:spPr>
          <a:xfrm flipH="false" flipV="false" rot="0">
            <a:off x="14794920" y="7368824"/>
            <a:ext cx="1450861" cy="1113305"/>
          </a:xfrm>
          <a:custGeom>
            <a:avLst/>
            <a:gdLst/>
            <a:ahLst/>
            <a:cxnLst/>
            <a:rect r="r" b="b" t="t" l="l"/>
            <a:pathLst>
              <a:path h="1113305" w="1450861">
                <a:moveTo>
                  <a:pt x="0" y="0"/>
                </a:moveTo>
                <a:lnTo>
                  <a:pt x="1450861" y="0"/>
                </a:lnTo>
                <a:lnTo>
                  <a:pt x="1450861" y="1113306"/>
                </a:lnTo>
                <a:lnTo>
                  <a:pt x="0" y="1113306"/>
                </a:lnTo>
                <a:lnTo>
                  <a:pt x="0" y="0"/>
                </a:lnTo>
                <a:close/>
              </a:path>
            </a:pathLst>
          </a:custGeom>
          <a:blipFill>
            <a:blip r:embed="rId11"/>
            <a:stretch>
              <a:fillRect l="0" t="0" r="0" b="0"/>
            </a:stretch>
          </a:blipFill>
        </p:spPr>
      </p:sp>
      <p:sp>
        <p:nvSpPr>
          <p:cNvPr name="Freeform 30" id="30"/>
          <p:cNvSpPr/>
          <p:nvPr/>
        </p:nvSpPr>
        <p:spPr>
          <a:xfrm flipH="false" flipV="false" rot="0">
            <a:off x="16510778" y="6166849"/>
            <a:ext cx="1302469" cy="1010731"/>
          </a:xfrm>
          <a:custGeom>
            <a:avLst/>
            <a:gdLst/>
            <a:ahLst/>
            <a:cxnLst/>
            <a:rect r="r" b="b" t="t" l="l"/>
            <a:pathLst>
              <a:path h="1010731" w="1302469">
                <a:moveTo>
                  <a:pt x="0" y="0"/>
                </a:moveTo>
                <a:lnTo>
                  <a:pt x="1302470" y="0"/>
                </a:lnTo>
                <a:lnTo>
                  <a:pt x="1302470" y="1010731"/>
                </a:lnTo>
                <a:lnTo>
                  <a:pt x="0" y="1010731"/>
                </a:lnTo>
                <a:lnTo>
                  <a:pt x="0" y="0"/>
                </a:lnTo>
                <a:close/>
              </a:path>
            </a:pathLst>
          </a:custGeom>
          <a:blipFill>
            <a:blip r:embed="rId12"/>
            <a:stretch>
              <a:fillRect l="0" t="0" r="0" b="0"/>
            </a:stretch>
          </a:blipFill>
        </p:spPr>
      </p:sp>
      <p:sp>
        <p:nvSpPr>
          <p:cNvPr name="Freeform 31" id="31"/>
          <p:cNvSpPr/>
          <p:nvPr/>
        </p:nvSpPr>
        <p:spPr>
          <a:xfrm flipH="false" flipV="false" rot="0">
            <a:off x="16943430" y="8796343"/>
            <a:ext cx="1097983" cy="971715"/>
          </a:xfrm>
          <a:custGeom>
            <a:avLst/>
            <a:gdLst/>
            <a:ahLst/>
            <a:cxnLst/>
            <a:rect r="r" b="b" t="t" l="l"/>
            <a:pathLst>
              <a:path h="971715" w="1097983">
                <a:moveTo>
                  <a:pt x="0" y="0"/>
                </a:moveTo>
                <a:lnTo>
                  <a:pt x="1097983" y="0"/>
                </a:lnTo>
                <a:lnTo>
                  <a:pt x="1097983" y="971715"/>
                </a:lnTo>
                <a:lnTo>
                  <a:pt x="0" y="97171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2" id="32"/>
          <p:cNvSpPr txBox="true"/>
          <p:nvPr/>
        </p:nvSpPr>
        <p:spPr>
          <a:xfrm rot="0">
            <a:off x="3536919" y="226266"/>
            <a:ext cx="10244773" cy="920205"/>
          </a:xfrm>
          <a:prstGeom prst="rect">
            <a:avLst/>
          </a:prstGeom>
        </p:spPr>
        <p:txBody>
          <a:bodyPr anchor="t" rtlCol="false" tIns="0" lIns="0" bIns="0" rIns="0">
            <a:spAutoFit/>
          </a:bodyPr>
          <a:lstStyle/>
          <a:p>
            <a:pPr algn="ctr">
              <a:lnSpc>
                <a:spcPts val="7555"/>
              </a:lnSpc>
            </a:pPr>
            <a:r>
              <a:rPr lang="en-US" sz="5396" b="true">
                <a:solidFill>
                  <a:srgbClr val="006BCB"/>
                </a:solidFill>
                <a:latin typeface="Cardo Bold"/>
                <a:ea typeface="Cardo Bold"/>
                <a:cs typeface="Cardo Bold"/>
                <a:sym typeface="Cardo Bold"/>
              </a:rPr>
              <a:t>SIGNAL ANALYSIS MODEL</a:t>
            </a:r>
          </a:p>
        </p:txBody>
      </p:sp>
      <p:sp>
        <p:nvSpPr>
          <p:cNvPr name="TextBox 33" id="33"/>
          <p:cNvSpPr txBox="true"/>
          <p:nvPr/>
        </p:nvSpPr>
        <p:spPr>
          <a:xfrm rot="0">
            <a:off x="548813" y="2174234"/>
            <a:ext cx="5650876" cy="2133600"/>
          </a:xfrm>
          <a:prstGeom prst="rect">
            <a:avLst/>
          </a:prstGeom>
        </p:spPr>
        <p:txBody>
          <a:bodyPr anchor="t" rtlCol="false" tIns="0" lIns="0" bIns="0" rIns="0">
            <a:spAutoFit/>
          </a:bodyPr>
          <a:lstStyle/>
          <a:p>
            <a:pPr algn="just">
              <a:lnSpc>
                <a:spcPts val="2110"/>
              </a:lnSpc>
            </a:pPr>
            <a:r>
              <a:rPr lang="en-US" sz="1758">
                <a:solidFill>
                  <a:srgbClr val="000000"/>
                </a:solidFill>
                <a:latin typeface="Canva Sans"/>
                <a:ea typeface="Canva Sans"/>
                <a:cs typeface="Canva Sans"/>
                <a:sym typeface="Canva Sans"/>
              </a:rPr>
              <a:t>When a .wav or .IQ arrives, the analyst typically:</a:t>
            </a:r>
          </a:p>
          <a:p>
            <a:pPr algn="just" marL="379687" indent="-189843" lvl="1">
              <a:lnSpc>
                <a:spcPts val="2110"/>
              </a:lnSpc>
              <a:buFont typeface="Arial"/>
              <a:buChar char="•"/>
            </a:pPr>
            <a:r>
              <a:rPr lang="en-US" sz="1758">
                <a:solidFill>
                  <a:srgbClr val="000000"/>
                </a:solidFill>
                <a:latin typeface="Canva Sans"/>
                <a:ea typeface="Canva Sans"/>
                <a:cs typeface="Canva Sans"/>
                <a:sym typeface="Canva Sans"/>
              </a:rPr>
              <a:t>Opens it in an SDR / spectrum tool</a:t>
            </a:r>
          </a:p>
          <a:p>
            <a:pPr algn="just" marL="379687" indent="-189843" lvl="1">
              <a:lnSpc>
                <a:spcPts val="2110"/>
              </a:lnSpc>
              <a:buFont typeface="Arial"/>
              <a:buChar char="•"/>
            </a:pPr>
            <a:r>
              <a:rPr lang="en-US" sz="1758">
                <a:solidFill>
                  <a:srgbClr val="000000"/>
                </a:solidFill>
                <a:latin typeface="Canva Sans"/>
                <a:ea typeface="Canva Sans"/>
                <a:cs typeface="Canva Sans"/>
                <a:sym typeface="Canva Sans"/>
              </a:rPr>
              <a:t>Looks at spectrum, waterfall, constellation</a:t>
            </a:r>
          </a:p>
          <a:p>
            <a:pPr algn="just" marL="379687" indent="-189843" lvl="1">
              <a:lnSpc>
                <a:spcPts val="2110"/>
              </a:lnSpc>
              <a:buFont typeface="Arial"/>
              <a:buChar char="•"/>
            </a:pPr>
            <a:r>
              <a:rPr lang="en-US" sz="1758">
                <a:solidFill>
                  <a:srgbClr val="000000"/>
                </a:solidFill>
                <a:latin typeface="Canva Sans"/>
                <a:ea typeface="Canva Sans"/>
                <a:cs typeface="Canva Sans"/>
                <a:sym typeface="Canva Sans"/>
              </a:rPr>
              <a:t>Decides sampling rate, centre frequency, bandwidth, modulation</a:t>
            </a:r>
          </a:p>
          <a:p>
            <a:pPr algn="just" marL="379687" indent="-189843" lvl="1">
              <a:lnSpc>
                <a:spcPts val="2110"/>
              </a:lnSpc>
              <a:buFont typeface="Arial"/>
              <a:buChar char="•"/>
            </a:pPr>
            <a:r>
              <a:rPr lang="en-US" sz="1758">
                <a:solidFill>
                  <a:srgbClr val="000000"/>
                </a:solidFill>
                <a:latin typeface="Canva Sans"/>
                <a:ea typeface="Canva Sans"/>
                <a:cs typeface="Canva Sans"/>
                <a:sym typeface="Canva Sans"/>
              </a:rPr>
              <a:t>Types those values into the next tool (demodulator / decoder)</a:t>
            </a:r>
          </a:p>
          <a:p>
            <a:pPr algn="just">
              <a:lnSpc>
                <a:spcPts val="2110"/>
              </a:lnSpc>
            </a:pPr>
          </a:p>
        </p:txBody>
      </p:sp>
      <p:sp>
        <p:nvSpPr>
          <p:cNvPr name="TextBox 34" id="34"/>
          <p:cNvSpPr txBox="true"/>
          <p:nvPr/>
        </p:nvSpPr>
        <p:spPr>
          <a:xfrm rot="0">
            <a:off x="9431567" y="1574811"/>
            <a:ext cx="2485915" cy="522336"/>
          </a:xfrm>
          <a:prstGeom prst="rect">
            <a:avLst/>
          </a:prstGeom>
        </p:spPr>
        <p:txBody>
          <a:bodyPr anchor="t" rtlCol="false" tIns="0" lIns="0" bIns="0" rIns="0">
            <a:spAutoFit/>
          </a:bodyPr>
          <a:lstStyle/>
          <a:p>
            <a:pPr algn="ctr">
              <a:lnSpc>
                <a:spcPts val="4284"/>
              </a:lnSpc>
            </a:pPr>
            <a:r>
              <a:rPr lang="en-US" b="true" sz="3060">
                <a:solidFill>
                  <a:srgbClr val="0066B8"/>
                </a:solidFill>
                <a:latin typeface="Canva Sans Bold"/>
                <a:ea typeface="Canva Sans Bold"/>
                <a:cs typeface="Canva Sans Bold"/>
                <a:sym typeface="Canva Sans Bold"/>
              </a:rPr>
              <a:t>Our Solution</a:t>
            </a:r>
          </a:p>
        </p:txBody>
      </p:sp>
      <p:sp>
        <p:nvSpPr>
          <p:cNvPr name="TextBox 35" id="35"/>
          <p:cNvSpPr txBox="true"/>
          <p:nvPr/>
        </p:nvSpPr>
        <p:spPr>
          <a:xfrm rot="0">
            <a:off x="15567211" y="1617200"/>
            <a:ext cx="1942635" cy="395996"/>
          </a:xfrm>
          <a:prstGeom prst="rect">
            <a:avLst/>
          </a:prstGeom>
        </p:spPr>
        <p:txBody>
          <a:bodyPr anchor="t" rtlCol="false" tIns="0" lIns="0" bIns="0" rIns="0">
            <a:spAutoFit/>
          </a:bodyPr>
          <a:lstStyle/>
          <a:p>
            <a:pPr algn="l">
              <a:lnSpc>
                <a:spcPts val="3373"/>
              </a:lnSpc>
            </a:pPr>
            <a:r>
              <a:rPr lang="en-US" sz="2409" b="true">
                <a:solidFill>
                  <a:srgbClr val="0066B8"/>
                </a:solidFill>
                <a:latin typeface="Canva Sans Bold"/>
                <a:ea typeface="Canva Sans Bold"/>
                <a:cs typeface="Canva Sans Bold"/>
                <a:sym typeface="Canva Sans Bold"/>
              </a:rPr>
              <a:t>Key Features</a:t>
            </a:r>
          </a:p>
        </p:txBody>
      </p:sp>
      <p:sp>
        <p:nvSpPr>
          <p:cNvPr name="TextBox 36" id="36"/>
          <p:cNvSpPr txBox="true"/>
          <p:nvPr/>
        </p:nvSpPr>
        <p:spPr>
          <a:xfrm rot="0">
            <a:off x="170888" y="4655114"/>
            <a:ext cx="6171359" cy="1945044"/>
          </a:xfrm>
          <a:prstGeom prst="rect">
            <a:avLst/>
          </a:prstGeom>
        </p:spPr>
        <p:txBody>
          <a:bodyPr anchor="t" rtlCol="false" tIns="0" lIns="0" bIns="0" rIns="0">
            <a:spAutoFit/>
          </a:bodyPr>
          <a:lstStyle/>
          <a:p>
            <a:pPr algn="l" marL="487448" indent="-243724" lvl="1">
              <a:lnSpc>
                <a:spcPts val="2618"/>
              </a:lnSpc>
              <a:buFont typeface="Arial"/>
              <a:buChar char="•"/>
            </a:pPr>
            <a:r>
              <a:rPr lang="en-US" sz="2257" spc="101">
                <a:solidFill>
                  <a:srgbClr val="000000"/>
                </a:solidFill>
                <a:latin typeface="Open Sauce"/>
                <a:ea typeface="Open Sauce"/>
                <a:cs typeface="Open Sauce"/>
                <a:sym typeface="Open Sauce"/>
              </a:rPr>
              <a:t>The i</a:t>
            </a:r>
            <a:r>
              <a:rPr lang="en-US" sz="2257" spc="101">
                <a:solidFill>
                  <a:srgbClr val="000000"/>
                </a:solidFill>
                <a:latin typeface="Open Sauce"/>
                <a:ea typeface="Open Sauce"/>
                <a:cs typeface="Open Sauce"/>
                <a:sym typeface="Open Sauce"/>
              </a:rPr>
              <a:t>ndustry does not get information-rich, repeatable outputs from mixed IQ/WAV captures. </a:t>
            </a:r>
          </a:p>
          <a:p>
            <a:pPr algn="l" marL="487448" indent="-243724" lvl="1">
              <a:lnSpc>
                <a:spcPts val="2618"/>
              </a:lnSpc>
              <a:buFont typeface="Arial"/>
              <a:buChar char="•"/>
            </a:pPr>
            <a:r>
              <a:rPr lang="en-US" sz="2257" spc="101">
                <a:solidFill>
                  <a:srgbClr val="000000"/>
                </a:solidFill>
                <a:latin typeface="Open Sauce"/>
                <a:ea typeface="Open Sauce"/>
                <a:cs typeface="Open Sauce"/>
                <a:sym typeface="Open Sauce"/>
              </a:rPr>
              <a:t>Feature visibility (spectrum, waterfall, constellation) is also limited unless a dedicated GUI is used.</a:t>
            </a:r>
          </a:p>
        </p:txBody>
      </p:sp>
      <p:sp>
        <p:nvSpPr>
          <p:cNvPr name="TextBox 37" id="37"/>
          <p:cNvSpPr txBox="true"/>
          <p:nvPr/>
        </p:nvSpPr>
        <p:spPr>
          <a:xfrm rot="0">
            <a:off x="170888" y="7217778"/>
            <a:ext cx="6226904" cy="2724028"/>
          </a:xfrm>
          <a:prstGeom prst="rect">
            <a:avLst/>
          </a:prstGeom>
        </p:spPr>
        <p:txBody>
          <a:bodyPr anchor="t" rtlCol="false" tIns="0" lIns="0" bIns="0" rIns="0">
            <a:spAutoFit/>
          </a:bodyPr>
          <a:lstStyle/>
          <a:p>
            <a:pPr algn="ctr">
              <a:lnSpc>
                <a:spcPts val="2450"/>
              </a:lnSpc>
            </a:pPr>
            <a:r>
              <a:rPr lang="en-US" b="true" sz="1540" spc="7">
                <a:solidFill>
                  <a:srgbClr val="000000"/>
                </a:solidFill>
                <a:latin typeface="Canva Sans Bold"/>
                <a:ea typeface="Canva Sans Bold"/>
                <a:cs typeface="Canva Sans Bold"/>
                <a:sym typeface="Canva Sans Bold"/>
              </a:rPr>
              <a:t>Our target is to </a:t>
            </a:r>
            <a:r>
              <a:rPr lang="en-US" b="true" sz="1540" spc="7">
                <a:solidFill>
                  <a:srgbClr val="000000"/>
                </a:solidFill>
                <a:latin typeface="Canva Sans Bold"/>
                <a:ea typeface="Canva Sans Bold"/>
                <a:cs typeface="Canva Sans Bold"/>
                <a:sym typeface="Canva Sans Bold"/>
              </a:rPr>
              <a:t>build a GUI-based pipeline that:</a:t>
            </a:r>
          </a:p>
          <a:p>
            <a:pPr algn="l" marL="332685" indent="-166342" lvl="1">
              <a:lnSpc>
                <a:spcPts val="2450"/>
              </a:lnSpc>
              <a:buFont typeface="Arial"/>
              <a:buChar char="•"/>
            </a:pPr>
            <a:r>
              <a:rPr lang="en-US" sz="1540" spc="7">
                <a:solidFill>
                  <a:srgbClr val="000000"/>
                </a:solidFill>
                <a:latin typeface="Canva Sans"/>
                <a:ea typeface="Canva Sans"/>
                <a:cs typeface="Canva Sans"/>
                <a:sym typeface="Canva Sans"/>
              </a:rPr>
              <a:t>Accepts .IQ or .wav as input</a:t>
            </a:r>
          </a:p>
          <a:p>
            <a:pPr algn="l" marL="332685" indent="-166342" lvl="1">
              <a:lnSpc>
                <a:spcPts val="2450"/>
              </a:lnSpc>
              <a:buFont typeface="Arial"/>
              <a:buChar char="•"/>
            </a:pPr>
            <a:r>
              <a:rPr lang="en-US" sz="1540" spc="7">
                <a:solidFill>
                  <a:srgbClr val="000000"/>
                </a:solidFill>
                <a:latin typeface="Canva Sans"/>
                <a:ea typeface="Canva Sans"/>
                <a:cs typeface="Canva Sans"/>
                <a:sym typeface="Canva Sans"/>
              </a:rPr>
              <a:t>Identifies signal parameters (sampling frequency, modulation, FEC, interleaving, plus bandwidth and SNR where feasible)</a:t>
            </a:r>
          </a:p>
          <a:p>
            <a:pPr algn="l" marL="332685" indent="-166342" lvl="1">
              <a:lnSpc>
                <a:spcPts val="2450"/>
              </a:lnSpc>
              <a:buFont typeface="Arial"/>
              <a:buChar char="•"/>
            </a:pPr>
            <a:r>
              <a:rPr lang="en-US" sz="1540" spc="7">
                <a:solidFill>
                  <a:srgbClr val="000000"/>
                </a:solidFill>
                <a:latin typeface="Canva Sans"/>
                <a:ea typeface="Canva Sans"/>
                <a:cs typeface="Canva Sans"/>
                <a:sym typeface="Canva Sans"/>
              </a:rPr>
              <a:t>Demodulates FSK, PSK and QAM</a:t>
            </a:r>
          </a:p>
          <a:p>
            <a:pPr algn="l" marL="332685" indent="-166342" lvl="1">
              <a:lnSpc>
                <a:spcPts val="2450"/>
              </a:lnSpc>
              <a:buFont typeface="Arial"/>
              <a:buChar char="•"/>
            </a:pPr>
            <a:r>
              <a:rPr lang="en-US" sz="1540" spc="7">
                <a:solidFill>
                  <a:srgbClr val="000000"/>
                </a:solidFill>
                <a:latin typeface="Canva Sans"/>
                <a:ea typeface="Canva Sans"/>
                <a:cs typeface="Canva Sans"/>
                <a:sym typeface="Canva Sans"/>
              </a:rPr>
              <a:t>Performs de-interleaving (block, convolutional, diagonal, pseudo-random)</a:t>
            </a:r>
          </a:p>
          <a:p>
            <a:pPr algn="l" marL="332685" indent="-166342" lvl="1">
              <a:lnSpc>
                <a:spcPts val="2450"/>
              </a:lnSpc>
              <a:buFont typeface="Arial"/>
              <a:buChar char="•"/>
            </a:pPr>
            <a:r>
              <a:rPr lang="en-US" sz="1540" spc="7">
                <a:solidFill>
                  <a:srgbClr val="000000"/>
                </a:solidFill>
                <a:latin typeface="Canva Sans"/>
                <a:ea typeface="Canva Sans"/>
                <a:cs typeface="Canva Sans"/>
                <a:sym typeface="Canva Sans"/>
              </a:rPr>
              <a:t>Applies FEC (Viterbi, RS, concatenated, LDPC)</a:t>
            </a:r>
          </a:p>
          <a:p>
            <a:pPr algn="l" marL="332685" indent="-166342" lvl="1">
              <a:lnSpc>
                <a:spcPts val="2450"/>
              </a:lnSpc>
              <a:buFont typeface="Arial"/>
              <a:buChar char="•"/>
            </a:pPr>
            <a:r>
              <a:rPr lang="en-US" sz="1540" spc="7">
                <a:solidFill>
                  <a:srgbClr val="000000"/>
                </a:solidFill>
                <a:latin typeface="Canva Sans"/>
                <a:ea typeface="Canva Sans"/>
                <a:cs typeface="Canva Sans"/>
                <a:sym typeface="Canva Sans"/>
              </a:rPr>
              <a:t>Correlates the bit stream to help locate header and payload</a:t>
            </a:r>
          </a:p>
        </p:txBody>
      </p:sp>
      <p:sp>
        <p:nvSpPr>
          <p:cNvPr name="TextBox 38" id="38"/>
          <p:cNvSpPr txBox="true"/>
          <p:nvPr/>
        </p:nvSpPr>
        <p:spPr>
          <a:xfrm rot="0">
            <a:off x="1515063" y="1473549"/>
            <a:ext cx="3600979" cy="522336"/>
          </a:xfrm>
          <a:prstGeom prst="rect">
            <a:avLst/>
          </a:prstGeom>
        </p:spPr>
        <p:txBody>
          <a:bodyPr anchor="t" rtlCol="false" tIns="0" lIns="0" bIns="0" rIns="0">
            <a:spAutoFit/>
          </a:bodyPr>
          <a:lstStyle/>
          <a:p>
            <a:pPr algn="ctr">
              <a:lnSpc>
                <a:spcPts val="4284"/>
              </a:lnSpc>
            </a:pPr>
            <a:r>
              <a:rPr lang="en-US" sz="3060" b="true">
                <a:solidFill>
                  <a:srgbClr val="0066B8"/>
                </a:solidFill>
                <a:latin typeface="Canva Sans Bold"/>
                <a:ea typeface="Canva Sans Bold"/>
                <a:cs typeface="Canva Sans Bold"/>
                <a:sym typeface="Canva Sans Bold"/>
              </a:rPr>
              <a:t>Problem at Hand</a:t>
            </a:r>
          </a:p>
        </p:txBody>
      </p:sp>
      <p:sp>
        <p:nvSpPr>
          <p:cNvPr name="TextBox 39" id="39"/>
          <p:cNvSpPr txBox="true"/>
          <p:nvPr/>
        </p:nvSpPr>
        <p:spPr>
          <a:xfrm rot="0">
            <a:off x="7787617" y="7320373"/>
            <a:ext cx="5580190" cy="522336"/>
          </a:xfrm>
          <a:prstGeom prst="rect">
            <a:avLst/>
          </a:prstGeom>
        </p:spPr>
        <p:txBody>
          <a:bodyPr anchor="t" rtlCol="false" tIns="0" lIns="0" bIns="0" rIns="0">
            <a:spAutoFit/>
          </a:bodyPr>
          <a:lstStyle/>
          <a:p>
            <a:pPr algn="ctr">
              <a:lnSpc>
                <a:spcPts val="4284"/>
              </a:lnSpc>
            </a:pPr>
            <a:r>
              <a:rPr lang="en-US" sz="3060" b="true">
                <a:solidFill>
                  <a:srgbClr val="0066B8"/>
                </a:solidFill>
                <a:latin typeface="Canva Sans Bold"/>
                <a:ea typeface="Canva Sans Bold"/>
                <a:cs typeface="Canva Sans Bold"/>
                <a:sym typeface="Canva Sans Bold"/>
              </a:rPr>
              <a:t>Why We Stand Out</a:t>
            </a:r>
          </a:p>
        </p:txBody>
      </p:sp>
      <p:sp>
        <p:nvSpPr>
          <p:cNvPr name="TextBox 40" id="40"/>
          <p:cNvSpPr txBox="true"/>
          <p:nvPr/>
        </p:nvSpPr>
        <p:spPr>
          <a:xfrm rot="0">
            <a:off x="6559322" y="8126275"/>
            <a:ext cx="7959992" cy="1663650"/>
          </a:xfrm>
          <a:prstGeom prst="rect">
            <a:avLst/>
          </a:prstGeom>
        </p:spPr>
        <p:txBody>
          <a:bodyPr anchor="t" rtlCol="false" tIns="0" lIns="0" bIns="0" rIns="0">
            <a:spAutoFit/>
          </a:bodyPr>
          <a:lstStyle/>
          <a:p>
            <a:pPr algn="l" marL="430950" indent="-215475" lvl="1">
              <a:lnSpc>
                <a:spcPts val="2195"/>
              </a:lnSpc>
              <a:buFont typeface="Arial"/>
              <a:buChar char="•"/>
            </a:pPr>
            <a:r>
              <a:rPr lang="en-US" sz="1996">
                <a:solidFill>
                  <a:srgbClr val="000000"/>
                </a:solidFill>
                <a:latin typeface="Canva Sans"/>
                <a:ea typeface="Canva Sans"/>
                <a:cs typeface="Canva Sans"/>
                <a:sym typeface="Canva Sans"/>
              </a:rPr>
              <a:t>One pipeline, two formats - Under one pipelime we analyse both .IQ and .wav files.</a:t>
            </a:r>
          </a:p>
          <a:p>
            <a:pPr algn="l" marL="430950" indent="-215475" lvl="1">
              <a:lnSpc>
                <a:spcPts val="2195"/>
              </a:lnSpc>
              <a:buFont typeface="Arial"/>
              <a:buChar char="•"/>
            </a:pPr>
            <a:r>
              <a:rPr lang="en-US" sz="1996">
                <a:solidFill>
                  <a:srgbClr val="000000"/>
                </a:solidFill>
                <a:latin typeface="Canva Sans"/>
                <a:ea typeface="Canva Sans"/>
                <a:cs typeface="Canva Sans"/>
                <a:sym typeface="Canva Sans"/>
              </a:rPr>
              <a:t>From picture to bits, not only plots - Unile most SDR viewers,we provide a usable bit-stream(header/payload).</a:t>
            </a:r>
          </a:p>
          <a:p>
            <a:pPr algn="l" marL="430950" indent="-215475" lvl="1">
              <a:lnSpc>
                <a:spcPts val="2195"/>
              </a:lnSpc>
              <a:buFont typeface="Arial"/>
              <a:buChar char="•"/>
            </a:pPr>
            <a:r>
              <a:rPr lang="en-US" sz="1996">
                <a:solidFill>
                  <a:srgbClr val="000000"/>
                </a:solidFill>
                <a:latin typeface="Canva Sans"/>
                <a:ea typeface="Canva Sans"/>
                <a:cs typeface="Canva Sans"/>
                <a:sym typeface="Canva Sans"/>
              </a:rPr>
              <a:t>Analyst-ready, not a black box -  By using TensorFlow we ensure our auto-estimations are precise.</a:t>
            </a:r>
          </a:p>
        </p:txBody>
      </p:sp>
      <p:sp>
        <p:nvSpPr>
          <p:cNvPr name="TextBox 41" id="41"/>
          <p:cNvSpPr txBox="true"/>
          <p:nvPr/>
        </p:nvSpPr>
        <p:spPr>
          <a:xfrm rot="0">
            <a:off x="16396273" y="2053027"/>
            <a:ext cx="1645140" cy="925751"/>
          </a:xfrm>
          <a:prstGeom prst="rect">
            <a:avLst/>
          </a:prstGeom>
        </p:spPr>
        <p:txBody>
          <a:bodyPr anchor="t" rtlCol="false" tIns="0" lIns="0" bIns="0" rIns="0">
            <a:spAutoFit/>
          </a:bodyPr>
          <a:lstStyle/>
          <a:p>
            <a:pPr algn="l">
              <a:lnSpc>
                <a:spcPts val="1808"/>
              </a:lnSpc>
            </a:pPr>
            <a:r>
              <a:rPr lang="en-US" sz="1643" i="true">
                <a:solidFill>
                  <a:srgbClr val="000000"/>
                </a:solidFill>
                <a:latin typeface="Canva Sans Italics"/>
                <a:ea typeface="Canva Sans Italics"/>
                <a:cs typeface="Canva Sans Italics"/>
                <a:sym typeface="Canva Sans Italics"/>
              </a:rPr>
              <a:t>Graphical user interface for signal file analysis</a:t>
            </a:r>
          </a:p>
        </p:txBody>
      </p:sp>
      <p:sp>
        <p:nvSpPr>
          <p:cNvPr name="TextBox 42" id="42"/>
          <p:cNvSpPr txBox="true"/>
          <p:nvPr/>
        </p:nvSpPr>
        <p:spPr>
          <a:xfrm rot="0">
            <a:off x="14847033" y="3155979"/>
            <a:ext cx="1284410" cy="1382951"/>
          </a:xfrm>
          <a:prstGeom prst="rect">
            <a:avLst/>
          </a:prstGeom>
        </p:spPr>
        <p:txBody>
          <a:bodyPr anchor="t" rtlCol="false" tIns="0" lIns="0" bIns="0" rIns="0">
            <a:spAutoFit/>
          </a:bodyPr>
          <a:lstStyle/>
          <a:p>
            <a:pPr algn="r">
              <a:lnSpc>
                <a:spcPts val="1808"/>
              </a:lnSpc>
            </a:pPr>
            <a:r>
              <a:rPr lang="en-US" sz="1643" i="true">
                <a:solidFill>
                  <a:srgbClr val="000000"/>
                </a:solidFill>
                <a:latin typeface="Canva Sans Italics"/>
                <a:ea typeface="Canva Sans Italics"/>
                <a:cs typeface="Canva Sans Italics"/>
                <a:sym typeface="Canva Sans Italics"/>
              </a:rPr>
              <a:t>Automated extraction of bandwidth and signal parameters </a:t>
            </a:r>
          </a:p>
        </p:txBody>
      </p:sp>
      <p:sp>
        <p:nvSpPr>
          <p:cNvPr name="TextBox 43" id="43"/>
          <p:cNvSpPr txBox="true"/>
          <p:nvPr/>
        </p:nvSpPr>
        <p:spPr>
          <a:xfrm rot="0">
            <a:off x="16370751" y="4564823"/>
            <a:ext cx="1726054" cy="1382951"/>
          </a:xfrm>
          <a:prstGeom prst="rect">
            <a:avLst/>
          </a:prstGeom>
        </p:spPr>
        <p:txBody>
          <a:bodyPr anchor="t" rtlCol="false" tIns="0" lIns="0" bIns="0" rIns="0">
            <a:spAutoFit/>
          </a:bodyPr>
          <a:lstStyle/>
          <a:p>
            <a:pPr algn="ctr">
              <a:lnSpc>
                <a:spcPts val="1808"/>
              </a:lnSpc>
              <a:spcBef>
                <a:spcPct val="0"/>
              </a:spcBef>
            </a:pPr>
            <a:r>
              <a:rPr lang="en-US" sz="1643" i="true">
                <a:solidFill>
                  <a:srgbClr val="000000"/>
                </a:solidFill>
                <a:latin typeface="Canva Sans Italics"/>
                <a:ea typeface="Canva Sans Italics"/>
                <a:cs typeface="Canva Sans Italics"/>
                <a:sym typeface="Canva Sans Italics"/>
              </a:rPr>
              <a:t>Spectral, waterfall, and constellation data visualization plots</a:t>
            </a:r>
          </a:p>
        </p:txBody>
      </p:sp>
      <p:sp>
        <p:nvSpPr>
          <p:cNvPr name="TextBox 44" id="44"/>
          <p:cNvSpPr txBox="true"/>
          <p:nvPr/>
        </p:nvSpPr>
        <p:spPr>
          <a:xfrm rot="0">
            <a:off x="14748998" y="5957299"/>
            <a:ext cx="1542705" cy="1382951"/>
          </a:xfrm>
          <a:prstGeom prst="rect">
            <a:avLst/>
          </a:prstGeom>
        </p:spPr>
        <p:txBody>
          <a:bodyPr anchor="t" rtlCol="false" tIns="0" lIns="0" bIns="0" rIns="0">
            <a:spAutoFit/>
          </a:bodyPr>
          <a:lstStyle/>
          <a:p>
            <a:pPr algn="ctr">
              <a:lnSpc>
                <a:spcPts val="1808"/>
              </a:lnSpc>
              <a:spcBef>
                <a:spcPct val="0"/>
              </a:spcBef>
            </a:pPr>
            <a:r>
              <a:rPr lang="en-US" sz="1643" i="true">
                <a:solidFill>
                  <a:srgbClr val="000000"/>
                </a:solidFill>
                <a:latin typeface="Canva Sans Italics"/>
                <a:ea typeface="Canva Sans Italics"/>
                <a:cs typeface="Canva Sans Italics"/>
                <a:sym typeface="Canva Sans Italics"/>
              </a:rPr>
              <a:t>Demodulation support for multiple frequency and phase schemes</a:t>
            </a:r>
          </a:p>
        </p:txBody>
      </p:sp>
      <p:sp>
        <p:nvSpPr>
          <p:cNvPr name="TextBox 45" id="45"/>
          <p:cNvSpPr txBox="true"/>
          <p:nvPr/>
        </p:nvSpPr>
        <p:spPr>
          <a:xfrm rot="0">
            <a:off x="16416793" y="7327714"/>
            <a:ext cx="1713169" cy="1154303"/>
          </a:xfrm>
          <a:prstGeom prst="rect">
            <a:avLst/>
          </a:prstGeom>
        </p:spPr>
        <p:txBody>
          <a:bodyPr anchor="t" rtlCol="false" tIns="0" lIns="0" bIns="0" rIns="0">
            <a:spAutoFit/>
          </a:bodyPr>
          <a:lstStyle/>
          <a:p>
            <a:pPr algn="l">
              <a:lnSpc>
                <a:spcPts val="1804"/>
              </a:lnSpc>
              <a:spcBef>
                <a:spcPct val="0"/>
              </a:spcBef>
            </a:pPr>
            <a:r>
              <a:rPr lang="en-US" sz="1640" i="true">
                <a:solidFill>
                  <a:srgbClr val="000000"/>
                </a:solidFill>
                <a:latin typeface="Canva Sans Italics"/>
                <a:ea typeface="Canva Sans Italics"/>
                <a:cs typeface="Canva Sans Italics"/>
                <a:sym typeface="Canva Sans Italics"/>
              </a:rPr>
              <a:t>Bitstream correlation for precise header and preamble detection</a:t>
            </a:r>
          </a:p>
        </p:txBody>
      </p:sp>
      <p:sp>
        <p:nvSpPr>
          <p:cNvPr name="TextBox 46" id="46"/>
          <p:cNvSpPr txBox="true"/>
          <p:nvPr/>
        </p:nvSpPr>
        <p:spPr>
          <a:xfrm rot="0">
            <a:off x="219684" y="900635"/>
            <a:ext cx="1104481" cy="242761"/>
          </a:xfrm>
          <a:prstGeom prst="rect">
            <a:avLst/>
          </a:prstGeom>
        </p:spPr>
        <p:txBody>
          <a:bodyPr anchor="t" rtlCol="false" tIns="0" lIns="0" bIns="0" rIns="0">
            <a:spAutoFit/>
          </a:bodyPr>
          <a:lstStyle/>
          <a:p>
            <a:pPr algn="ctr">
              <a:lnSpc>
                <a:spcPts val="1973"/>
              </a:lnSpc>
            </a:pPr>
            <a:r>
              <a:rPr lang="en-US" sz="1409">
                <a:solidFill>
                  <a:srgbClr val="00C2FF"/>
                </a:solidFill>
                <a:latin typeface="HK Modular"/>
                <a:ea typeface="HK Modular"/>
                <a:cs typeface="HK Modular"/>
                <a:sym typeface="HK Modular"/>
              </a:rPr>
              <a:t>S</a:t>
            </a:r>
            <a:r>
              <a:rPr lang="en-US" sz="1409">
                <a:solidFill>
                  <a:srgbClr val="5085FF"/>
                </a:solidFill>
                <a:latin typeface="HK Modular"/>
                <a:ea typeface="HK Modular"/>
                <a:cs typeface="HK Modular"/>
                <a:sym typeface="HK Modular"/>
              </a:rPr>
              <a:t>p</a:t>
            </a:r>
            <a:r>
              <a:rPr lang="en-US" sz="1409">
                <a:solidFill>
                  <a:srgbClr val="385FFF"/>
                </a:solidFill>
                <a:latin typeface="HK Modular"/>
                <a:ea typeface="HK Modular"/>
                <a:cs typeface="HK Modular"/>
                <a:sym typeface="HK Modular"/>
              </a:rPr>
              <a:t>e</a:t>
            </a:r>
            <a:r>
              <a:rPr lang="en-US" sz="1409">
                <a:solidFill>
                  <a:srgbClr val="5085FF"/>
                </a:solidFill>
                <a:latin typeface="HK Modular"/>
                <a:ea typeface="HK Modular"/>
                <a:cs typeface="HK Modular"/>
                <a:sym typeface="HK Modular"/>
              </a:rPr>
              <a:t>c</a:t>
            </a:r>
            <a:r>
              <a:rPr lang="en-US" sz="1409">
                <a:solidFill>
                  <a:srgbClr val="6E5AFF"/>
                </a:solidFill>
                <a:latin typeface="HK Modular"/>
                <a:ea typeface="HK Modular"/>
                <a:cs typeface="HK Modular"/>
                <a:sym typeface="HK Modular"/>
              </a:rPr>
              <a:t>t</a:t>
            </a:r>
            <a:r>
              <a:rPr lang="en-US" sz="1409">
                <a:solidFill>
                  <a:srgbClr val="5085FF"/>
                </a:solidFill>
                <a:latin typeface="HK Modular"/>
                <a:ea typeface="HK Modular"/>
                <a:cs typeface="HK Modular"/>
                <a:sym typeface="HK Modular"/>
              </a:rPr>
              <a:t>r</a:t>
            </a:r>
            <a:r>
              <a:rPr lang="en-US" sz="1409">
                <a:solidFill>
                  <a:srgbClr val="6E5AFF"/>
                </a:solidFill>
                <a:latin typeface="HK Modular"/>
                <a:ea typeface="HK Modular"/>
                <a:cs typeface="HK Modular"/>
                <a:sym typeface="HK Modular"/>
              </a:rPr>
              <a:t>a</a:t>
            </a:r>
          </a:p>
        </p:txBody>
      </p:sp>
      <p:sp>
        <p:nvSpPr>
          <p:cNvPr name="TextBox 47" id="47"/>
          <p:cNvSpPr txBox="true"/>
          <p:nvPr/>
        </p:nvSpPr>
        <p:spPr>
          <a:xfrm rot="0">
            <a:off x="14981528" y="8748830"/>
            <a:ext cx="1713169" cy="1154303"/>
          </a:xfrm>
          <a:prstGeom prst="rect">
            <a:avLst/>
          </a:prstGeom>
        </p:spPr>
        <p:txBody>
          <a:bodyPr anchor="t" rtlCol="false" tIns="0" lIns="0" bIns="0" rIns="0">
            <a:spAutoFit/>
          </a:bodyPr>
          <a:lstStyle/>
          <a:p>
            <a:pPr algn="l">
              <a:lnSpc>
                <a:spcPts val="1804"/>
              </a:lnSpc>
              <a:spcBef>
                <a:spcPct val="0"/>
              </a:spcBef>
            </a:pPr>
            <a:r>
              <a:rPr lang="en-US" sz="1640" i="true">
                <a:solidFill>
                  <a:srgbClr val="000000"/>
                </a:solidFill>
                <a:latin typeface="Canva Sans Italics"/>
                <a:ea typeface="Canva Sans Italics"/>
                <a:cs typeface="Canva Sans Italics"/>
                <a:sym typeface="Canva Sans Italics"/>
              </a:rPr>
              <a:t>AI chatbot to help user analyse the data without headache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962150" cy="1933575"/>
          </a:xfrm>
          <a:custGeom>
            <a:avLst/>
            <a:gdLst/>
            <a:ahLst/>
            <a:cxnLst/>
            <a:rect r="r" b="b" t="t" l="l"/>
            <a:pathLst>
              <a:path h="1933575" w="1962150">
                <a:moveTo>
                  <a:pt x="0" y="0"/>
                </a:moveTo>
                <a:lnTo>
                  <a:pt x="1962150" y="0"/>
                </a:lnTo>
                <a:lnTo>
                  <a:pt x="1962150" y="1933575"/>
                </a:lnTo>
                <a:lnTo>
                  <a:pt x="0" y="1933575"/>
                </a:lnTo>
                <a:lnTo>
                  <a:pt x="0" y="0"/>
                </a:lnTo>
                <a:close/>
              </a:path>
            </a:pathLst>
          </a:custGeom>
          <a:blipFill>
            <a:blip r:embed="rId3"/>
            <a:stretch>
              <a:fillRect l="0" t="0" r="0" b="0"/>
            </a:stretch>
          </a:blipFill>
        </p:spPr>
      </p:sp>
      <p:sp>
        <p:nvSpPr>
          <p:cNvPr name="Freeform 3" id="3"/>
          <p:cNvSpPr/>
          <p:nvPr/>
        </p:nvSpPr>
        <p:spPr>
          <a:xfrm flipH="false" flipV="false" rot="0">
            <a:off x="58293" y="3836030"/>
            <a:ext cx="2265807" cy="2113781"/>
          </a:xfrm>
          <a:custGeom>
            <a:avLst/>
            <a:gdLst/>
            <a:ahLst/>
            <a:cxnLst/>
            <a:rect r="r" b="b" t="t" l="l"/>
            <a:pathLst>
              <a:path h="2113781" w="2265807">
                <a:moveTo>
                  <a:pt x="0" y="0"/>
                </a:moveTo>
                <a:lnTo>
                  <a:pt x="2265807" y="0"/>
                </a:lnTo>
                <a:lnTo>
                  <a:pt x="2265807" y="2113781"/>
                </a:lnTo>
                <a:lnTo>
                  <a:pt x="0" y="2113781"/>
                </a:lnTo>
                <a:lnTo>
                  <a:pt x="0" y="0"/>
                </a:lnTo>
                <a:close/>
              </a:path>
            </a:pathLst>
          </a:custGeom>
          <a:blipFill>
            <a:blip r:embed="rId4"/>
            <a:stretch>
              <a:fillRect l="0" t="0" r="-25273" b="-1388"/>
            </a:stretch>
          </a:blipFill>
          <a:ln w="38100" cap="rnd">
            <a:solidFill>
              <a:srgbClr val="000000"/>
            </a:solidFill>
            <a:prstDash val="lgDash"/>
            <a:round/>
          </a:ln>
        </p:spPr>
      </p:sp>
      <p:sp>
        <p:nvSpPr>
          <p:cNvPr name="TextBox 4" id="4"/>
          <p:cNvSpPr txBox="true"/>
          <p:nvPr/>
        </p:nvSpPr>
        <p:spPr>
          <a:xfrm rot="0">
            <a:off x="203644" y="4006596"/>
            <a:ext cx="1975104" cy="1662864"/>
          </a:xfrm>
          <a:prstGeom prst="rect">
            <a:avLst/>
          </a:prstGeom>
        </p:spPr>
        <p:txBody>
          <a:bodyPr anchor="t" rtlCol="false" tIns="0" lIns="0" bIns="0" rIns="0">
            <a:spAutoFit/>
          </a:bodyPr>
          <a:lstStyle/>
          <a:p>
            <a:pPr algn="ctr">
              <a:lnSpc>
                <a:spcPts val="3371"/>
              </a:lnSpc>
            </a:pPr>
            <a:r>
              <a:rPr lang="en-US" b="true" sz="2407" spc="120">
                <a:solidFill>
                  <a:srgbClr val="004AAD"/>
                </a:solidFill>
                <a:latin typeface="Barlow Condensed Medium"/>
                <a:ea typeface="Barlow Condensed Medium"/>
                <a:cs typeface="Barlow Condensed Medium"/>
                <a:sym typeface="Barlow Condensed Medium"/>
              </a:rPr>
              <a:t>Signal Ingestion Load and configure RF data.</a:t>
            </a:r>
          </a:p>
        </p:txBody>
      </p:sp>
      <p:sp>
        <p:nvSpPr>
          <p:cNvPr name="Freeform 5" id="5"/>
          <p:cNvSpPr/>
          <p:nvPr/>
        </p:nvSpPr>
        <p:spPr>
          <a:xfrm flipH="false" flipV="false" rot="0">
            <a:off x="2095500" y="4626764"/>
            <a:ext cx="666750" cy="428625"/>
          </a:xfrm>
          <a:custGeom>
            <a:avLst/>
            <a:gdLst/>
            <a:ahLst/>
            <a:cxnLst/>
            <a:rect r="r" b="b" t="t" l="l"/>
            <a:pathLst>
              <a:path h="428625" w="666750">
                <a:moveTo>
                  <a:pt x="0" y="0"/>
                </a:moveTo>
                <a:lnTo>
                  <a:pt x="666750" y="0"/>
                </a:lnTo>
                <a:lnTo>
                  <a:pt x="666750" y="428625"/>
                </a:lnTo>
                <a:lnTo>
                  <a:pt x="0" y="428625"/>
                </a:lnTo>
                <a:lnTo>
                  <a:pt x="0" y="0"/>
                </a:lnTo>
                <a:close/>
              </a:path>
            </a:pathLst>
          </a:custGeom>
          <a:blipFill>
            <a:blip r:embed="rId5"/>
            <a:stretch>
              <a:fillRect l="0" t="0" r="0" b="0"/>
            </a:stretch>
          </a:blipFill>
        </p:spPr>
      </p:sp>
      <p:sp>
        <p:nvSpPr>
          <p:cNvPr name="Freeform 6" id="6"/>
          <p:cNvSpPr/>
          <p:nvPr/>
        </p:nvSpPr>
        <p:spPr>
          <a:xfrm flipH="false" flipV="false" rot="0">
            <a:off x="2704481" y="3872712"/>
            <a:ext cx="2519982" cy="2077098"/>
          </a:xfrm>
          <a:custGeom>
            <a:avLst/>
            <a:gdLst/>
            <a:ahLst/>
            <a:cxnLst/>
            <a:rect r="r" b="b" t="t" l="l"/>
            <a:pathLst>
              <a:path h="2077098" w="2519982">
                <a:moveTo>
                  <a:pt x="0" y="0"/>
                </a:moveTo>
                <a:lnTo>
                  <a:pt x="2519982" y="0"/>
                </a:lnTo>
                <a:lnTo>
                  <a:pt x="2519982" y="2077099"/>
                </a:lnTo>
                <a:lnTo>
                  <a:pt x="0" y="2077099"/>
                </a:lnTo>
                <a:lnTo>
                  <a:pt x="0" y="0"/>
                </a:lnTo>
                <a:close/>
              </a:path>
            </a:pathLst>
          </a:custGeom>
          <a:blipFill>
            <a:blip r:embed="rId6"/>
            <a:stretch>
              <a:fillRect l="-10926" t="0" r="-10404" b="-3178"/>
            </a:stretch>
          </a:blipFill>
          <a:ln w="38100" cap="rnd">
            <a:solidFill>
              <a:srgbClr val="000000"/>
            </a:solidFill>
            <a:prstDash val="lgDash"/>
            <a:round/>
          </a:ln>
        </p:spPr>
      </p:sp>
      <p:sp>
        <p:nvSpPr>
          <p:cNvPr name="TextBox 7" id="7"/>
          <p:cNvSpPr txBox="true"/>
          <p:nvPr/>
        </p:nvSpPr>
        <p:spPr>
          <a:xfrm rot="0">
            <a:off x="2812889" y="3918492"/>
            <a:ext cx="2303165" cy="1943591"/>
          </a:xfrm>
          <a:prstGeom prst="rect">
            <a:avLst/>
          </a:prstGeom>
        </p:spPr>
        <p:txBody>
          <a:bodyPr anchor="t" rtlCol="false" tIns="0" lIns="0" bIns="0" rIns="0">
            <a:spAutoFit/>
          </a:bodyPr>
          <a:lstStyle/>
          <a:p>
            <a:pPr algn="ctr">
              <a:lnSpc>
                <a:spcPts val="3122"/>
              </a:lnSpc>
            </a:pPr>
            <a:r>
              <a:rPr lang="en-US" b="true" sz="2230" spc="111">
                <a:solidFill>
                  <a:srgbClr val="004AAD"/>
                </a:solidFill>
                <a:latin typeface="Barlow Condensed Medium"/>
                <a:ea typeface="Barlow Condensed Medium"/>
                <a:cs typeface="Barlow Condensed Medium"/>
                <a:sym typeface="Barlow Condensed Medium"/>
              </a:rPr>
              <a:t>Parameter Extraction Estimate bandwidth, SNR, modulation, FEC, and interleaving.</a:t>
            </a:r>
          </a:p>
        </p:txBody>
      </p:sp>
      <p:sp>
        <p:nvSpPr>
          <p:cNvPr name="Freeform 8" id="8"/>
          <p:cNvSpPr/>
          <p:nvPr/>
        </p:nvSpPr>
        <p:spPr>
          <a:xfrm flipH="false" flipV="false" rot="0">
            <a:off x="5553528" y="3842538"/>
            <a:ext cx="2286000" cy="2143125"/>
          </a:xfrm>
          <a:custGeom>
            <a:avLst/>
            <a:gdLst/>
            <a:ahLst/>
            <a:cxnLst/>
            <a:rect r="r" b="b" t="t" l="l"/>
            <a:pathLst>
              <a:path h="2143125" w="2286000">
                <a:moveTo>
                  <a:pt x="0" y="0"/>
                </a:moveTo>
                <a:lnTo>
                  <a:pt x="2286000" y="0"/>
                </a:lnTo>
                <a:lnTo>
                  <a:pt x="2286000" y="2143125"/>
                </a:lnTo>
                <a:lnTo>
                  <a:pt x="0" y="2143125"/>
                </a:lnTo>
                <a:lnTo>
                  <a:pt x="0" y="0"/>
                </a:lnTo>
                <a:close/>
              </a:path>
            </a:pathLst>
          </a:custGeom>
          <a:blipFill>
            <a:blip r:embed="rId7"/>
            <a:stretch>
              <a:fillRect l="-10833" t="-3411" r="-32041" b="-3411"/>
            </a:stretch>
          </a:blipFill>
          <a:ln w="38100" cap="rnd">
            <a:solidFill>
              <a:srgbClr val="000000"/>
            </a:solidFill>
            <a:prstDash val="lgDash"/>
            <a:round/>
          </a:ln>
        </p:spPr>
      </p:sp>
      <p:sp>
        <p:nvSpPr>
          <p:cNvPr name="TextBox 9" id="9"/>
          <p:cNvSpPr txBox="true"/>
          <p:nvPr/>
        </p:nvSpPr>
        <p:spPr>
          <a:xfrm rot="0">
            <a:off x="5617536" y="4027285"/>
            <a:ext cx="2157984" cy="1673290"/>
          </a:xfrm>
          <a:prstGeom prst="rect">
            <a:avLst/>
          </a:prstGeom>
        </p:spPr>
        <p:txBody>
          <a:bodyPr anchor="t" rtlCol="false" tIns="0" lIns="0" bIns="0" rIns="0">
            <a:spAutoFit/>
          </a:bodyPr>
          <a:lstStyle/>
          <a:p>
            <a:pPr algn="ctr">
              <a:lnSpc>
                <a:spcPts val="3321"/>
              </a:lnSpc>
            </a:pPr>
            <a:r>
              <a:rPr lang="en-US" b="true" sz="2372" spc="118">
                <a:solidFill>
                  <a:srgbClr val="004AAD"/>
                </a:solidFill>
                <a:latin typeface="Barlow Condensed Medium"/>
                <a:ea typeface="Barlow Condensed Medium"/>
                <a:cs typeface="Barlow Condensed Medium"/>
                <a:sym typeface="Barlow Condensed Medium"/>
              </a:rPr>
              <a:t>Spectral Analysis View spectrum, waterfall, I/Q, and constellation.</a:t>
            </a:r>
          </a:p>
        </p:txBody>
      </p:sp>
      <p:sp>
        <p:nvSpPr>
          <p:cNvPr name="Freeform 10" id="10"/>
          <p:cNvSpPr/>
          <p:nvPr/>
        </p:nvSpPr>
        <p:spPr>
          <a:xfrm flipH="false" flipV="false" rot="0">
            <a:off x="4947666" y="4650921"/>
            <a:ext cx="666750" cy="428625"/>
          </a:xfrm>
          <a:custGeom>
            <a:avLst/>
            <a:gdLst/>
            <a:ahLst/>
            <a:cxnLst/>
            <a:rect r="r" b="b" t="t" l="l"/>
            <a:pathLst>
              <a:path h="428625" w="666750">
                <a:moveTo>
                  <a:pt x="0" y="0"/>
                </a:moveTo>
                <a:lnTo>
                  <a:pt x="666750" y="0"/>
                </a:lnTo>
                <a:lnTo>
                  <a:pt x="666750" y="428625"/>
                </a:lnTo>
                <a:lnTo>
                  <a:pt x="0" y="428625"/>
                </a:lnTo>
                <a:lnTo>
                  <a:pt x="0" y="0"/>
                </a:lnTo>
                <a:close/>
              </a:path>
            </a:pathLst>
          </a:custGeom>
          <a:blipFill>
            <a:blip r:embed="rId8"/>
            <a:stretch>
              <a:fillRect l="0" t="0" r="0" b="0"/>
            </a:stretch>
          </a:blipFill>
        </p:spPr>
      </p:sp>
      <p:sp>
        <p:nvSpPr>
          <p:cNvPr name="Freeform 11" id="11"/>
          <p:cNvSpPr/>
          <p:nvPr/>
        </p:nvSpPr>
        <p:spPr>
          <a:xfrm flipH="false" flipV="false" rot="0">
            <a:off x="8172903" y="3872712"/>
            <a:ext cx="2314558" cy="2077098"/>
          </a:xfrm>
          <a:custGeom>
            <a:avLst/>
            <a:gdLst/>
            <a:ahLst/>
            <a:cxnLst/>
            <a:rect r="r" b="b" t="t" l="l"/>
            <a:pathLst>
              <a:path h="2077098" w="2314558">
                <a:moveTo>
                  <a:pt x="0" y="0"/>
                </a:moveTo>
                <a:lnTo>
                  <a:pt x="2314558" y="0"/>
                </a:lnTo>
                <a:lnTo>
                  <a:pt x="2314558" y="2077099"/>
                </a:lnTo>
                <a:lnTo>
                  <a:pt x="0" y="2077099"/>
                </a:lnTo>
                <a:lnTo>
                  <a:pt x="0" y="0"/>
                </a:lnTo>
                <a:close/>
              </a:path>
            </a:pathLst>
          </a:custGeom>
          <a:blipFill>
            <a:blip r:embed="rId9"/>
            <a:stretch>
              <a:fillRect l="-9762" t="-4431" r="-43733" b="-717"/>
            </a:stretch>
          </a:blipFill>
          <a:ln w="38100" cap="rnd">
            <a:solidFill>
              <a:srgbClr val="000000"/>
            </a:solidFill>
            <a:prstDash val="lgDash"/>
            <a:round/>
          </a:ln>
        </p:spPr>
      </p:sp>
      <p:sp>
        <p:nvSpPr>
          <p:cNvPr name="TextBox 12" id="12"/>
          <p:cNvSpPr txBox="true"/>
          <p:nvPr/>
        </p:nvSpPr>
        <p:spPr>
          <a:xfrm rot="0">
            <a:off x="8172903" y="4011599"/>
            <a:ext cx="2314558" cy="1662864"/>
          </a:xfrm>
          <a:prstGeom prst="rect">
            <a:avLst/>
          </a:prstGeom>
        </p:spPr>
        <p:txBody>
          <a:bodyPr anchor="t" rtlCol="false" tIns="0" lIns="0" bIns="0" rIns="0">
            <a:spAutoFit/>
          </a:bodyPr>
          <a:lstStyle/>
          <a:p>
            <a:pPr algn="ctr">
              <a:lnSpc>
                <a:spcPts val="3371"/>
              </a:lnSpc>
            </a:pPr>
            <a:r>
              <a:rPr lang="en-US" b="true" sz="2407" spc="120">
                <a:solidFill>
                  <a:srgbClr val="004AAD"/>
                </a:solidFill>
                <a:latin typeface="Barlow Condensed Medium"/>
                <a:ea typeface="Barlow Condensed Medium"/>
                <a:cs typeface="Barlow Condensed Medium"/>
                <a:sym typeface="Barlow Condensed Medium"/>
              </a:rPr>
              <a:t>Demodulation Convert 1/Q samples into raw bits.</a:t>
            </a:r>
          </a:p>
        </p:txBody>
      </p:sp>
      <p:sp>
        <p:nvSpPr>
          <p:cNvPr name="Freeform 13" id="13"/>
          <p:cNvSpPr/>
          <p:nvPr/>
        </p:nvSpPr>
        <p:spPr>
          <a:xfrm flipH="false" flipV="false" rot="0">
            <a:off x="7587615" y="4652531"/>
            <a:ext cx="666750" cy="428625"/>
          </a:xfrm>
          <a:custGeom>
            <a:avLst/>
            <a:gdLst/>
            <a:ahLst/>
            <a:cxnLst/>
            <a:rect r="r" b="b" t="t" l="l"/>
            <a:pathLst>
              <a:path h="428625" w="666750">
                <a:moveTo>
                  <a:pt x="0" y="0"/>
                </a:moveTo>
                <a:lnTo>
                  <a:pt x="666750" y="0"/>
                </a:lnTo>
                <a:lnTo>
                  <a:pt x="666750" y="428625"/>
                </a:lnTo>
                <a:lnTo>
                  <a:pt x="0" y="428625"/>
                </a:lnTo>
                <a:lnTo>
                  <a:pt x="0" y="0"/>
                </a:lnTo>
                <a:close/>
              </a:path>
            </a:pathLst>
          </a:custGeom>
          <a:blipFill>
            <a:blip r:embed="rId10"/>
            <a:stretch>
              <a:fillRect l="0" t="0" r="0" b="0"/>
            </a:stretch>
          </a:blipFill>
        </p:spPr>
      </p:sp>
      <p:sp>
        <p:nvSpPr>
          <p:cNvPr name="Freeform 14" id="14"/>
          <p:cNvSpPr/>
          <p:nvPr/>
        </p:nvSpPr>
        <p:spPr>
          <a:xfrm flipH="false" flipV="false" rot="0">
            <a:off x="15574335" y="3732341"/>
            <a:ext cx="2653229" cy="2077098"/>
          </a:xfrm>
          <a:custGeom>
            <a:avLst/>
            <a:gdLst/>
            <a:ahLst/>
            <a:cxnLst/>
            <a:rect r="r" b="b" t="t" l="l"/>
            <a:pathLst>
              <a:path h="2077098" w="2653229">
                <a:moveTo>
                  <a:pt x="0" y="0"/>
                </a:moveTo>
                <a:lnTo>
                  <a:pt x="2653229" y="0"/>
                </a:lnTo>
                <a:lnTo>
                  <a:pt x="2653229" y="2077099"/>
                </a:lnTo>
                <a:lnTo>
                  <a:pt x="0" y="2077099"/>
                </a:lnTo>
                <a:lnTo>
                  <a:pt x="0" y="0"/>
                </a:lnTo>
                <a:close/>
              </a:path>
            </a:pathLst>
          </a:custGeom>
          <a:blipFill>
            <a:blip r:embed="rId11"/>
            <a:stretch>
              <a:fillRect l="-4580" t="-4431" r="-28771" b="0"/>
            </a:stretch>
          </a:blipFill>
          <a:ln w="38100" cap="rnd">
            <a:solidFill>
              <a:srgbClr val="000000"/>
            </a:solidFill>
            <a:prstDash val="lgDash"/>
            <a:round/>
          </a:ln>
        </p:spPr>
      </p:sp>
      <p:sp>
        <p:nvSpPr>
          <p:cNvPr name="TextBox 15" id="15"/>
          <p:cNvSpPr txBox="true"/>
          <p:nvPr/>
        </p:nvSpPr>
        <p:spPr>
          <a:xfrm rot="0">
            <a:off x="15688635" y="3818759"/>
            <a:ext cx="2410903" cy="1764581"/>
          </a:xfrm>
          <a:prstGeom prst="rect">
            <a:avLst/>
          </a:prstGeom>
        </p:spPr>
        <p:txBody>
          <a:bodyPr anchor="t" rtlCol="false" tIns="0" lIns="0" bIns="0" rIns="0">
            <a:spAutoFit/>
          </a:bodyPr>
          <a:lstStyle/>
          <a:p>
            <a:pPr algn="ctr">
              <a:lnSpc>
                <a:spcPts val="3526"/>
              </a:lnSpc>
            </a:pPr>
            <a:r>
              <a:rPr lang="en-US" b="true" sz="2518" spc="125">
                <a:solidFill>
                  <a:srgbClr val="004AAD"/>
                </a:solidFill>
                <a:latin typeface="Barlow Condensed Medium"/>
                <a:ea typeface="Barlow Condensed Medium"/>
                <a:cs typeface="Barlow Condensed Medium"/>
                <a:sym typeface="Barlow Condensed Medium"/>
              </a:rPr>
              <a:t>Payload Extraction Find the preamble and extract the payload.</a:t>
            </a:r>
          </a:p>
        </p:txBody>
      </p:sp>
      <p:sp>
        <p:nvSpPr>
          <p:cNvPr name="Freeform 16" id="16"/>
          <p:cNvSpPr/>
          <p:nvPr/>
        </p:nvSpPr>
        <p:spPr>
          <a:xfrm flipH="false" flipV="false" rot="0">
            <a:off x="10339388" y="4678608"/>
            <a:ext cx="657225" cy="428625"/>
          </a:xfrm>
          <a:custGeom>
            <a:avLst/>
            <a:gdLst/>
            <a:ahLst/>
            <a:cxnLst/>
            <a:rect r="r" b="b" t="t" l="l"/>
            <a:pathLst>
              <a:path h="428625" w="657225">
                <a:moveTo>
                  <a:pt x="0" y="0"/>
                </a:moveTo>
                <a:lnTo>
                  <a:pt x="657224" y="0"/>
                </a:lnTo>
                <a:lnTo>
                  <a:pt x="657224" y="428625"/>
                </a:lnTo>
                <a:lnTo>
                  <a:pt x="0" y="428625"/>
                </a:lnTo>
                <a:lnTo>
                  <a:pt x="0" y="0"/>
                </a:lnTo>
                <a:close/>
              </a:path>
            </a:pathLst>
          </a:custGeom>
          <a:blipFill>
            <a:blip r:embed="rId12"/>
            <a:stretch>
              <a:fillRect l="0" t="0" r="0" b="0"/>
            </a:stretch>
          </a:blipFill>
        </p:spPr>
      </p:sp>
      <p:sp>
        <p:nvSpPr>
          <p:cNvPr name="Freeform 17" id="17"/>
          <p:cNvSpPr/>
          <p:nvPr/>
        </p:nvSpPr>
        <p:spPr>
          <a:xfrm flipH="false" flipV="false" rot="0">
            <a:off x="481931" y="7059505"/>
            <a:ext cx="2103311" cy="989938"/>
          </a:xfrm>
          <a:custGeom>
            <a:avLst/>
            <a:gdLst/>
            <a:ahLst/>
            <a:cxnLst/>
            <a:rect r="r" b="b" t="t" l="l"/>
            <a:pathLst>
              <a:path h="989938" w="2103311">
                <a:moveTo>
                  <a:pt x="0" y="0"/>
                </a:moveTo>
                <a:lnTo>
                  <a:pt x="2103310" y="0"/>
                </a:lnTo>
                <a:lnTo>
                  <a:pt x="2103310" y="989938"/>
                </a:lnTo>
                <a:lnTo>
                  <a:pt x="0" y="989938"/>
                </a:lnTo>
                <a:lnTo>
                  <a:pt x="0" y="0"/>
                </a:lnTo>
                <a:close/>
              </a:path>
            </a:pathLst>
          </a:custGeom>
          <a:blipFill>
            <a:blip r:embed="rId13"/>
            <a:stretch>
              <a:fillRect l="-6857" t="-22357" r="0" b="-10904"/>
            </a:stretch>
          </a:blipFill>
          <a:ln w="38100" cap="rnd">
            <a:solidFill>
              <a:srgbClr val="000000"/>
            </a:solidFill>
            <a:prstDash val="lgDash"/>
            <a:round/>
          </a:ln>
        </p:spPr>
      </p:sp>
      <p:sp>
        <p:nvSpPr>
          <p:cNvPr name="TextBox 18" id="18"/>
          <p:cNvSpPr txBox="true"/>
          <p:nvPr/>
        </p:nvSpPr>
        <p:spPr>
          <a:xfrm rot="0">
            <a:off x="481931" y="7270241"/>
            <a:ext cx="2102358" cy="603875"/>
          </a:xfrm>
          <a:prstGeom prst="rect">
            <a:avLst/>
          </a:prstGeom>
        </p:spPr>
        <p:txBody>
          <a:bodyPr anchor="t" rtlCol="false" tIns="0" lIns="0" bIns="0" rIns="0">
            <a:spAutoFit/>
          </a:bodyPr>
          <a:lstStyle/>
          <a:p>
            <a:pPr algn="ctr">
              <a:lnSpc>
                <a:spcPts val="2415"/>
              </a:lnSpc>
            </a:pPr>
            <a:r>
              <a:rPr lang="en-US" b="true" sz="1725" spc="86">
                <a:solidFill>
                  <a:srgbClr val="004AAD"/>
                </a:solidFill>
                <a:latin typeface="Barlow Semi-Bold"/>
                <a:ea typeface="Barlow Semi-Bold"/>
                <a:cs typeface="Barlow Semi-Bold"/>
                <a:sym typeface="Barlow Semi-Bold"/>
              </a:rPr>
              <a:t>Demodulated Soft/Hard Bits</a:t>
            </a:r>
          </a:p>
        </p:txBody>
      </p:sp>
      <p:sp>
        <p:nvSpPr>
          <p:cNvPr name="Freeform 19" id="19"/>
          <p:cNvSpPr/>
          <p:nvPr/>
        </p:nvSpPr>
        <p:spPr>
          <a:xfrm flipH="false" flipV="false" rot="0">
            <a:off x="3204366" y="7073761"/>
            <a:ext cx="5320991" cy="996981"/>
          </a:xfrm>
          <a:custGeom>
            <a:avLst/>
            <a:gdLst/>
            <a:ahLst/>
            <a:cxnLst/>
            <a:rect r="r" b="b" t="t" l="l"/>
            <a:pathLst>
              <a:path h="996981" w="5320991">
                <a:moveTo>
                  <a:pt x="0" y="0"/>
                </a:moveTo>
                <a:lnTo>
                  <a:pt x="5320991" y="0"/>
                </a:lnTo>
                <a:lnTo>
                  <a:pt x="5320991" y="996980"/>
                </a:lnTo>
                <a:lnTo>
                  <a:pt x="0" y="996980"/>
                </a:lnTo>
                <a:lnTo>
                  <a:pt x="0" y="0"/>
                </a:lnTo>
                <a:close/>
              </a:path>
            </a:pathLst>
          </a:custGeom>
          <a:blipFill>
            <a:blip r:embed="rId14"/>
            <a:stretch>
              <a:fillRect l="-6100" t="-124526" r="-10157" b="-107871"/>
            </a:stretch>
          </a:blipFill>
          <a:ln w="38100" cap="rnd">
            <a:solidFill>
              <a:srgbClr val="000000"/>
            </a:solidFill>
            <a:prstDash val="lgDash"/>
            <a:round/>
          </a:ln>
        </p:spPr>
      </p:sp>
      <p:sp>
        <p:nvSpPr>
          <p:cNvPr name="Freeform 20" id="20"/>
          <p:cNvSpPr/>
          <p:nvPr/>
        </p:nvSpPr>
        <p:spPr>
          <a:xfrm flipH="false" flipV="false" rot="0">
            <a:off x="9267554" y="7123932"/>
            <a:ext cx="5903856" cy="925511"/>
          </a:xfrm>
          <a:custGeom>
            <a:avLst/>
            <a:gdLst/>
            <a:ahLst/>
            <a:cxnLst/>
            <a:rect r="r" b="b" t="t" l="l"/>
            <a:pathLst>
              <a:path h="925511" w="5903856">
                <a:moveTo>
                  <a:pt x="0" y="0"/>
                </a:moveTo>
                <a:lnTo>
                  <a:pt x="5903856" y="0"/>
                </a:lnTo>
                <a:lnTo>
                  <a:pt x="5903856" y="925511"/>
                </a:lnTo>
                <a:lnTo>
                  <a:pt x="0" y="925511"/>
                </a:lnTo>
                <a:lnTo>
                  <a:pt x="0" y="0"/>
                </a:lnTo>
                <a:close/>
              </a:path>
            </a:pathLst>
          </a:custGeom>
          <a:blipFill>
            <a:blip r:embed="rId15"/>
            <a:stretch>
              <a:fillRect l="-13564" t="-165487" r="-7815" b="-149307"/>
            </a:stretch>
          </a:blipFill>
          <a:ln w="38100" cap="rnd">
            <a:solidFill>
              <a:srgbClr val="000000"/>
            </a:solidFill>
            <a:prstDash val="lgDash"/>
            <a:round/>
          </a:ln>
        </p:spPr>
      </p:sp>
      <p:sp>
        <p:nvSpPr>
          <p:cNvPr name="Freeform 21" id="21"/>
          <p:cNvSpPr/>
          <p:nvPr/>
        </p:nvSpPr>
        <p:spPr>
          <a:xfrm flipH="false" flipV="false" rot="0">
            <a:off x="15712131" y="7073761"/>
            <a:ext cx="2265791" cy="975682"/>
          </a:xfrm>
          <a:custGeom>
            <a:avLst/>
            <a:gdLst/>
            <a:ahLst/>
            <a:cxnLst/>
            <a:rect r="r" b="b" t="t" l="l"/>
            <a:pathLst>
              <a:path h="975682" w="2265791">
                <a:moveTo>
                  <a:pt x="0" y="0"/>
                </a:moveTo>
                <a:lnTo>
                  <a:pt x="2265791" y="0"/>
                </a:lnTo>
                <a:lnTo>
                  <a:pt x="2265791" y="975682"/>
                </a:lnTo>
                <a:lnTo>
                  <a:pt x="0" y="975682"/>
                </a:lnTo>
                <a:lnTo>
                  <a:pt x="0" y="0"/>
                </a:lnTo>
                <a:close/>
              </a:path>
            </a:pathLst>
          </a:custGeom>
          <a:blipFill>
            <a:blip r:embed="rId16"/>
            <a:stretch>
              <a:fillRect l="-6000" t="-59035" r="-2091" b="-25136"/>
            </a:stretch>
          </a:blipFill>
          <a:ln w="38100" cap="rnd">
            <a:solidFill>
              <a:srgbClr val="000000"/>
            </a:solidFill>
            <a:prstDash val="lgDash"/>
            <a:round/>
          </a:ln>
        </p:spPr>
      </p:sp>
      <p:sp>
        <p:nvSpPr>
          <p:cNvPr name="Freeform 22" id="22"/>
          <p:cNvSpPr/>
          <p:nvPr/>
        </p:nvSpPr>
        <p:spPr>
          <a:xfrm flipH="false" flipV="false" rot="0">
            <a:off x="6241417" y="8394591"/>
            <a:ext cx="5256527" cy="1024465"/>
          </a:xfrm>
          <a:custGeom>
            <a:avLst/>
            <a:gdLst/>
            <a:ahLst/>
            <a:cxnLst/>
            <a:rect r="r" b="b" t="t" l="l"/>
            <a:pathLst>
              <a:path h="1024465" w="5256527">
                <a:moveTo>
                  <a:pt x="0" y="0"/>
                </a:moveTo>
                <a:lnTo>
                  <a:pt x="5256526" y="0"/>
                </a:lnTo>
                <a:lnTo>
                  <a:pt x="5256526" y="1024465"/>
                </a:lnTo>
                <a:lnTo>
                  <a:pt x="0" y="1024465"/>
                </a:lnTo>
                <a:lnTo>
                  <a:pt x="0" y="0"/>
                </a:lnTo>
                <a:close/>
              </a:path>
            </a:pathLst>
          </a:custGeom>
          <a:blipFill>
            <a:blip r:embed="rId17"/>
            <a:stretch>
              <a:fillRect l="-4393" t="-16735" r="-3422" b="-8781"/>
            </a:stretch>
          </a:blipFill>
          <a:ln w="38100" cap="rnd">
            <a:solidFill>
              <a:srgbClr val="000000"/>
            </a:solidFill>
            <a:prstDash val="lgDash"/>
            <a:round/>
          </a:ln>
        </p:spPr>
      </p:sp>
      <p:sp>
        <p:nvSpPr>
          <p:cNvPr name="Freeform 23" id="23"/>
          <p:cNvSpPr/>
          <p:nvPr/>
        </p:nvSpPr>
        <p:spPr>
          <a:xfrm flipH="false" flipV="false" rot="0">
            <a:off x="10868461" y="3802527"/>
            <a:ext cx="2235327" cy="2077098"/>
          </a:xfrm>
          <a:custGeom>
            <a:avLst/>
            <a:gdLst/>
            <a:ahLst/>
            <a:cxnLst/>
            <a:rect r="r" b="b" t="t" l="l"/>
            <a:pathLst>
              <a:path h="2077098" w="2235327">
                <a:moveTo>
                  <a:pt x="0" y="0"/>
                </a:moveTo>
                <a:lnTo>
                  <a:pt x="2235327" y="0"/>
                </a:lnTo>
                <a:lnTo>
                  <a:pt x="2235327" y="2077098"/>
                </a:lnTo>
                <a:lnTo>
                  <a:pt x="0" y="2077098"/>
                </a:lnTo>
                <a:lnTo>
                  <a:pt x="0" y="0"/>
                </a:lnTo>
                <a:close/>
              </a:path>
            </a:pathLst>
          </a:custGeom>
          <a:blipFill>
            <a:blip r:embed="rId18"/>
            <a:stretch>
              <a:fillRect l="-29301" t="-5401" r="-30015" b="0"/>
            </a:stretch>
          </a:blipFill>
          <a:ln w="38100" cap="rnd">
            <a:solidFill>
              <a:srgbClr val="000000"/>
            </a:solidFill>
            <a:prstDash val="lgDash"/>
            <a:round/>
          </a:ln>
        </p:spPr>
      </p:sp>
      <p:sp>
        <p:nvSpPr>
          <p:cNvPr name="TextBox 24" id="24"/>
          <p:cNvSpPr txBox="true"/>
          <p:nvPr/>
        </p:nvSpPr>
        <p:spPr>
          <a:xfrm rot="0">
            <a:off x="3274132" y="7207448"/>
            <a:ext cx="5320991" cy="691506"/>
          </a:xfrm>
          <a:prstGeom prst="rect">
            <a:avLst/>
          </a:prstGeom>
        </p:spPr>
        <p:txBody>
          <a:bodyPr anchor="t" rtlCol="false" tIns="0" lIns="0" bIns="0" rIns="0">
            <a:spAutoFit/>
          </a:bodyPr>
          <a:lstStyle/>
          <a:p>
            <a:pPr algn="ctr">
              <a:lnSpc>
                <a:spcPts val="2835"/>
              </a:lnSpc>
            </a:pPr>
            <a:r>
              <a:rPr lang="en-US" b="true" sz="2025" spc="101">
                <a:solidFill>
                  <a:srgbClr val="004AAD"/>
                </a:solidFill>
                <a:latin typeface="Barlow Semi-Bold"/>
                <a:ea typeface="Barlow Semi-Bold"/>
                <a:cs typeface="Barlow Semi-Bold"/>
                <a:sym typeface="Barlow Semi-Bold"/>
              </a:rPr>
              <a:t>(Block / Convolutional / Diagonal / Pseudo-random)</a:t>
            </a:r>
          </a:p>
        </p:txBody>
      </p:sp>
      <p:sp>
        <p:nvSpPr>
          <p:cNvPr name="TextBox 25" id="25"/>
          <p:cNvSpPr txBox="true"/>
          <p:nvPr/>
        </p:nvSpPr>
        <p:spPr>
          <a:xfrm rot="0">
            <a:off x="9365852" y="7373906"/>
            <a:ext cx="5835938" cy="323036"/>
          </a:xfrm>
          <a:prstGeom prst="rect">
            <a:avLst/>
          </a:prstGeom>
        </p:spPr>
        <p:txBody>
          <a:bodyPr anchor="t" rtlCol="false" tIns="0" lIns="0" bIns="0" rIns="0">
            <a:spAutoFit/>
          </a:bodyPr>
          <a:lstStyle/>
          <a:p>
            <a:pPr algn="ctr">
              <a:lnSpc>
                <a:spcPts val="2669"/>
              </a:lnSpc>
            </a:pPr>
            <a:r>
              <a:rPr lang="en-US" b="true" sz="1907" spc="95">
                <a:solidFill>
                  <a:srgbClr val="004AAD"/>
                </a:solidFill>
                <a:latin typeface="Barlow Semi-Bold"/>
                <a:ea typeface="Barlow Semi-Bold"/>
                <a:cs typeface="Barlow Semi-Bold"/>
                <a:sym typeface="Barlow Semi-Bold"/>
              </a:rPr>
              <a:t>FEC Decoder (Viterbi / RS) Concatenated (L&amp;P)</a:t>
            </a:r>
          </a:p>
        </p:txBody>
      </p:sp>
      <p:sp>
        <p:nvSpPr>
          <p:cNvPr name="TextBox 26" id="26"/>
          <p:cNvSpPr txBox="true"/>
          <p:nvPr/>
        </p:nvSpPr>
        <p:spPr>
          <a:xfrm rot="0">
            <a:off x="10982761" y="4125196"/>
            <a:ext cx="1985617" cy="1243764"/>
          </a:xfrm>
          <a:prstGeom prst="rect">
            <a:avLst/>
          </a:prstGeom>
        </p:spPr>
        <p:txBody>
          <a:bodyPr anchor="t" rtlCol="false" tIns="0" lIns="0" bIns="0" rIns="0">
            <a:spAutoFit/>
          </a:bodyPr>
          <a:lstStyle/>
          <a:p>
            <a:pPr algn="ctr">
              <a:lnSpc>
                <a:spcPts val="3371"/>
              </a:lnSpc>
            </a:pPr>
            <a:r>
              <a:rPr lang="en-US" b="true" sz="2407" spc="120">
                <a:solidFill>
                  <a:srgbClr val="004AAD"/>
                </a:solidFill>
                <a:latin typeface="Barlow Condensed Medium"/>
                <a:ea typeface="Barlow Condensed Medium"/>
                <a:cs typeface="Barlow Condensed Medium"/>
                <a:sym typeface="Barlow Condensed Medium"/>
              </a:rPr>
              <a:t>De-interleaving Reorder scattered bits.</a:t>
            </a:r>
          </a:p>
        </p:txBody>
      </p:sp>
      <p:sp>
        <p:nvSpPr>
          <p:cNvPr name="Freeform 27" id="27"/>
          <p:cNvSpPr/>
          <p:nvPr/>
        </p:nvSpPr>
        <p:spPr>
          <a:xfrm flipH="false" flipV="false" rot="0">
            <a:off x="13411298" y="3772352"/>
            <a:ext cx="1904691" cy="2107273"/>
          </a:xfrm>
          <a:custGeom>
            <a:avLst/>
            <a:gdLst/>
            <a:ahLst/>
            <a:cxnLst/>
            <a:rect r="r" b="b" t="t" l="l"/>
            <a:pathLst>
              <a:path h="2107273" w="1904691">
                <a:moveTo>
                  <a:pt x="0" y="0"/>
                </a:moveTo>
                <a:lnTo>
                  <a:pt x="1904691" y="0"/>
                </a:lnTo>
                <a:lnTo>
                  <a:pt x="1904691" y="2107273"/>
                </a:lnTo>
                <a:lnTo>
                  <a:pt x="0" y="2107273"/>
                </a:lnTo>
                <a:lnTo>
                  <a:pt x="0" y="0"/>
                </a:lnTo>
                <a:close/>
              </a:path>
            </a:pathLst>
          </a:custGeom>
          <a:blipFill>
            <a:blip r:embed="rId9"/>
            <a:stretch>
              <a:fillRect l="-12408" t="-2936" r="-76390" b="-1970"/>
            </a:stretch>
          </a:blipFill>
          <a:ln w="38100" cap="rnd">
            <a:solidFill>
              <a:srgbClr val="000000"/>
            </a:solidFill>
            <a:prstDash val="lgDash"/>
            <a:round/>
          </a:ln>
        </p:spPr>
      </p:sp>
      <p:sp>
        <p:nvSpPr>
          <p:cNvPr name="TextBox 28" id="28"/>
          <p:cNvSpPr txBox="true"/>
          <p:nvPr/>
        </p:nvSpPr>
        <p:spPr>
          <a:xfrm rot="0">
            <a:off x="13411298" y="3996344"/>
            <a:ext cx="1904691" cy="1595537"/>
          </a:xfrm>
          <a:prstGeom prst="rect">
            <a:avLst/>
          </a:prstGeom>
        </p:spPr>
        <p:txBody>
          <a:bodyPr anchor="t" rtlCol="false" tIns="0" lIns="0" bIns="0" rIns="0">
            <a:spAutoFit/>
          </a:bodyPr>
          <a:lstStyle/>
          <a:p>
            <a:pPr algn="ctr">
              <a:lnSpc>
                <a:spcPts val="3210"/>
              </a:lnSpc>
            </a:pPr>
            <a:r>
              <a:rPr lang="en-US" b="true" sz="2293" spc="114">
                <a:solidFill>
                  <a:srgbClr val="004AAD"/>
                </a:solidFill>
                <a:latin typeface="Barlow Condensed Medium"/>
                <a:ea typeface="Barlow Condensed Medium"/>
                <a:cs typeface="Barlow Condensed Medium"/>
                <a:sym typeface="Barlow Condensed Medium"/>
              </a:rPr>
              <a:t>FEC Decoding Correct transmission errors.</a:t>
            </a:r>
          </a:p>
        </p:txBody>
      </p:sp>
      <p:sp>
        <p:nvSpPr>
          <p:cNvPr name="TextBox 29" id="29"/>
          <p:cNvSpPr txBox="true"/>
          <p:nvPr/>
        </p:nvSpPr>
        <p:spPr>
          <a:xfrm rot="0">
            <a:off x="8540496" y="9692693"/>
            <a:ext cx="1792224" cy="209825"/>
          </a:xfrm>
          <a:prstGeom prst="rect">
            <a:avLst/>
          </a:prstGeom>
        </p:spPr>
        <p:txBody>
          <a:bodyPr anchor="t" rtlCol="false" tIns="0" lIns="0" bIns="0" rIns="0">
            <a:spAutoFit/>
          </a:bodyPr>
          <a:lstStyle/>
          <a:p>
            <a:pPr algn="ctr">
              <a:lnSpc>
                <a:spcPts val="1673"/>
              </a:lnSpc>
            </a:pPr>
            <a:r>
              <a:rPr lang="en-US" sz="1521" spc="76">
                <a:solidFill>
                  <a:srgbClr val="FFFFFF"/>
                </a:solidFill>
                <a:latin typeface="Barlow Condensed"/>
                <a:ea typeface="Barlow Condensed"/>
                <a:cs typeface="Barlow Condensed"/>
                <a:sym typeface="Barlow Condensed"/>
              </a:rPr>
              <a:t>@SHIh Idea submission</a:t>
            </a:r>
          </a:p>
        </p:txBody>
      </p:sp>
      <p:sp>
        <p:nvSpPr>
          <p:cNvPr name="Freeform 30" id="30"/>
          <p:cNvSpPr/>
          <p:nvPr/>
        </p:nvSpPr>
        <p:spPr>
          <a:xfrm flipH="false" flipV="false" rot="0">
            <a:off x="12930188" y="4626764"/>
            <a:ext cx="657225" cy="428625"/>
          </a:xfrm>
          <a:custGeom>
            <a:avLst/>
            <a:gdLst/>
            <a:ahLst/>
            <a:cxnLst/>
            <a:rect r="r" b="b" t="t" l="l"/>
            <a:pathLst>
              <a:path h="428625" w="657225">
                <a:moveTo>
                  <a:pt x="0" y="0"/>
                </a:moveTo>
                <a:lnTo>
                  <a:pt x="657224" y="0"/>
                </a:lnTo>
                <a:lnTo>
                  <a:pt x="657224" y="428625"/>
                </a:lnTo>
                <a:lnTo>
                  <a:pt x="0" y="428625"/>
                </a:lnTo>
                <a:lnTo>
                  <a:pt x="0" y="0"/>
                </a:lnTo>
                <a:close/>
              </a:path>
            </a:pathLst>
          </a:custGeom>
          <a:blipFill>
            <a:blip r:embed="rId12"/>
            <a:stretch>
              <a:fillRect l="0" t="0" r="0" b="0"/>
            </a:stretch>
          </a:blipFill>
        </p:spPr>
      </p:sp>
      <p:sp>
        <p:nvSpPr>
          <p:cNvPr name="Freeform 31" id="31"/>
          <p:cNvSpPr/>
          <p:nvPr/>
        </p:nvSpPr>
        <p:spPr>
          <a:xfrm flipH="false" flipV="false" rot="0">
            <a:off x="15075506" y="4580735"/>
            <a:ext cx="657225" cy="428625"/>
          </a:xfrm>
          <a:custGeom>
            <a:avLst/>
            <a:gdLst/>
            <a:ahLst/>
            <a:cxnLst/>
            <a:rect r="r" b="b" t="t" l="l"/>
            <a:pathLst>
              <a:path h="428625" w="657225">
                <a:moveTo>
                  <a:pt x="0" y="0"/>
                </a:moveTo>
                <a:lnTo>
                  <a:pt x="657225" y="0"/>
                </a:lnTo>
                <a:lnTo>
                  <a:pt x="657225" y="428625"/>
                </a:lnTo>
                <a:lnTo>
                  <a:pt x="0" y="428625"/>
                </a:lnTo>
                <a:lnTo>
                  <a:pt x="0" y="0"/>
                </a:lnTo>
                <a:close/>
              </a:path>
            </a:pathLst>
          </a:custGeom>
          <a:blipFill>
            <a:blip r:embed="rId12"/>
            <a:stretch>
              <a:fillRect l="0" t="0" r="0" b="0"/>
            </a:stretch>
          </a:blipFill>
        </p:spPr>
      </p:sp>
      <p:grpSp>
        <p:nvGrpSpPr>
          <p:cNvPr name="Group 32" id="32"/>
          <p:cNvGrpSpPr/>
          <p:nvPr/>
        </p:nvGrpSpPr>
        <p:grpSpPr>
          <a:xfrm rot="0">
            <a:off x="2557976" y="7308341"/>
            <a:ext cx="709099" cy="431016"/>
            <a:chOff x="0" y="0"/>
            <a:chExt cx="901495" cy="547961"/>
          </a:xfrm>
        </p:grpSpPr>
        <p:sp>
          <p:nvSpPr>
            <p:cNvPr name="Freeform 33" id="33"/>
            <p:cNvSpPr/>
            <p:nvPr/>
          </p:nvSpPr>
          <p:spPr>
            <a:xfrm flipH="false" flipV="false" rot="0">
              <a:off x="0" y="0"/>
              <a:ext cx="901495" cy="547961"/>
            </a:xfrm>
            <a:custGeom>
              <a:avLst/>
              <a:gdLst/>
              <a:ahLst/>
              <a:cxnLst/>
              <a:rect r="r" b="b" t="t" l="l"/>
              <a:pathLst>
                <a:path h="547961" w="901495">
                  <a:moveTo>
                    <a:pt x="901495" y="273981"/>
                  </a:moveTo>
                  <a:lnTo>
                    <a:pt x="495095" y="0"/>
                  </a:lnTo>
                  <a:lnTo>
                    <a:pt x="495095" y="203200"/>
                  </a:lnTo>
                  <a:lnTo>
                    <a:pt x="0" y="203200"/>
                  </a:lnTo>
                  <a:lnTo>
                    <a:pt x="0" y="344761"/>
                  </a:lnTo>
                  <a:lnTo>
                    <a:pt x="495095" y="344761"/>
                  </a:lnTo>
                  <a:lnTo>
                    <a:pt x="495095" y="547961"/>
                  </a:lnTo>
                  <a:lnTo>
                    <a:pt x="901495" y="273981"/>
                  </a:lnTo>
                  <a:close/>
                </a:path>
              </a:pathLst>
            </a:custGeom>
            <a:solidFill>
              <a:srgbClr val="000000"/>
            </a:solidFill>
          </p:spPr>
        </p:sp>
        <p:sp>
          <p:nvSpPr>
            <p:cNvPr name="TextBox 34" id="34"/>
            <p:cNvSpPr txBox="true"/>
            <p:nvPr/>
          </p:nvSpPr>
          <p:spPr>
            <a:xfrm>
              <a:off x="0" y="184150"/>
              <a:ext cx="799895" cy="160611"/>
            </a:xfrm>
            <a:prstGeom prst="rect">
              <a:avLst/>
            </a:prstGeom>
          </p:spPr>
          <p:txBody>
            <a:bodyPr anchor="ctr" rtlCol="false" tIns="50800" lIns="50800" bIns="50800" rIns="50800"/>
            <a:lstStyle/>
            <a:p>
              <a:pPr algn="ctr">
                <a:lnSpc>
                  <a:spcPts val="2759"/>
                </a:lnSpc>
              </a:pPr>
            </a:p>
          </p:txBody>
        </p:sp>
      </p:grpSp>
      <p:grpSp>
        <p:nvGrpSpPr>
          <p:cNvPr name="Group 35" id="35"/>
          <p:cNvGrpSpPr/>
          <p:nvPr/>
        </p:nvGrpSpPr>
        <p:grpSpPr>
          <a:xfrm rot="0">
            <a:off x="8465600" y="7308341"/>
            <a:ext cx="842992" cy="431016"/>
            <a:chOff x="0" y="0"/>
            <a:chExt cx="1071716" cy="547961"/>
          </a:xfrm>
        </p:grpSpPr>
        <p:sp>
          <p:nvSpPr>
            <p:cNvPr name="Freeform 36" id="36"/>
            <p:cNvSpPr/>
            <p:nvPr/>
          </p:nvSpPr>
          <p:spPr>
            <a:xfrm flipH="false" flipV="false" rot="0">
              <a:off x="0" y="0"/>
              <a:ext cx="1071716" cy="547961"/>
            </a:xfrm>
            <a:custGeom>
              <a:avLst/>
              <a:gdLst/>
              <a:ahLst/>
              <a:cxnLst/>
              <a:rect r="r" b="b" t="t" l="l"/>
              <a:pathLst>
                <a:path h="547961" w="1071716">
                  <a:moveTo>
                    <a:pt x="1071716" y="273981"/>
                  </a:moveTo>
                  <a:lnTo>
                    <a:pt x="665316" y="0"/>
                  </a:lnTo>
                  <a:lnTo>
                    <a:pt x="665316" y="203200"/>
                  </a:lnTo>
                  <a:lnTo>
                    <a:pt x="0" y="203200"/>
                  </a:lnTo>
                  <a:lnTo>
                    <a:pt x="0" y="344761"/>
                  </a:lnTo>
                  <a:lnTo>
                    <a:pt x="665316" y="344761"/>
                  </a:lnTo>
                  <a:lnTo>
                    <a:pt x="665316" y="547961"/>
                  </a:lnTo>
                  <a:lnTo>
                    <a:pt x="1071716" y="273981"/>
                  </a:lnTo>
                  <a:close/>
                </a:path>
              </a:pathLst>
            </a:custGeom>
            <a:solidFill>
              <a:srgbClr val="000000"/>
            </a:solidFill>
          </p:spPr>
        </p:sp>
        <p:sp>
          <p:nvSpPr>
            <p:cNvPr name="TextBox 37" id="37"/>
            <p:cNvSpPr txBox="true"/>
            <p:nvPr/>
          </p:nvSpPr>
          <p:spPr>
            <a:xfrm>
              <a:off x="0" y="184150"/>
              <a:ext cx="970116" cy="160611"/>
            </a:xfrm>
            <a:prstGeom prst="rect">
              <a:avLst/>
            </a:prstGeom>
          </p:spPr>
          <p:txBody>
            <a:bodyPr anchor="ctr" rtlCol="false" tIns="50800" lIns="50800" bIns="50800" rIns="50800"/>
            <a:lstStyle/>
            <a:p>
              <a:pPr algn="ctr">
                <a:lnSpc>
                  <a:spcPts val="2759"/>
                </a:lnSpc>
              </a:pPr>
            </a:p>
          </p:txBody>
        </p:sp>
      </p:grpSp>
      <p:grpSp>
        <p:nvGrpSpPr>
          <p:cNvPr name="Group 38" id="38"/>
          <p:cNvGrpSpPr/>
          <p:nvPr/>
        </p:nvGrpSpPr>
        <p:grpSpPr>
          <a:xfrm rot="0">
            <a:off x="15144479" y="7375721"/>
            <a:ext cx="567652" cy="431016"/>
            <a:chOff x="0" y="0"/>
            <a:chExt cx="721670" cy="547961"/>
          </a:xfrm>
        </p:grpSpPr>
        <p:sp>
          <p:nvSpPr>
            <p:cNvPr name="Freeform 39" id="39"/>
            <p:cNvSpPr/>
            <p:nvPr/>
          </p:nvSpPr>
          <p:spPr>
            <a:xfrm flipH="false" flipV="false" rot="0">
              <a:off x="0" y="0"/>
              <a:ext cx="721670" cy="547961"/>
            </a:xfrm>
            <a:custGeom>
              <a:avLst/>
              <a:gdLst/>
              <a:ahLst/>
              <a:cxnLst/>
              <a:rect r="r" b="b" t="t" l="l"/>
              <a:pathLst>
                <a:path h="547961" w="721670">
                  <a:moveTo>
                    <a:pt x="721670" y="273981"/>
                  </a:moveTo>
                  <a:lnTo>
                    <a:pt x="315270" y="0"/>
                  </a:lnTo>
                  <a:lnTo>
                    <a:pt x="315270" y="203200"/>
                  </a:lnTo>
                  <a:lnTo>
                    <a:pt x="0" y="203200"/>
                  </a:lnTo>
                  <a:lnTo>
                    <a:pt x="0" y="344761"/>
                  </a:lnTo>
                  <a:lnTo>
                    <a:pt x="315270" y="344761"/>
                  </a:lnTo>
                  <a:lnTo>
                    <a:pt x="315270" y="547961"/>
                  </a:lnTo>
                  <a:lnTo>
                    <a:pt x="721670" y="273981"/>
                  </a:lnTo>
                  <a:close/>
                </a:path>
              </a:pathLst>
            </a:custGeom>
            <a:solidFill>
              <a:srgbClr val="000000"/>
            </a:solidFill>
          </p:spPr>
        </p:sp>
        <p:sp>
          <p:nvSpPr>
            <p:cNvPr name="TextBox 40" id="40"/>
            <p:cNvSpPr txBox="true"/>
            <p:nvPr/>
          </p:nvSpPr>
          <p:spPr>
            <a:xfrm>
              <a:off x="0" y="184150"/>
              <a:ext cx="620070" cy="160611"/>
            </a:xfrm>
            <a:prstGeom prst="rect">
              <a:avLst/>
            </a:prstGeom>
          </p:spPr>
          <p:txBody>
            <a:bodyPr anchor="ctr" rtlCol="false" tIns="50800" lIns="50800" bIns="50800" rIns="50800"/>
            <a:lstStyle/>
            <a:p>
              <a:pPr algn="ctr">
                <a:lnSpc>
                  <a:spcPts val="2759"/>
                </a:lnSpc>
              </a:pPr>
            </a:p>
          </p:txBody>
        </p:sp>
      </p:grpSp>
      <p:grpSp>
        <p:nvGrpSpPr>
          <p:cNvPr name="Group 41" id="41"/>
          <p:cNvGrpSpPr/>
          <p:nvPr/>
        </p:nvGrpSpPr>
        <p:grpSpPr>
          <a:xfrm rot="0">
            <a:off x="8699361" y="7523849"/>
            <a:ext cx="131623" cy="874925"/>
            <a:chOff x="0" y="0"/>
            <a:chExt cx="34666" cy="230433"/>
          </a:xfrm>
        </p:grpSpPr>
        <p:sp>
          <p:nvSpPr>
            <p:cNvPr name="Freeform 42" id="42"/>
            <p:cNvSpPr/>
            <p:nvPr/>
          </p:nvSpPr>
          <p:spPr>
            <a:xfrm flipH="false" flipV="false" rot="0">
              <a:off x="0" y="0"/>
              <a:ext cx="34666" cy="230433"/>
            </a:xfrm>
            <a:custGeom>
              <a:avLst/>
              <a:gdLst/>
              <a:ahLst/>
              <a:cxnLst/>
              <a:rect r="r" b="b" t="t" l="l"/>
              <a:pathLst>
                <a:path h="230433" w="34666">
                  <a:moveTo>
                    <a:pt x="0" y="0"/>
                  </a:moveTo>
                  <a:lnTo>
                    <a:pt x="34666" y="0"/>
                  </a:lnTo>
                  <a:lnTo>
                    <a:pt x="34666" y="230433"/>
                  </a:lnTo>
                  <a:lnTo>
                    <a:pt x="0" y="230433"/>
                  </a:lnTo>
                  <a:close/>
                </a:path>
              </a:pathLst>
            </a:custGeom>
            <a:solidFill>
              <a:srgbClr val="000000"/>
            </a:solidFill>
          </p:spPr>
        </p:sp>
        <p:sp>
          <p:nvSpPr>
            <p:cNvPr name="TextBox 43" id="43"/>
            <p:cNvSpPr txBox="true"/>
            <p:nvPr/>
          </p:nvSpPr>
          <p:spPr>
            <a:xfrm>
              <a:off x="0" y="-19050"/>
              <a:ext cx="34666" cy="249483"/>
            </a:xfrm>
            <a:prstGeom prst="rect">
              <a:avLst/>
            </a:prstGeom>
          </p:spPr>
          <p:txBody>
            <a:bodyPr anchor="ctr" rtlCol="false" tIns="50800" lIns="50800" bIns="50800" rIns="50800"/>
            <a:lstStyle/>
            <a:p>
              <a:pPr algn="ctr">
                <a:lnSpc>
                  <a:spcPts val="2759"/>
                </a:lnSpc>
              </a:pPr>
            </a:p>
          </p:txBody>
        </p:sp>
      </p:grpSp>
      <p:grpSp>
        <p:nvGrpSpPr>
          <p:cNvPr name="Group 44" id="44"/>
          <p:cNvGrpSpPr/>
          <p:nvPr/>
        </p:nvGrpSpPr>
        <p:grpSpPr>
          <a:xfrm rot="0">
            <a:off x="0" y="9532144"/>
            <a:ext cx="18288000" cy="754856"/>
            <a:chOff x="0" y="0"/>
            <a:chExt cx="24384000" cy="1006475"/>
          </a:xfrm>
        </p:grpSpPr>
        <p:sp>
          <p:nvSpPr>
            <p:cNvPr name="Freeform 45" id="45"/>
            <p:cNvSpPr/>
            <p:nvPr/>
          </p:nvSpPr>
          <p:spPr>
            <a:xfrm flipH="false" flipV="false" rot="0">
              <a:off x="0" y="0"/>
              <a:ext cx="24384000" cy="1006475"/>
            </a:xfrm>
            <a:custGeom>
              <a:avLst/>
              <a:gdLst/>
              <a:ahLst/>
              <a:cxnLst/>
              <a:rect r="r" b="b" t="t" l="l"/>
              <a:pathLst>
                <a:path h="1006475" w="24384000">
                  <a:moveTo>
                    <a:pt x="0" y="0"/>
                  </a:moveTo>
                  <a:lnTo>
                    <a:pt x="24384000" y="0"/>
                  </a:lnTo>
                  <a:lnTo>
                    <a:pt x="24384000" y="1006475"/>
                  </a:lnTo>
                  <a:lnTo>
                    <a:pt x="0" y="1006475"/>
                  </a:lnTo>
                  <a:close/>
                </a:path>
              </a:pathLst>
            </a:custGeom>
            <a:solidFill>
              <a:srgbClr val="0070C0"/>
            </a:solidFill>
          </p:spPr>
        </p:sp>
      </p:grpSp>
      <p:grpSp>
        <p:nvGrpSpPr>
          <p:cNvPr name="Group 46" id="46"/>
          <p:cNvGrpSpPr/>
          <p:nvPr/>
        </p:nvGrpSpPr>
        <p:grpSpPr>
          <a:xfrm rot="0">
            <a:off x="6972300" y="9534525"/>
            <a:ext cx="4806001" cy="547688"/>
            <a:chOff x="0" y="0"/>
            <a:chExt cx="6408001" cy="730250"/>
          </a:xfrm>
        </p:grpSpPr>
        <p:sp>
          <p:nvSpPr>
            <p:cNvPr name="Freeform 47" id="47"/>
            <p:cNvSpPr/>
            <p:nvPr/>
          </p:nvSpPr>
          <p:spPr>
            <a:xfrm flipH="false" flipV="false" rot="0">
              <a:off x="0" y="0"/>
              <a:ext cx="6408000" cy="730250"/>
            </a:xfrm>
            <a:custGeom>
              <a:avLst/>
              <a:gdLst/>
              <a:ahLst/>
              <a:cxnLst/>
              <a:rect r="r" b="b" t="t" l="l"/>
              <a:pathLst>
                <a:path h="730250" w="6408000">
                  <a:moveTo>
                    <a:pt x="0" y="0"/>
                  </a:moveTo>
                  <a:lnTo>
                    <a:pt x="6408000" y="0"/>
                  </a:lnTo>
                  <a:lnTo>
                    <a:pt x="6408000" y="730250"/>
                  </a:lnTo>
                  <a:lnTo>
                    <a:pt x="0" y="730250"/>
                  </a:lnTo>
                  <a:close/>
                </a:path>
              </a:pathLst>
            </a:custGeom>
            <a:blipFill>
              <a:blip r:embed="rId19">
                <a:alphaModFix amt="0"/>
              </a:blip>
              <a:stretch>
                <a:fillRect l="0" t="-120982" r="0" b="-120982"/>
              </a:stretch>
            </a:blipFill>
          </p:spPr>
        </p:sp>
        <p:sp>
          <p:nvSpPr>
            <p:cNvPr name="TextBox 48" id="48"/>
            <p:cNvSpPr txBox="true"/>
            <p:nvPr/>
          </p:nvSpPr>
          <p:spPr>
            <a:xfrm>
              <a:off x="0" y="-38100"/>
              <a:ext cx="6408001" cy="768350"/>
            </a:xfrm>
            <a:prstGeom prst="rect">
              <a:avLst/>
            </a:prstGeom>
          </p:spPr>
          <p:txBody>
            <a:bodyPr anchor="ctr" rtlCol="false" tIns="0" lIns="0" bIns="0" rIns="0"/>
            <a:lstStyle/>
            <a:p>
              <a:pPr algn="ctr">
                <a:lnSpc>
                  <a:spcPts val="2160"/>
                </a:lnSpc>
              </a:pPr>
              <a:r>
                <a:rPr lang="en-US" sz="1800">
                  <a:solidFill>
                    <a:srgbClr val="FFFFFF"/>
                  </a:solidFill>
                  <a:latin typeface="Trade Gothic Condensed"/>
                  <a:ea typeface="Trade Gothic Condensed"/>
                  <a:cs typeface="Trade Gothic Condensed"/>
                  <a:sym typeface="Trade Gothic Condensed"/>
                </a:rPr>
                <a:t>@SIH Idea submission</a:t>
              </a:r>
            </a:p>
          </p:txBody>
        </p:sp>
      </p:grpSp>
      <p:sp>
        <p:nvSpPr>
          <p:cNvPr name="Freeform 49" id="49"/>
          <p:cNvSpPr/>
          <p:nvPr/>
        </p:nvSpPr>
        <p:spPr>
          <a:xfrm flipH="false" flipV="false" rot="0">
            <a:off x="310896" y="2165961"/>
            <a:ext cx="2653436" cy="754334"/>
          </a:xfrm>
          <a:custGeom>
            <a:avLst/>
            <a:gdLst/>
            <a:ahLst/>
            <a:cxnLst/>
            <a:rect r="r" b="b" t="t" l="l"/>
            <a:pathLst>
              <a:path h="754334" w="2653436">
                <a:moveTo>
                  <a:pt x="0" y="0"/>
                </a:moveTo>
                <a:lnTo>
                  <a:pt x="2653436" y="0"/>
                </a:lnTo>
                <a:lnTo>
                  <a:pt x="2653436" y="754334"/>
                </a:lnTo>
                <a:lnTo>
                  <a:pt x="0" y="754334"/>
                </a:lnTo>
                <a:lnTo>
                  <a:pt x="0" y="0"/>
                </a:lnTo>
                <a:close/>
              </a:path>
            </a:pathLst>
          </a:custGeom>
          <a:blipFill>
            <a:blip r:embed="rId20"/>
            <a:stretch>
              <a:fillRect l="0" t="0" r="0" b="0"/>
            </a:stretch>
          </a:blipFill>
        </p:spPr>
      </p:sp>
      <p:sp>
        <p:nvSpPr>
          <p:cNvPr name="Freeform 50" id="50"/>
          <p:cNvSpPr/>
          <p:nvPr/>
        </p:nvSpPr>
        <p:spPr>
          <a:xfrm flipH="false" flipV="false" rot="0">
            <a:off x="9565321" y="2208862"/>
            <a:ext cx="1678443" cy="668533"/>
          </a:xfrm>
          <a:custGeom>
            <a:avLst/>
            <a:gdLst/>
            <a:ahLst/>
            <a:cxnLst/>
            <a:rect r="r" b="b" t="t" l="l"/>
            <a:pathLst>
              <a:path h="668533" w="1678443">
                <a:moveTo>
                  <a:pt x="0" y="0"/>
                </a:moveTo>
                <a:lnTo>
                  <a:pt x="1678443" y="0"/>
                </a:lnTo>
                <a:lnTo>
                  <a:pt x="1678443" y="668532"/>
                </a:lnTo>
                <a:lnTo>
                  <a:pt x="0" y="668532"/>
                </a:lnTo>
                <a:lnTo>
                  <a:pt x="0" y="0"/>
                </a:lnTo>
                <a:close/>
              </a:path>
            </a:pathLst>
          </a:custGeom>
          <a:blipFill>
            <a:blip r:embed="rId21"/>
            <a:stretch>
              <a:fillRect l="0" t="0" r="0" b="0"/>
            </a:stretch>
          </a:blipFill>
        </p:spPr>
      </p:sp>
      <p:sp>
        <p:nvSpPr>
          <p:cNvPr name="Freeform 51" id="51"/>
          <p:cNvSpPr/>
          <p:nvPr/>
        </p:nvSpPr>
        <p:spPr>
          <a:xfrm flipH="false" flipV="false" rot="0">
            <a:off x="12101014" y="1865962"/>
            <a:ext cx="2471000" cy="1375679"/>
          </a:xfrm>
          <a:custGeom>
            <a:avLst/>
            <a:gdLst/>
            <a:ahLst/>
            <a:cxnLst/>
            <a:rect r="r" b="b" t="t" l="l"/>
            <a:pathLst>
              <a:path h="1375679" w="2471000">
                <a:moveTo>
                  <a:pt x="0" y="0"/>
                </a:moveTo>
                <a:lnTo>
                  <a:pt x="2471000" y="0"/>
                </a:lnTo>
                <a:lnTo>
                  <a:pt x="2471000" y="1375678"/>
                </a:lnTo>
                <a:lnTo>
                  <a:pt x="0" y="1375678"/>
                </a:lnTo>
                <a:lnTo>
                  <a:pt x="0" y="0"/>
                </a:lnTo>
                <a:close/>
              </a:path>
            </a:pathLst>
          </a:custGeom>
          <a:blipFill>
            <a:blip r:embed="rId22"/>
            <a:stretch>
              <a:fillRect l="-11345" t="0" r="0" b="0"/>
            </a:stretch>
          </a:blipFill>
        </p:spPr>
      </p:sp>
      <p:sp>
        <p:nvSpPr>
          <p:cNvPr name="Freeform 52" id="52"/>
          <p:cNvSpPr/>
          <p:nvPr/>
        </p:nvSpPr>
        <p:spPr>
          <a:xfrm flipH="false" flipV="false" rot="0">
            <a:off x="15171410" y="1815779"/>
            <a:ext cx="2170786" cy="1386352"/>
          </a:xfrm>
          <a:custGeom>
            <a:avLst/>
            <a:gdLst/>
            <a:ahLst/>
            <a:cxnLst/>
            <a:rect r="r" b="b" t="t" l="l"/>
            <a:pathLst>
              <a:path h="1386352" w="2170786">
                <a:moveTo>
                  <a:pt x="0" y="0"/>
                </a:moveTo>
                <a:lnTo>
                  <a:pt x="2170786" y="0"/>
                </a:lnTo>
                <a:lnTo>
                  <a:pt x="2170786" y="1386352"/>
                </a:lnTo>
                <a:lnTo>
                  <a:pt x="0" y="1386352"/>
                </a:lnTo>
                <a:lnTo>
                  <a:pt x="0" y="0"/>
                </a:lnTo>
                <a:close/>
              </a:path>
            </a:pathLst>
          </a:custGeom>
          <a:blipFill>
            <a:blip r:embed="rId23"/>
            <a:stretch>
              <a:fillRect l="0" t="0" r="0" b="0"/>
            </a:stretch>
          </a:blipFill>
        </p:spPr>
      </p:sp>
      <p:sp>
        <p:nvSpPr>
          <p:cNvPr name="Freeform 53" id="53"/>
          <p:cNvSpPr/>
          <p:nvPr/>
        </p:nvSpPr>
        <p:spPr>
          <a:xfrm flipH="false" flipV="false" rot="0">
            <a:off x="4093007" y="1933575"/>
            <a:ext cx="1197384" cy="1197384"/>
          </a:xfrm>
          <a:custGeom>
            <a:avLst/>
            <a:gdLst/>
            <a:ahLst/>
            <a:cxnLst/>
            <a:rect r="r" b="b" t="t" l="l"/>
            <a:pathLst>
              <a:path h="1197384" w="1197384">
                <a:moveTo>
                  <a:pt x="0" y="0"/>
                </a:moveTo>
                <a:lnTo>
                  <a:pt x="1197384" y="0"/>
                </a:lnTo>
                <a:lnTo>
                  <a:pt x="1197384" y="1197384"/>
                </a:lnTo>
                <a:lnTo>
                  <a:pt x="0" y="1197384"/>
                </a:lnTo>
                <a:lnTo>
                  <a:pt x="0" y="0"/>
                </a:lnTo>
                <a:close/>
              </a:path>
            </a:pathLst>
          </a:custGeom>
          <a:blipFill>
            <a:blip r:embed="rId24"/>
            <a:stretch>
              <a:fillRect l="0" t="0" r="0" b="0"/>
            </a:stretch>
          </a:blipFill>
        </p:spPr>
      </p:sp>
      <p:sp>
        <p:nvSpPr>
          <p:cNvPr name="Freeform 54" id="54"/>
          <p:cNvSpPr/>
          <p:nvPr/>
        </p:nvSpPr>
        <p:spPr>
          <a:xfrm flipH="false" flipV="false" rot="0">
            <a:off x="6419066" y="2034008"/>
            <a:ext cx="2121430" cy="949894"/>
          </a:xfrm>
          <a:custGeom>
            <a:avLst/>
            <a:gdLst/>
            <a:ahLst/>
            <a:cxnLst/>
            <a:rect r="r" b="b" t="t" l="l"/>
            <a:pathLst>
              <a:path h="949894" w="2121430">
                <a:moveTo>
                  <a:pt x="0" y="0"/>
                </a:moveTo>
                <a:lnTo>
                  <a:pt x="2121430" y="0"/>
                </a:lnTo>
                <a:lnTo>
                  <a:pt x="2121430" y="949894"/>
                </a:lnTo>
                <a:lnTo>
                  <a:pt x="0" y="949894"/>
                </a:lnTo>
                <a:lnTo>
                  <a:pt x="0" y="0"/>
                </a:lnTo>
                <a:close/>
              </a:path>
            </a:pathLst>
          </a:custGeom>
          <a:blipFill>
            <a:blip r:embed="rId25"/>
            <a:stretch>
              <a:fillRect l="0" t="0" r="0" b="0"/>
            </a:stretch>
          </a:blipFill>
        </p:spPr>
      </p:sp>
      <p:sp>
        <p:nvSpPr>
          <p:cNvPr name="TextBox 55" id="55"/>
          <p:cNvSpPr txBox="true"/>
          <p:nvPr/>
        </p:nvSpPr>
        <p:spPr>
          <a:xfrm rot="0">
            <a:off x="310896" y="1118738"/>
            <a:ext cx="1298448" cy="261502"/>
          </a:xfrm>
          <a:prstGeom prst="rect">
            <a:avLst/>
          </a:prstGeom>
        </p:spPr>
        <p:txBody>
          <a:bodyPr anchor="t" rtlCol="false" tIns="0" lIns="0" bIns="0" rIns="0">
            <a:spAutoFit/>
          </a:bodyPr>
          <a:lstStyle/>
          <a:p>
            <a:pPr algn="ctr">
              <a:lnSpc>
                <a:spcPts val="2024"/>
              </a:lnSpc>
            </a:pPr>
            <a:r>
              <a:rPr lang="en-US" b="true" sz="1840">
                <a:solidFill>
                  <a:srgbClr val="8372FF"/>
                </a:solidFill>
                <a:latin typeface="Inndam Bold"/>
                <a:ea typeface="Inndam Bold"/>
                <a:cs typeface="Inndam Bold"/>
                <a:sym typeface="Inndam Bold"/>
              </a:rPr>
              <a:t>SPECTRA</a:t>
            </a:r>
          </a:p>
        </p:txBody>
      </p:sp>
      <p:sp>
        <p:nvSpPr>
          <p:cNvPr name="TextBox 56" id="56"/>
          <p:cNvSpPr txBox="true"/>
          <p:nvPr/>
        </p:nvSpPr>
        <p:spPr>
          <a:xfrm rot="0">
            <a:off x="7374965" y="1491042"/>
            <a:ext cx="3785178" cy="397610"/>
          </a:xfrm>
          <a:prstGeom prst="rect">
            <a:avLst/>
          </a:prstGeom>
        </p:spPr>
        <p:txBody>
          <a:bodyPr anchor="t" rtlCol="false" tIns="0" lIns="0" bIns="0" rIns="0">
            <a:spAutoFit/>
          </a:bodyPr>
          <a:lstStyle/>
          <a:p>
            <a:pPr algn="ctr">
              <a:lnSpc>
                <a:spcPts val="3088"/>
              </a:lnSpc>
            </a:pPr>
            <a:r>
              <a:rPr lang="en-US" b="true" sz="2807" spc="140">
                <a:solidFill>
                  <a:srgbClr val="000000"/>
                </a:solidFill>
                <a:latin typeface="Barlow Semi-Bold"/>
                <a:ea typeface="Barlow Semi-Bold"/>
                <a:cs typeface="Barlow Semi-Bold"/>
                <a:sym typeface="Barlow Semi-Bold"/>
              </a:rPr>
              <a:t>Technologies Needed</a:t>
            </a:r>
          </a:p>
        </p:txBody>
      </p:sp>
      <p:sp>
        <p:nvSpPr>
          <p:cNvPr name="TextBox 57" id="57"/>
          <p:cNvSpPr txBox="true"/>
          <p:nvPr/>
        </p:nvSpPr>
        <p:spPr>
          <a:xfrm rot="0">
            <a:off x="5029200" y="532123"/>
            <a:ext cx="8229600" cy="711596"/>
          </a:xfrm>
          <a:prstGeom prst="rect">
            <a:avLst/>
          </a:prstGeom>
        </p:spPr>
        <p:txBody>
          <a:bodyPr anchor="t" rtlCol="false" tIns="0" lIns="0" bIns="0" rIns="0">
            <a:spAutoFit/>
          </a:bodyPr>
          <a:lstStyle/>
          <a:p>
            <a:pPr algn="ctr">
              <a:lnSpc>
                <a:spcPts val="5534"/>
              </a:lnSpc>
            </a:pPr>
            <a:r>
              <a:rPr lang="en-US" b="true" sz="5031">
                <a:solidFill>
                  <a:srgbClr val="006BCB"/>
                </a:solidFill>
                <a:latin typeface="Cardo Bold"/>
                <a:ea typeface="Cardo Bold"/>
                <a:cs typeface="Cardo Bold"/>
                <a:sym typeface="Cardo Bold"/>
              </a:rPr>
              <a:t>TECHNICAL APPROACH</a:t>
            </a:r>
          </a:p>
        </p:txBody>
      </p:sp>
      <p:sp>
        <p:nvSpPr>
          <p:cNvPr name="TextBox 58" id="58"/>
          <p:cNvSpPr txBox="true"/>
          <p:nvPr/>
        </p:nvSpPr>
        <p:spPr>
          <a:xfrm rot="0">
            <a:off x="7039103" y="3308032"/>
            <a:ext cx="4209794" cy="334480"/>
          </a:xfrm>
          <a:prstGeom prst="rect">
            <a:avLst/>
          </a:prstGeom>
        </p:spPr>
        <p:txBody>
          <a:bodyPr anchor="t" rtlCol="false" tIns="0" lIns="0" bIns="0" rIns="0">
            <a:spAutoFit/>
          </a:bodyPr>
          <a:lstStyle/>
          <a:p>
            <a:pPr algn="ctr">
              <a:lnSpc>
                <a:spcPts val="2570"/>
              </a:lnSpc>
            </a:pPr>
            <a:r>
              <a:rPr lang="en-US" b="true" sz="2337" spc="116">
                <a:solidFill>
                  <a:srgbClr val="000000"/>
                </a:solidFill>
                <a:latin typeface="Barlow Bold"/>
                <a:ea typeface="Barlow Bold"/>
                <a:cs typeface="Barlow Bold"/>
                <a:sym typeface="Barlow Bold"/>
              </a:rPr>
              <a:t>Methodology &amp; Architecture</a:t>
            </a:r>
          </a:p>
        </p:txBody>
      </p:sp>
      <p:sp>
        <p:nvSpPr>
          <p:cNvPr name="TextBox 59" id="59"/>
          <p:cNvSpPr txBox="true"/>
          <p:nvPr/>
        </p:nvSpPr>
        <p:spPr>
          <a:xfrm rot="0">
            <a:off x="5908861" y="6490488"/>
            <a:ext cx="6470278" cy="386735"/>
          </a:xfrm>
          <a:prstGeom prst="rect">
            <a:avLst/>
          </a:prstGeom>
        </p:spPr>
        <p:txBody>
          <a:bodyPr anchor="t" rtlCol="false" tIns="0" lIns="0" bIns="0" rIns="0">
            <a:spAutoFit/>
          </a:bodyPr>
          <a:lstStyle/>
          <a:p>
            <a:pPr algn="ctr">
              <a:lnSpc>
                <a:spcPts val="2971"/>
              </a:lnSpc>
            </a:pPr>
            <a:r>
              <a:rPr lang="en-US" b="true" sz="2701" spc="135">
                <a:solidFill>
                  <a:srgbClr val="000000"/>
                </a:solidFill>
                <a:latin typeface="Barlow Semi-Bold"/>
                <a:ea typeface="Barlow Semi-Bold"/>
                <a:cs typeface="Barlow Semi-Bold"/>
                <a:sym typeface="Barlow Semi-Bold"/>
              </a:rPr>
              <a:t>De-interleaving + FEC Decoding Chain</a:t>
            </a:r>
          </a:p>
        </p:txBody>
      </p:sp>
      <p:sp>
        <p:nvSpPr>
          <p:cNvPr name="TextBox 60" id="60"/>
          <p:cNvSpPr txBox="true"/>
          <p:nvPr/>
        </p:nvSpPr>
        <p:spPr>
          <a:xfrm rot="0">
            <a:off x="15941454" y="7240047"/>
            <a:ext cx="1918990" cy="602975"/>
          </a:xfrm>
          <a:prstGeom prst="rect">
            <a:avLst/>
          </a:prstGeom>
        </p:spPr>
        <p:txBody>
          <a:bodyPr anchor="t" rtlCol="false" tIns="0" lIns="0" bIns="0" rIns="0">
            <a:spAutoFit/>
          </a:bodyPr>
          <a:lstStyle/>
          <a:p>
            <a:pPr algn="ctr">
              <a:lnSpc>
                <a:spcPts val="2465"/>
              </a:lnSpc>
            </a:pPr>
            <a:r>
              <a:rPr lang="en-US" b="true" sz="1760" spc="88">
                <a:solidFill>
                  <a:srgbClr val="004AAD"/>
                </a:solidFill>
                <a:latin typeface="Barlow Semi-Bold"/>
                <a:ea typeface="Barlow Semi-Bold"/>
                <a:cs typeface="Barlow Semi-Bold"/>
                <a:sym typeface="Barlow Semi-Bold"/>
              </a:rPr>
              <a:t>Corrected</a:t>
            </a:r>
          </a:p>
          <a:p>
            <a:pPr algn="ctr">
              <a:lnSpc>
                <a:spcPts val="2465"/>
              </a:lnSpc>
            </a:pPr>
            <a:r>
              <a:rPr lang="en-US" b="true" sz="1760" spc="88">
                <a:solidFill>
                  <a:srgbClr val="004AAD"/>
                </a:solidFill>
                <a:latin typeface="Barlow Semi-Bold"/>
                <a:ea typeface="Barlow Semi-Bold"/>
                <a:cs typeface="Barlow Semi-Bold"/>
                <a:sym typeface="Barlow Semi-Bold"/>
              </a:rPr>
              <a:t>Bit-stream</a:t>
            </a:r>
          </a:p>
        </p:txBody>
      </p:sp>
      <p:sp>
        <p:nvSpPr>
          <p:cNvPr name="TextBox 61" id="61"/>
          <p:cNvSpPr txBox="true"/>
          <p:nvPr/>
        </p:nvSpPr>
        <p:spPr>
          <a:xfrm rot="0">
            <a:off x="6424678" y="8449197"/>
            <a:ext cx="4890005" cy="880840"/>
          </a:xfrm>
          <a:prstGeom prst="rect">
            <a:avLst/>
          </a:prstGeom>
        </p:spPr>
        <p:txBody>
          <a:bodyPr anchor="t" rtlCol="false" tIns="0" lIns="0" bIns="0" rIns="0">
            <a:spAutoFit/>
          </a:bodyPr>
          <a:lstStyle/>
          <a:p>
            <a:pPr algn="ctr">
              <a:lnSpc>
                <a:spcPts val="2374"/>
              </a:lnSpc>
            </a:pPr>
            <a:r>
              <a:rPr lang="en-US" b="true" sz="1696" spc="84">
                <a:solidFill>
                  <a:srgbClr val="004AAD"/>
                </a:solidFill>
                <a:latin typeface="Barlow Semi-Bold"/>
                <a:ea typeface="Barlow Semi-Bold"/>
                <a:cs typeface="Barlow Semi-Bold"/>
                <a:sym typeface="Barlow Semi-Bold"/>
              </a:rPr>
              <a:t>Interleaver / FEC pattern is auto-detected by testing known standards against measured periodicity &amp; syndrome checks</a:t>
            </a:r>
          </a:p>
        </p:txBody>
      </p:sp>
      <p:grpSp>
        <p:nvGrpSpPr>
          <p:cNvPr name="Group 62" id="62"/>
          <p:cNvGrpSpPr/>
          <p:nvPr/>
        </p:nvGrpSpPr>
        <p:grpSpPr>
          <a:xfrm rot="0">
            <a:off x="14999763" y="241995"/>
            <a:ext cx="3036050" cy="1433565"/>
            <a:chOff x="0" y="0"/>
            <a:chExt cx="4499699" cy="2124672"/>
          </a:xfrm>
        </p:grpSpPr>
        <p:sp>
          <p:nvSpPr>
            <p:cNvPr name="Freeform 63" id="63"/>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26"/>
              <a:stretch>
                <a:fillRect l="0" t="0" r="0" b="1"/>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67804"/>
            <a:ext cx="18288000" cy="719196"/>
            <a:chOff x="0" y="0"/>
            <a:chExt cx="24384000" cy="958927"/>
          </a:xfrm>
        </p:grpSpPr>
        <p:sp>
          <p:nvSpPr>
            <p:cNvPr name="Freeform 3" id="3"/>
            <p:cNvSpPr/>
            <p:nvPr/>
          </p:nvSpPr>
          <p:spPr>
            <a:xfrm flipH="false" flipV="false" rot="0">
              <a:off x="0" y="0"/>
              <a:ext cx="24384000" cy="958927"/>
            </a:xfrm>
            <a:custGeom>
              <a:avLst/>
              <a:gdLst/>
              <a:ahLst/>
              <a:cxnLst/>
              <a:rect r="r" b="b" t="t" l="l"/>
              <a:pathLst>
                <a:path h="958927" w="24384000">
                  <a:moveTo>
                    <a:pt x="0" y="0"/>
                  </a:moveTo>
                  <a:lnTo>
                    <a:pt x="24384000" y="0"/>
                  </a:lnTo>
                  <a:lnTo>
                    <a:pt x="24384000" y="958927"/>
                  </a:lnTo>
                  <a:lnTo>
                    <a:pt x="0" y="958927"/>
                  </a:lnTo>
                  <a:close/>
                </a:path>
              </a:pathLst>
            </a:custGeom>
            <a:solidFill>
              <a:srgbClr val="0070C0"/>
            </a:solidFill>
          </p:spPr>
        </p:sp>
      </p:grpSp>
      <p:grpSp>
        <p:nvGrpSpPr>
          <p:cNvPr name="Group 4" id="4"/>
          <p:cNvGrpSpPr/>
          <p:nvPr/>
        </p:nvGrpSpPr>
        <p:grpSpPr>
          <a:xfrm rot="0">
            <a:off x="914400" y="-71438"/>
            <a:ext cx="16459200" cy="1714500"/>
            <a:chOff x="0" y="0"/>
            <a:chExt cx="21945600" cy="2286000"/>
          </a:xfrm>
        </p:grpSpPr>
        <p:sp>
          <p:nvSpPr>
            <p:cNvPr name="Freeform 5" id="5"/>
            <p:cNvSpPr/>
            <p:nvPr/>
          </p:nvSpPr>
          <p:spPr>
            <a:xfrm flipH="false" flipV="false" rot="0">
              <a:off x="0" y="0"/>
              <a:ext cx="21945600" cy="2286000"/>
            </a:xfrm>
            <a:custGeom>
              <a:avLst/>
              <a:gdLst/>
              <a:ahLst/>
              <a:cxnLst/>
              <a:rect r="r" b="b" t="t" l="l"/>
              <a:pathLst>
                <a:path h="2286000" w="21945600">
                  <a:moveTo>
                    <a:pt x="0" y="0"/>
                  </a:moveTo>
                  <a:lnTo>
                    <a:pt x="21945600" y="0"/>
                  </a:lnTo>
                  <a:lnTo>
                    <a:pt x="21945600" y="2286000"/>
                  </a:lnTo>
                  <a:lnTo>
                    <a:pt x="0" y="2286000"/>
                  </a:lnTo>
                  <a:close/>
                </a:path>
              </a:pathLst>
            </a:custGeom>
            <a:blipFill>
              <a:blip r:embed="rId3">
                <a:alphaModFix amt="0"/>
              </a:blip>
              <a:stretch>
                <a:fillRect l="0" t="-137056" r="0" b="-137056"/>
              </a:stretch>
            </a:blipFill>
          </p:spPr>
        </p:sp>
        <p:sp>
          <p:nvSpPr>
            <p:cNvPr name="TextBox 6" id="6"/>
            <p:cNvSpPr txBox="true"/>
            <p:nvPr/>
          </p:nvSpPr>
          <p:spPr>
            <a:xfrm>
              <a:off x="0" y="0"/>
              <a:ext cx="21945600" cy="2286000"/>
            </a:xfrm>
            <a:prstGeom prst="rect">
              <a:avLst/>
            </a:prstGeom>
          </p:spPr>
          <p:txBody>
            <a:bodyPr anchor="ctr" rtlCol="false" tIns="0" lIns="0" bIns="0" rIns="0"/>
            <a:lstStyle/>
            <a:p>
              <a:pPr algn="ctr">
                <a:lnSpc>
                  <a:spcPts val="6480"/>
                </a:lnSpc>
              </a:pPr>
              <a:r>
                <a:rPr lang="en-US" sz="5400" b="true">
                  <a:solidFill>
                    <a:srgbClr val="006BCB"/>
                  </a:solidFill>
                  <a:latin typeface="Cardo Bold"/>
                  <a:ea typeface="Cardo Bold"/>
                  <a:cs typeface="Cardo Bold"/>
                  <a:sym typeface="Cardo Bold"/>
                </a:rPr>
                <a:t>FEASIBILITY AND VIABILITY</a:t>
              </a:r>
            </a:p>
          </p:txBody>
        </p:sp>
      </p:grpSp>
      <p:grpSp>
        <p:nvGrpSpPr>
          <p:cNvPr name="Group 7" id="7"/>
          <p:cNvGrpSpPr/>
          <p:nvPr/>
        </p:nvGrpSpPr>
        <p:grpSpPr>
          <a:xfrm rot="0">
            <a:off x="143558" y="1835477"/>
            <a:ext cx="6175055" cy="7646602"/>
            <a:chOff x="0" y="0"/>
            <a:chExt cx="7992454" cy="9897097"/>
          </a:xfrm>
        </p:grpSpPr>
        <p:sp>
          <p:nvSpPr>
            <p:cNvPr name="Freeform 8" id="8"/>
            <p:cNvSpPr/>
            <p:nvPr/>
          </p:nvSpPr>
          <p:spPr>
            <a:xfrm flipH="false" flipV="false" rot="0">
              <a:off x="0" y="0"/>
              <a:ext cx="7992413" cy="9897135"/>
            </a:xfrm>
            <a:custGeom>
              <a:avLst/>
              <a:gdLst/>
              <a:ahLst/>
              <a:cxnLst/>
              <a:rect r="r" b="b" t="t" l="l"/>
              <a:pathLst>
                <a:path h="9897135" w="7992413">
                  <a:moveTo>
                    <a:pt x="0" y="692851"/>
                  </a:moveTo>
                  <a:cubicBezTo>
                    <a:pt x="0" y="310060"/>
                    <a:pt x="170096" y="0"/>
                    <a:pt x="380091" y="0"/>
                  </a:cubicBezTo>
                  <a:lnTo>
                    <a:pt x="7612321" y="0"/>
                  </a:lnTo>
                  <a:cubicBezTo>
                    <a:pt x="7822176" y="0"/>
                    <a:pt x="7992413" y="310060"/>
                    <a:pt x="7992413" y="692851"/>
                  </a:cubicBezTo>
                  <a:lnTo>
                    <a:pt x="7992413" y="9204323"/>
                  </a:lnTo>
                  <a:cubicBezTo>
                    <a:pt x="7992413" y="9586858"/>
                    <a:pt x="7822316" y="9897135"/>
                    <a:pt x="7612321" y="9897135"/>
                  </a:cubicBezTo>
                  <a:lnTo>
                    <a:pt x="380091" y="9897135"/>
                  </a:lnTo>
                  <a:cubicBezTo>
                    <a:pt x="170096" y="9897135"/>
                    <a:pt x="0" y="9586859"/>
                    <a:pt x="0" y="9204323"/>
                  </a:cubicBezTo>
                  <a:close/>
                </a:path>
              </a:pathLst>
            </a:custGeom>
            <a:solidFill>
              <a:srgbClr val="DCE6F5"/>
            </a:solidFill>
            <a:ln w="38100" cap="sq">
              <a:solidFill>
                <a:srgbClr val="000000"/>
              </a:solidFill>
              <a:prstDash val="dash"/>
              <a:miter/>
            </a:ln>
          </p:spPr>
        </p:sp>
        <p:sp>
          <p:nvSpPr>
            <p:cNvPr name="TextBox 9" id="9"/>
            <p:cNvSpPr txBox="true"/>
            <p:nvPr/>
          </p:nvSpPr>
          <p:spPr>
            <a:xfrm>
              <a:off x="0" y="-19050"/>
              <a:ext cx="7992454" cy="9916147"/>
            </a:xfrm>
            <a:prstGeom prst="rect">
              <a:avLst/>
            </a:prstGeom>
          </p:spPr>
          <p:txBody>
            <a:bodyPr anchor="t" rtlCol="false" tIns="50800" lIns="50800" bIns="50800" rIns="50800"/>
            <a:lstStyle/>
            <a:p>
              <a:pPr algn="l">
                <a:lnSpc>
                  <a:spcPts val="3899"/>
                </a:lnSpc>
              </a:pPr>
              <a:r>
                <a:rPr lang="en-US" sz="3249" b="true">
                  <a:solidFill>
                    <a:srgbClr val="1F3864"/>
                  </a:solidFill>
                  <a:latin typeface="Arial Bold"/>
                  <a:ea typeface="Arial Bold"/>
                  <a:cs typeface="Arial Bold"/>
                  <a:sym typeface="Arial Bold"/>
                </a:rPr>
                <a:t>      Feasibility Analysis</a:t>
              </a:r>
            </a:p>
            <a:p>
              <a:pPr algn="l">
                <a:lnSpc>
                  <a:spcPts val="3899"/>
                </a:lnSpc>
              </a:pPr>
            </a:p>
            <a:p>
              <a:pPr algn="just" marL="502202" indent="-251101" lvl="1">
                <a:lnSpc>
                  <a:spcPts val="3662"/>
                </a:lnSpc>
                <a:buFont typeface="Arial"/>
                <a:buChar char="•"/>
              </a:pPr>
              <a:r>
                <a:rPr lang="en-US" sz="2774">
                  <a:solidFill>
                    <a:srgbClr val="000000"/>
                  </a:solidFill>
                  <a:latin typeface="Arial"/>
                  <a:ea typeface="Arial"/>
                  <a:cs typeface="Arial"/>
                  <a:sym typeface="Arial"/>
                </a:rPr>
                <a:t>Built from mature, </a:t>
              </a:r>
            </a:p>
            <a:p>
              <a:pPr algn="just">
                <a:lnSpc>
                  <a:spcPts val="3662"/>
                </a:lnSpc>
              </a:pPr>
              <a:r>
                <a:rPr lang="en-US" sz="2774">
                  <a:solidFill>
                    <a:srgbClr val="000000"/>
                  </a:solidFill>
                  <a:latin typeface="Arial"/>
                  <a:ea typeface="Arial"/>
                  <a:cs typeface="Arial"/>
                  <a:sym typeface="Arial"/>
                </a:rPr>
                <a:t>     open-source </a:t>
              </a:r>
            </a:p>
            <a:p>
              <a:pPr algn="just">
                <a:lnSpc>
                  <a:spcPts val="3662"/>
                </a:lnSpc>
              </a:pPr>
              <a:r>
                <a:rPr lang="en-US" sz="2774">
                  <a:solidFill>
                    <a:srgbClr val="000000"/>
                  </a:solidFill>
                  <a:latin typeface="Arial"/>
                  <a:ea typeface="Arial"/>
                  <a:cs typeface="Arial"/>
                  <a:sym typeface="Arial"/>
                </a:rPr>
                <a:t>     </a:t>
              </a:r>
              <a:r>
                <a:rPr lang="en-US" sz="2774">
                  <a:solidFill>
                    <a:srgbClr val="000000"/>
                  </a:solidFill>
                  <a:latin typeface="Arial"/>
                  <a:ea typeface="Arial"/>
                  <a:cs typeface="Arial"/>
                  <a:sym typeface="Arial"/>
                </a:rPr>
                <a:t>DSP techniques </a:t>
              </a:r>
            </a:p>
            <a:p>
              <a:pPr algn="just">
                <a:lnSpc>
                  <a:spcPts val="3662"/>
                </a:lnSpc>
              </a:pPr>
            </a:p>
            <a:p>
              <a:pPr algn="l" marL="599118" indent="-299559" lvl="1">
                <a:lnSpc>
                  <a:spcPts val="3662"/>
                </a:lnSpc>
                <a:buFont typeface="Arial"/>
                <a:buChar char="•"/>
              </a:pPr>
              <a:r>
                <a:rPr lang="en-US" sz="2774">
                  <a:solidFill>
                    <a:srgbClr val="000000"/>
                  </a:solidFill>
                  <a:latin typeface="Arial"/>
                  <a:ea typeface="Arial"/>
                  <a:cs typeface="Arial"/>
                  <a:sym typeface="Arial"/>
                </a:rPr>
                <a:t>Full pipeline already</a:t>
              </a:r>
            </a:p>
            <a:p>
              <a:pPr algn="just">
                <a:lnSpc>
                  <a:spcPts val="3662"/>
                </a:lnSpc>
              </a:pPr>
              <a:r>
                <a:rPr lang="en-US" sz="2774">
                  <a:solidFill>
                    <a:srgbClr val="000000"/>
                  </a:solidFill>
                  <a:latin typeface="Arial"/>
                  <a:ea typeface="Arial"/>
                  <a:cs typeface="Arial"/>
                  <a:sym typeface="Arial"/>
                </a:rPr>
                <a:t>     validated end-to-end </a:t>
              </a:r>
            </a:p>
            <a:p>
              <a:pPr algn="just">
                <a:lnSpc>
                  <a:spcPts val="3662"/>
                </a:lnSpc>
              </a:pPr>
              <a:r>
                <a:rPr lang="en-US" sz="2774">
                  <a:solidFill>
                    <a:srgbClr val="000000"/>
                  </a:solidFill>
                  <a:latin typeface="Arial"/>
                  <a:ea typeface="Arial"/>
                  <a:cs typeface="Arial"/>
                  <a:sym typeface="Arial"/>
                </a:rPr>
                <a:t>     </a:t>
              </a:r>
              <a:r>
                <a:rPr lang="en-US" sz="2774">
                  <a:solidFill>
                    <a:srgbClr val="000000"/>
                  </a:solidFill>
                  <a:latin typeface="Arial"/>
                  <a:ea typeface="Arial"/>
                  <a:cs typeface="Arial"/>
                  <a:sym typeface="Arial"/>
                </a:rPr>
                <a:t>on synthetic bursts</a:t>
              </a:r>
            </a:p>
            <a:p>
              <a:pPr algn="just">
                <a:lnSpc>
                  <a:spcPts val="3662"/>
                </a:lnSpc>
              </a:pPr>
              <a:r>
                <a:rPr lang="en-US" sz="2774">
                  <a:solidFill>
                    <a:srgbClr val="000000"/>
                  </a:solidFill>
                  <a:latin typeface="Arial"/>
                  <a:ea typeface="Arial"/>
                  <a:cs typeface="Arial"/>
                  <a:sym typeface="Arial"/>
                </a:rPr>
                <a:t>     with combined </a:t>
              </a:r>
            </a:p>
            <a:p>
              <a:pPr algn="just">
                <a:lnSpc>
                  <a:spcPts val="3662"/>
                </a:lnSpc>
              </a:pPr>
              <a:r>
                <a:rPr lang="en-US" sz="2774">
                  <a:solidFill>
                    <a:srgbClr val="000000"/>
                  </a:solidFill>
                  <a:latin typeface="Arial"/>
                  <a:ea typeface="Arial"/>
                  <a:cs typeface="Arial"/>
                  <a:sym typeface="Arial"/>
                </a:rPr>
                <a:t>     </a:t>
              </a:r>
              <a:r>
                <a:rPr lang="en-US" sz="2774">
                  <a:solidFill>
                    <a:srgbClr val="000000"/>
                  </a:solidFill>
                  <a:latin typeface="Arial"/>
                  <a:ea typeface="Arial"/>
                  <a:cs typeface="Arial"/>
                  <a:sym typeface="Arial"/>
                </a:rPr>
                <a:t>impairments</a:t>
              </a:r>
            </a:p>
            <a:p>
              <a:pPr algn="l">
                <a:lnSpc>
                  <a:spcPts val="3662"/>
                </a:lnSpc>
              </a:pPr>
            </a:p>
            <a:p>
              <a:pPr algn="l" marL="502202" indent="-251101" lvl="1">
                <a:lnSpc>
                  <a:spcPts val="3662"/>
                </a:lnSpc>
                <a:buFont typeface="Arial"/>
                <a:buChar char="•"/>
              </a:pPr>
              <a:r>
                <a:rPr lang="en-US" sz="2774">
                  <a:solidFill>
                    <a:srgbClr val="000000"/>
                  </a:solidFill>
                  <a:latin typeface="Arial"/>
                  <a:ea typeface="Arial"/>
                  <a:cs typeface="Arial"/>
                  <a:sym typeface="Arial"/>
                </a:rPr>
                <a:t>Modular blocks let each stage be built &amp; tested independently, in parallel</a:t>
              </a:r>
            </a:p>
          </p:txBody>
        </p:sp>
      </p:grpSp>
      <p:grpSp>
        <p:nvGrpSpPr>
          <p:cNvPr name="Group 10" id="10"/>
          <p:cNvGrpSpPr/>
          <p:nvPr/>
        </p:nvGrpSpPr>
        <p:grpSpPr>
          <a:xfrm rot="0">
            <a:off x="6423389" y="1835477"/>
            <a:ext cx="7050453" cy="3032530"/>
            <a:chOff x="0" y="0"/>
            <a:chExt cx="9400604" cy="4043373"/>
          </a:xfrm>
        </p:grpSpPr>
        <p:sp>
          <p:nvSpPr>
            <p:cNvPr name="Freeform 11" id="11"/>
            <p:cNvSpPr/>
            <p:nvPr/>
          </p:nvSpPr>
          <p:spPr>
            <a:xfrm flipH="false" flipV="false" rot="0">
              <a:off x="0" y="0"/>
              <a:ext cx="9400555" cy="4043411"/>
            </a:xfrm>
            <a:custGeom>
              <a:avLst/>
              <a:gdLst/>
              <a:ahLst/>
              <a:cxnLst/>
              <a:rect r="r" b="b" t="t" l="l"/>
              <a:pathLst>
                <a:path h="4043411" w="9400555">
                  <a:moveTo>
                    <a:pt x="0" y="283058"/>
                  </a:moveTo>
                  <a:cubicBezTo>
                    <a:pt x="0" y="126672"/>
                    <a:pt x="200064" y="0"/>
                    <a:pt x="447057" y="0"/>
                  </a:cubicBezTo>
                  <a:lnTo>
                    <a:pt x="8953497" y="0"/>
                  </a:lnTo>
                  <a:cubicBezTo>
                    <a:pt x="9200325" y="0"/>
                    <a:pt x="9400555" y="126672"/>
                    <a:pt x="9400555" y="283058"/>
                  </a:cubicBezTo>
                  <a:lnTo>
                    <a:pt x="9400555" y="3760346"/>
                  </a:lnTo>
                  <a:cubicBezTo>
                    <a:pt x="9400555" y="3916628"/>
                    <a:pt x="9200490" y="4043411"/>
                    <a:pt x="8953497" y="4043411"/>
                  </a:cubicBezTo>
                  <a:lnTo>
                    <a:pt x="447057" y="4043411"/>
                  </a:lnTo>
                  <a:cubicBezTo>
                    <a:pt x="200064" y="4043411"/>
                    <a:pt x="0" y="3916628"/>
                    <a:pt x="0" y="3760346"/>
                  </a:cubicBezTo>
                  <a:close/>
                </a:path>
              </a:pathLst>
            </a:custGeom>
            <a:solidFill>
              <a:srgbClr val="FDEBD3"/>
            </a:solidFill>
            <a:ln w="38100" cap="sq">
              <a:solidFill>
                <a:srgbClr val="000000"/>
              </a:solidFill>
              <a:prstDash val="lgDash"/>
              <a:miter/>
            </a:ln>
          </p:spPr>
        </p:sp>
        <p:sp>
          <p:nvSpPr>
            <p:cNvPr name="TextBox 12" id="12"/>
            <p:cNvSpPr txBox="true"/>
            <p:nvPr/>
          </p:nvSpPr>
          <p:spPr>
            <a:xfrm>
              <a:off x="0" y="-9525"/>
              <a:ext cx="9400604" cy="4052898"/>
            </a:xfrm>
            <a:prstGeom prst="rect">
              <a:avLst/>
            </a:prstGeom>
          </p:spPr>
          <p:txBody>
            <a:bodyPr anchor="t" rtlCol="false" tIns="50800" lIns="50800" bIns="50800" rIns="50800"/>
            <a:lstStyle/>
            <a:p>
              <a:pPr algn="ctr">
                <a:lnSpc>
                  <a:spcPts val="2939"/>
                </a:lnSpc>
              </a:pPr>
              <a:r>
                <a:rPr lang="en-US" sz="2449" b="true">
                  <a:solidFill>
                    <a:srgbClr val="1F3864"/>
                  </a:solidFill>
                  <a:latin typeface="Arial Bold"/>
                  <a:ea typeface="Arial Bold"/>
                  <a:cs typeface="Arial Bold"/>
                  <a:sym typeface="Arial Bold"/>
                </a:rPr>
                <a:t>Challenges &amp; Risks</a:t>
              </a:r>
            </a:p>
            <a:p>
              <a:pPr algn="just" marL="375522" indent="-187761" lvl="1">
                <a:lnSpc>
                  <a:spcPts val="2738"/>
                </a:lnSpc>
                <a:buFont typeface="Arial"/>
                <a:buChar char="•"/>
              </a:pPr>
              <a:r>
                <a:rPr lang="en-US" sz="2074">
                  <a:solidFill>
                    <a:srgbClr val="000000"/>
                  </a:solidFill>
                  <a:latin typeface="Arial"/>
                  <a:ea typeface="Arial"/>
                  <a:cs typeface="Arial"/>
                  <a:sym typeface="Arial"/>
                </a:rPr>
                <a:t>Protocol structure (markers, block size, FEC type) unknown in advance</a:t>
              </a:r>
            </a:p>
            <a:p>
              <a:pPr algn="just" marL="375522" indent="-187761" lvl="1">
                <a:lnSpc>
                  <a:spcPts val="2738"/>
                </a:lnSpc>
                <a:buFont typeface="Arial"/>
                <a:buChar char="•"/>
              </a:pPr>
              <a:r>
                <a:rPr lang="en-US" sz="2074">
                  <a:solidFill>
                    <a:srgbClr val="000000"/>
                  </a:solidFill>
                  <a:latin typeface="Arial"/>
                  <a:ea typeface="Arial"/>
                  <a:cs typeface="Arial"/>
                  <a:sym typeface="Arial"/>
                </a:rPr>
                <a:t>Low-SNR captures degrade synchronisation &amp; bit recovery</a:t>
              </a:r>
            </a:p>
            <a:p>
              <a:pPr algn="just" marL="375522" indent="-187761" lvl="1">
                <a:lnSpc>
                  <a:spcPts val="2738"/>
                </a:lnSpc>
                <a:buFont typeface="Arial"/>
                <a:buChar char="•"/>
              </a:pPr>
              <a:r>
                <a:rPr lang="en-US" sz="2074">
                  <a:solidFill>
                    <a:srgbClr val="000000"/>
                  </a:solidFill>
                  <a:latin typeface="Arial"/>
                  <a:ea typeface="Arial"/>
                  <a:cs typeface="Arial"/>
                  <a:sym typeface="Arial"/>
                </a:rPr>
                <a:t>Large .IQ/.WAV files strain memory &amp; UI responsiveness</a:t>
              </a:r>
            </a:p>
            <a:p>
              <a:pPr algn="just" marL="375522" indent="-187761" lvl="1">
                <a:lnSpc>
                  <a:spcPts val="2738"/>
                </a:lnSpc>
                <a:buFont typeface="Arial"/>
                <a:buChar char="•"/>
              </a:pPr>
              <a:r>
                <a:rPr lang="en-US" sz="2074">
                  <a:solidFill>
                    <a:srgbClr val="000000"/>
                  </a:solidFill>
                  <a:latin typeface="Arial"/>
                  <a:ea typeface="Arial"/>
                  <a:cs typeface="Arial"/>
                  <a:sym typeface="Arial"/>
                </a:rPr>
                <a:t>Must support both offline files and future live SDR feeds</a:t>
              </a:r>
            </a:p>
          </p:txBody>
        </p:sp>
      </p:grpSp>
      <p:grpSp>
        <p:nvGrpSpPr>
          <p:cNvPr name="Group 13" id="13"/>
          <p:cNvGrpSpPr/>
          <p:nvPr/>
        </p:nvGrpSpPr>
        <p:grpSpPr>
          <a:xfrm rot="0">
            <a:off x="6972300" y="9534525"/>
            <a:ext cx="4806001" cy="547688"/>
            <a:chOff x="0" y="0"/>
            <a:chExt cx="6408001" cy="730250"/>
          </a:xfrm>
        </p:grpSpPr>
        <p:sp>
          <p:nvSpPr>
            <p:cNvPr name="Freeform 14" id="14"/>
            <p:cNvSpPr/>
            <p:nvPr/>
          </p:nvSpPr>
          <p:spPr>
            <a:xfrm flipH="false" flipV="false" rot="0">
              <a:off x="0" y="0"/>
              <a:ext cx="6408000" cy="730250"/>
            </a:xfrm>
            <a:custGeom>
              <a:avLst/>
              <a:gdLst/>
              <a:ahLst/>
              <a:cxnLst/>
              <a:rect r="r" b="b" t="t" l="l"/>
              <a:pathLst>
                <a:path h="730250" w="6408000">
                  <a:moveTo>
                    <a:pt x="0" y="0"/>
                  </a:moveTo>
                  <a:lnTo>
                    <a:pt x="6408000" y="0"/>
                  </a:lnTo>
                  <a:lnTo>
                    <a:pt x="6408000" y="730250"/>
                  </a:lnTo>
                  <a:lnTo>
                    <a:pt x="0" y="730250"/>
                  </a:lnTo>
                  <a:close/>
                </a:path>
              </a:pathLst>
            </a:custGeom>
            <a:blipFill>
              <a:blip r:embed="rId3">
                <a:alphaModFix amt="0"/>
              </a:blip>
              <a:stretch>
                <a:fillRect l="0" t="-120982" r="0" b="-120982"/>
              </a:stretch>
            </a:blipFill>
          </p:spPr>
        </p:sp>
        <p:sp>
          <p:nvSpPr>
            <p:cNvPr name="TextBox 15" id="15"/>
            <p:cNvSpPr txBox="true"/>
            <p:nvPr/>
          </p:nvSpPr>
          <p:spPr>
            <a:xfrm>
              <a:off x="0" y="-38100"/>
              <a:ext cx="6408001" cy="768350"/>
            </a:xfrm>
            <a:prstGeom prst="rect">
              <a:avLst/>
            </a:prstGeom>
          </p:spPr>
          <p:txBody>
            <a:bodyPr anchor="ctr" rtlCol="false" tIns="0" lIns="0" bIns="0" rIns="0"/>
            <a:lstStyle/>
            <a:p>
              <a:pPr algn="ctr">
                <a:lnSpc>
                  <a:spcPts val="2160"/>
                </a:lnSpc>
              </a:pPr>
              <a:r>
                <a:rPr lang="en-US" sz="1800">
                  <a:solidFill>
                    <a:srgbClr val="FFFFFF"/>
                  </a:solidFill>
                  <a:latin typeface="Trade Gothic Condensed"/>
                  <a:ea typeface="Trade Gothic Condensed"/>
                  <a:cs typeface="Trade Gothic Condensed"/>
                  <a:sym typeface="Trade Gothic Condensed"/>
                </a:rPr>
                <a:t>@SIH Idea submission</a:t>
              </a:r>
            </a:p>
          </p:txBody>
        </p:sp>
      </p:grpSp>
      <p:grpSp>
        <p:nvGrpSpPr>
          <p:cNvPr name="Group 16" id="16"/>
          <p:cNvGrpSpPr/>
          <p:nvPr/>
        </p:nvGrpSpPr>
        <p:grpSpPr>
          <a:xfrm rot="0">
            <a:off x="14670129" y="2248"/>
            <a:ext cx="3374774" cy="1593504"/>
            <a:chOff x="0" y="0"/>
            <a:chExt cx="4499699" cy="2124672"/>
          </a:xfrm>
        </p:grpSpPr>
        <p:sp>
          <p:nvSpPr>
            <p:cNvPr name="Freeform 17" id="17"/>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4"/>
              <a:stretch>
                <a:fillRect l="0" t="0" r="0" b="1"/>
              </a:stretch>
            </a:blipFill>
          </p:spPr>
        </p:sp>
      </p:grpSp>
      <p:sp>
        <p:nvSpPr>
          <p:cNvPr name="Freeform 18" id="18"/>
          <p:cNvSpPr/>
          <p:nvPr/>
        </p:nvSpPr>
        <p:spPr>
          <a:xfrm flipH="false" flipV="false" rot="0">
            <a:off x="0" y="0"/>
            <a:ext cx="1835477" cy="1835477"/>
          </a:xfrm>
          <a:custGeom>
            <a:avLst/>
            <a:gdLst/>
            <a:ahLst/>
            <a:cxnLst/>
            <a:rect r="r" b="b" t="t" l="l"/>
            <a:pathLst>
              <a:path h="1835477" w="1835477">
                <a:moveTo>
                  <a:pt x="0" y="0"/>
                </a:moveTo>
                <a:lnTo>
                  <a:pt x="1835477" y="0"/>
                </a:lnTo>
                <a:lnTo>
                  <a:pt x="1835477" y="1835477"/>
                </a:lnTo>
                <a:lnTo>
                  <a:pt x="0" y="1835477"/>
                </a:lnTo>
                <a:lnTo>
                  <a:pt x="0" y="0"/>
                </a:lnTo>
                <a:close/>
              </a:path>
            </a:pathLst>
          </a:custGeom>
          <a:blipFill>
            <a:blip r:embed="rId5"/>
            <a:stretch>
              <a:fillRect l="0" t="0" r="0" b="0"/>
            </a:stretch>
          </a:blipFill>
        </p:spPr>
      </p:sp>
      <p:sp>
        <p:nvSpPr>
          <p:cNvPr name="Freeform 19" id="19"/>
          <p:cNvSpPr/>
          <p:nvPr/>
        </p:nvSpPr>
        <p:spPr>
          <a:xfrm flipH="false" flipV="false" rot="0">
            <a:off x="143558" y="57055"/>
            <a:ext cx="1553375" cy="1381289"/>
          </a:xfrm>
          <a:custGeom>
            <a:avLst/>
            <a:gdLst/>
            <a:ahLst/>
            <a:cxnLst/>
            <a:rect r="r" b="b" t="t" l="l"/>
            <a:pathLst>
              <a:path h="1381289" w="1553375">
                <a:moveTo>
                  <a:pt x="0" y="0"/>
                </a:moveTo>
                <a:lnTo>
                  <a:pt x="1553376" y="0"/>
                </a:lnTo>
                <a:lnTo>
                  <a:pt x="1553376" y="1381289"/>
                </a:lnTo>
                <a:lnTo>
                  <a:pt x="0" y="1381289"/>
                </a:lnTo>
                <a:lnTo>
                  <a:pt x="0" y="0"/>
                </a:lnTo>
                <a:close/>
              </a:path>
            </a:pathLst>
          </a:custGeom>
          <a:blipFill>
            <a:blip r:embed="rId6"/>
            <a:stretch>
              <a:fillRect l="0" t="0" r="0" b="0"/>
            </a:stretch>
          </a:blipFill>
        </p:spPr>
      </p:sp>
      <p:sp>
        <p:nvSpPr>
          <p:cNvPr name="Freeform 20" id="20"/>
          <p:cNvSpPr/>
          <p:nvPr/>
        </p:nvSpPr>
        <p:spPr>
          <a:xfrm flipH="false" flipV="false" rot="0">
            <a:off x="460123" y="402147"/>
            <a:ext cx="978221" cy="719632"/>
          </a:xfrm>
          <a:custGeom>
            <a:avLst/>
            <a:gdLst/>
            <a:ahLst/>
            <a:cxnLst/>
            <a:rect r="r" b="b" t="t" l="l"/>
            <a:pathLst>
              <a:path h="719632" w="978221">
                <a:moveTo>
                  <a:pt x="0" y="0"/>
                </a:moveTo>
                <a:lnTo>
                  <a:pt x="978221" y="0"/>
                </a:lnTo>
                <a:lnTo>
                  <a:pt x="978221" y="719633"/>
                </a:lnTo>
                <a:lnTo>
                  <a:pt x="0" y="719633"/>
                </a:lnTo>
                <a:lnTo>
                  <a:pt x="0" y="0"/>
                </a:lnTo>
                <a:close/>
              </a:path>
            </a:pathLst>
          </a:custGeom>
          <a:blipFill>
            <a:blip r:embed="rId7"/>
            <a:stretch>
              <a:fillRect l="0" t="0" r="0" b="0"/>
            </a:stretch>
          </a:blipFill>
        </p:spPr>
      </p:sp>
      <p:sp>
        <p:nvSpPr>
          <p:cNvPr name="Freeform 21" id="21"/>
          <p:cNvSpPr/>
          <p:nvPr/>
        </p:nvSpPr>
        <p:spPr>
          <a:xfrm>
            <a:off x="12152626" y="2910827"/>
            <a:ext cx="2777325" cy="0"/>
          </a:xfrm>
          <a:custGeom>
            <a:avLst/>
            <a:gdLst/>
            <a:ahLst/>
            <a:cxnLst/>
            <a:rect r="r" b="b" t="t" l="l"/>
            <a:pathLst>
              <a:path h="0" w="2777325">
                <a:moveTo>
                  <a:pt x="0" y="0"/>
                </a:moveTo>
                <a:lnTo>
                  <a:pt x="2777325" y="0"/>
                </a:lnTo>
              </a:path>
            </a:pathLst>
          </a:custGeom>
          <a:ln cap="flat" w="38100">
            <a:solidFill>
              <a:srgbClr val="000000"/>
            </a:solidFill>
            <a:prstDash val="solid"/>
            <a:headEnd type="none" len="sm" w="sm"/>
            <a:tailEnd type="none" len="sm" w="sm"/>
          </a:ln>
        </p:spPr>
      </p:sp>
      <p:grpSp>
        <p:nvGrpSpPr>
          <p:cNvPr name="Group 22" id="22"/>
          <p:cNvGrpSpPr/>
          <p:nvPr/>
        </p:nvGrpSpPr>
        <p:grpSpPr>
          <a:xfrm rot="0">
            <a:off x="14929951" y="1854527"/>
            <a:ext cx="3114952" cy="2827924"/>
            <a:chOff x="0" y="0"/>
            <a:chExt cx="7922477" cy="7192458"/>
          </a:xfrm>
        </p:grpSpPr>
        <p:sp>
          <p:nvSpPr>
            <p:cNvPr name="Freeform 23" id="23"/>
            <p:cNvSpPr/>
            <p:nvPr/>
          </p:nvSpPr>
          <p:spPr>
            <a:xfrm flipH="false" flipV="false" rot="0">
              <a:off x="0" y="0"/>
              <a:ext cx="7922436" cy="7192497"/>
            </a:xfrm>
            <a:custGeom>
              <a:avLst/>
              <a:gdLst/>
              <a:ahLst/>
              <a:cxnLst/>
              <a:rect r="r" b="b" t="t" l="l"/>
              <a:pathLst>
                <a:path h="7192497" w="7922436">
                  <a:moveTo>
                    <a:pt x="0" y="503511"/>
                  </a:moveTo>
                  <a:cubicBezTo>
                    <a:pt x="0" y="225328"/>
                    <a:pt x="168607" y="0"/>
                    <a:pt x="376763" y="0"/>
                  </a:cubicBezTo>
                  <a:lnTo>
                    <a:pt x="7545672" y="0"/>
                  </a:lnTo>
                  <a:cubicBezTo>
                    <a:pt x="7753690" y="0"/>
                    <a:pt x="7922436" y="225328"/>
                    <a:pt x="7922436" y="503511"/>
                  </a:cubicBezTo>
                  <a:lnTo>
                    <a:pt x="7922436" y="6689003"/>
                  </a:lnTo>
                  <a:cubicBezTo>
                    <a:pt x="7922436" y="6967000"/>
                    <a:pt x="7753828" y="7192497"/>
                    <a:pt x="7545672" y="7192497"/>
                  </a:cubicBezTo>
                  <a:lnTo>
                    <a:pt x="376763" y="7192497"/>
                  </a:lnTo>
                  <a:cubicBezTo>
                    <a:pt x="168607" y="7192497"/>
                    <a:pt x="0" y="6967000"/>
                    <a:pt x="0" y="6689003"/>
                  </a:cubicBezTo>
                  <a:close/>
                </a:path>
              </a:pathLst>
            </a:custGeom>
            <a:solidFill>
              <a:srgbClr val="D3FF99"/>
            </a:solidFill>
            <a:ln w="38100" cap="sq">
              <a:solidFill>
                <a:srgbClr val="000000"/>
              </a:solidFill>
              <a:prstDash val="lgDash"/>
              <a:miter/>
            </a:ln>
          </p:spPr>
        </p:sp>
        <p:sp>
          <p:nvSpPr>
            <p:cNvPr name="TextBox 24" id="24"/>
            <p:cNvSpPr txBox="true"/>
            <p:nvPr/>
          </p:nvSpPr>
          <p:spPr>
            <a:xfrm>
              <a:off x="0" y="-9525"/>
              <a:ext cx="7922477" cy="7201983"/>
            </a:xfrm>
            <a:prstGeom prst="rect">
              <a:avLst/>
            </a:prstGeom>
          </p:spPr>
          <p:txBody>
            <a:bodyPr anchor="t" rtlCol="false" tIns="50800" lIns="50800" bIns="50800" rIns="50800"/>
            <a:lstStyle/>
            <a:p>
              <a:pPr algn="ctr">
                <a:lnSpc>
                  <a:spcPts val="2580"/>
                </a:lnSpc>
              </a:pPr>
            </a:p>
            <a:p>
              <a:pPr algn="just">
                <a:lnSpc>
                  <a:spcPts val="2343"/>
                </a:lnSpc>
              </a:pPr>
            </a:p>
          </p:txBody>
        </p:sp>
      </p:grpSp>
      <p:sp>
        <p:nvSpPr>
          <p:cNvPr name="TextBox 25" id="25"/>
          <p:cNvSpPr txBox="true"/>
          <p:nvPr/>
        </p:nvSpPr>
        <p:spPr>
          <a:xfrm rot="0">
            <a:off x="15030186" y="2060813"/>
            <a:ext cx="2805154" cy="2362200"/>
          </a:xfrm>
          <a:prstGeom prst="rect">
            <a:avLst/>
          </a:prstGeom>
        </p:spPr>
        <p:txBody>
          <a:bodyPr anchor="t" rtlCol="false" tIns="0" lIns="0" bIns="0" rIns="0">
            <a:spAutoFit/>
          </a:bodyPr>
          <a:lstStyle/>
          <a:p>
            <a:pPr algn="l">
              <a:lnSpc>
                <a:spcPts val="3119"/>
              </a:lnSpc>
            </a:pPr>
            <a:r>
              <a:rPr lang="en-US" b="true" sz="2599">
                <a:solidFill>
                  <a:srgbClr val="000000"/>
                </a:solidFill>
                <a:latin typeface="Arial Bold"/>
                <a:ea typeface="Arial Bold"/>
                <a:cs typeface="Arial Bold"/>
                <a:sym typeface="Arial Bold"/>
              </a:rPr>
              <a:t>Test a known-standards library against measured periodicity &amp; syndrome checks</a:t>
            </a:r>
          </a:p>
        </p:txBody>
      </p:sp>
      <p:grpSp>
        <p:nvGrpSpPr>
          <p:cNvPr name="Group 26" id="26"/>
          <p:cNvGrpSpPr/>
          <p:nvPr/>
        </p:nvGrpSpPr>
        <p:grpSpPr>
          <a:xfrm rot="0">
            <a:off x="14670129" y="5288374"/>
            <a:ext cx="3217602" cy="2824273"/>
            <a:chOff x="0" y="0"/>
            <a:chExt cx="8894156" cy="7806910"/>
          </a:xfrm>
        </p:grpSpPr>
        <p:sp>
          <p:nvSpPr>
            <p:cNvPr name="Freeform 27" id="27"/>
            <p:cNvSpPr/>
            <p:nvPr/>
          </p:nvSpPr>
          <p:spPr>
            <a:xfrm flipH="false" flipV="false" rot="0">
              <a:off x="0" y="0"/>
              <a:ext cx="8894110" cy="7806948"/>
            </a:xfrm>
            <a:custGeom>
              <a:avLst/>
              <a:gdLst/>
              <a:ahLst/>
              <a:cxnLst/>
              <a:rect r="r" b="b" t="t" l="l"/>
              <a:pathLst>
                <a:path h="7806948" w="8894110">
                  <a:moveTo>
                    <a:pt x="0" y="546526"/>
                  </a:moveTo>
                  <a:cubicBezTo>
                    <a:pt x="0" y="244578"/>
                    <a:pt x="189286" y="0"/>
                    <a:pt x="422973" y="0"/>
                  </a:cubicBezTo>
                  <a:lnTo>
                    <a:pt x="8471136" y="0"/>
                  </a:lnTo>
                  <a:cubicBezTo>
                    <a:pt x="8704667" y="0"/>
                    <a:pt x="8894110" y="244578"/>
                    <a:pt x="8894110" y="546526"/>
                  </a:cubicBezTo>
                  <a:lnTo>
                    <a:pt x="8894110" y="7260444"/>
                  </a:lnTo>
                  <a:cubicBezTo>
                    <a:pt x="8894110" y="7562191"/>
                    <a:pt x="8704823" y="7806948"/>
                    <a:pt x="8471136" y="7806948"/>
                  </a:cubicBezTo>
                  <a:lnTo>
                    <a:pt x="422973" y="7806948"/>
                  </a:lnTo>
                  <a:cubicBezTo>
                    <a:pt x="189286" y="7806948"/>
                    <a:pt x="0" y="7562192"/>
                    <a:pt x="0" y="7260444"/>
                  </a:cubicBezTo>
                  <a:close/>
                </a:path>
              </a:pathLst>
            </a:custGeom>
            <a:solidFill>
              <a:srgbClr val="D3FF99"/>
            </a:solidFill>
            <a:ln w="38100" cap="sq">
              <a:solidFill>
                <a:srgbClr val="000000"/>
              </a:solidFill>
              <a:prstDash val="lgDash"/>
              <a:miter/>
            </a:ln>
          </p:spPr>
        </p:sp>
        <p:sp>
          <p:nvSpPr>
            <p:cNvPr name="TextBox 28" id="28"/>
            <p:cNvSpPr txBox="true"/>
            <p:nvPr/>
          </p:nvSpPr>
          <p:spPr>
            <a:xfrm>
              <a:off x="0" y="-9525"/>
              <a:ext cx="8894156" cy="7816435"/>
            </a:xfrm>
            <a:prstGeom prst="rect">
              <a:avLst/>
            </a:prstGeom>
          </p:spPr>
          <p:txBody>
            <a:bodyPr anchor="t" rtlCol="false" tIns="50800" lIns="50800" bIns="50800" rIns="50800"/>
            <a:lstStyle/>
            <a:p>
              <a:pPr algn="l">
                <a:lnSpc>
                  <a:spcPts val="2580"/>
                </a:lnSpc>
              </a:pPr>
            </a:p>
            <a:p>
              <a:pPr algn="l">
                <a:lnSpc>
                  <a:spcPts val="3002"/>
                </a:lnSpc>
              </a:pPr>
              <a:r>
                <a:rPr lang="en-US" sz="2274" b="true">
                  <a:solidFill>
                    <a:srgbClr val="000000"/>
                  </a:solidFill>
                  <a:latin typeface="Arial Bold"/>
                  <a:ea typeface="Arial Bold"/>
                  <a:cs typeface="Arial Bold"/>
                  <a:sym typeface="Arial Bold"/>
                </a:rPr>
                <a:t>Soft-decision (LLR) decoding and noise-adaptive loop bandwidth (2–3 dB gain)</a:t>
              </a:r>
            </a:p>
            <a:p>
              <a:pPr algn="l">
                <a:lnSpc>
                  <a:spcPts val="2738"/>
                </a:lnSpc>
              </a:pPr>
            </a:p>
          </p:txBody>
        </p:sp>
      </p:grpSp>
      <p:sp>
        <p:nvSpPr>
          <p:cNvPr name="Freeform 29" id="29"/>
          <p:cNvSpPr/>
          <p:nvPr/>
        </p:nvSpPr>
        <p:spPr>
          <a:xfrm>
            <a:off x="8028557" y="3616819"/>
            <a:ext cx="6574221" cy="2360940"/>
          </a:xfrm>
          <a:custGeom>
            <a:avLst/>
            <a:gdLst/>
            <a:ahLst/>
            <a:cxnLst/>
            <a:rect r="r" b="b" t="t" l="l"/>
            <a:pathLst>
              <a:path h="2360940" w="6574221">
                <a:moveTo>
                  <a:pt x="0" y="0"/>
                </a:moveTo>
                <a:lnTo>
                  <a:pt x="6049438" y="0"/>
                </a:lnTo>
                <a:cubicBezTo>
                  <a:pt x="6175691" y="0"/>
                  <a:pt x="6278038" y="102347"/>
                  <a:pt x="6278038" y="228600"/>
                </a:cubicBezTo>
                <a:lnTo>
                  <a:pt x="6278038" y="2212848"/>
                </a:lnTo>
                <a:cubicBezTo>
                  <a:pt x="6278038" y="2252124"/>
                  <a:pt x="6293640" y="2289792"/>
                  <a:pt x="6321414" y="2317565"/>
                </a:cubicBezTo>
                <a:cubicBezTo>
                  <a:pt x="6349186" y="2345337"/>
                  <a:pt x="6386853" y="2360939"/>
                  <a:pt x="6426130" y="2360939"/>
                </a:cubicBezTo>
                <a:lnTo>
                  <a:pt x="6574221" y="2360939"/>
                </a:lnTo>
              </a:path>
            </a:pathLst>
          </a:custGeom>
          <a:ln cap="flat" w="38100">
            <a:solidFill>
              <a:srgbClr val="000000"/>
            </a:solidFill>
            <a:prstDash val="solid"/>
            <a:headEnd type="none" len="sm" w="sm"/>
            <a:tailEnd type="none" len="sm" w="sm"/>
          </a:ln>
        </p:spPr>
      </p:sp>
      <p:grpSp>
        <p:nvGrpSpPr>
          <p:cNvPr name="Group 30" id="30"/>
          <p:cNvGrpSpPr/>
          <p:nvPr/>
        </p:nvGrpSpPr>
        <p:grpSpPr>
          <a:xfrm rot="0">
            <a:off x="10357134" y="5430955"/>
            <a:ext cx="3068452" cy="2686267"/>
            <a:chOff x="0" y="0"/>
            <a:chExt cx="6492348" cy="5683708"/>
          </a:xfrm>
        </p:grpSpPr>
        <p:sp>
          <p:nvSpPr>
            <p:cNvPr name="Freeform 31" id="31"/>
            <p:cNvSpPr/>
            <p:nvPr/>
          </p:nvSpPr>
          <p:spPr>
            <a:xfrm flipH="false" flipV="false" rot="0">
              <a:off x="0" y="0"/>
              <a:ext cx="6492315" cy="5683746"/>
            </a:xfrm>
            <a:custGeom>
              <a:avLst/>
              <a:gdLst/>
              <a:ahLst/>
              <a:cxnLst/>
              <a:rect r="r" b="b" t="t" l="l"/>
              <a:pathLst>
                <a:path h="5683746" w="6492315">
                  <a:moveTo>
                    <a:pt x="0" y="397890"/>
                  </a:moveTo>
                  <a:cubicBezTo>
                    <a:pt x="0" y="178061"/>
                    <a:pt x="138171" y="0"/>
                    <a:pt x="308752" y="0"/>
                  </a:cubicBezTo>
                  <a:lnTo>
                    <a:pt x="6183562" y="0"/>
                  </a:lnTo>
                  <a:cubicBezTo>
                    <a:pt x="6354030" y="0"/>
                    <a:pt x="6492315" y="178061"/>
                    <a:pt x="6492315" y="397890"/>
                  </a:cubicBezTo>
                  <a:lnTo>
                    <a:pt x="6492315" y="5285861"/>
                  </a:lnTo>
                  <a:cubicBezTo>
                    <a:pt x="6492315" y="5505543"/>
                    <a:pt x="6354144" y="5683746"/>
                    <a:pt x="6183562" y="5683746"/>
                  </a:cubicBezTo>
                  <a:lnTo>
                    <a:pt x="308752" y="5683746"/>
                  </a:lnTo>
                  <a:cubicBezTo>
                    <a:pt x="138171" y="5683746"/>
                    <a:pt x="0" y="5505544"/>
                    <a:pt x="0" y="5285861"/>
                  </a:cubicBezTo>
                  <a:close/>
                </a:path>
              </a:pathLst>
            </a:custGeom>
            <a:solidFill>
              <a:srgbClr val="D3FF99"/>
            </a:solidFill>
            <a:ln w="38100" cap="sq">
              <a:solidFill>
                <a:srgbClr val="000000"/>
              </a:solidFill>
              <a:prstDash val="lgDash"/>
              <a:miter/>
            </a:ln>
          </p:spPr>
        </p:sp>
        <p:sp>
          <p:nvSpPr>
            <p:cNvPr name="TextBox 32" id="32"/>
            <p:cNvSpPr txBox="true"/>
            <p:nvPr/>
          </p:nvSpPr>
          <p:spPr>
            <a:xfrm>
              <a:off x="0" y="-38100"/>
              <a:ext cx="6492348" cy="5721808"/>
            </a:xfrm>
            <a:prstGeom prst="rect">
              <a:avLst/>
            </a:prstGeom>
          </p:spPr>
          <p:txBody>
            <a:bodyPr anchor="t" rtlCol="false" tIns="50800" lIns="50800" bIns="50800" rIns="50800"/>
            <a:lstStyle/>
            <a:p>
              <a:pPr algn="l">
                <a:lnSpc>
                  <a:spcPts val="3398"/>
                </a:lnSpc>
              </a:pPr>
              <a:r>
                <a:rPr lang="en-US" b="true" sz="2574">
                  <a:solidFill>
                    <a:srgbClr val="000000"/>
                  </a:solidFill>
                  <a:latin typeface="Arial Bold"/>
                  <a:ea typeface="Arial Bold"/>
                  <a:cs typeface="Arial Bold"/>
                  <a:sym typeface="Arial Bold"/>
                </a:rPr>
                <a:t>S</a:t>
              </a:r>
              <a:r>
                <a:rPr lang="en-US" b="true" sz="2574">
                  <a:solidFill>
                    <a:srgbClr val="000000"/>
                  </a:solidFill>
                  <a:latin typeface="Arial Bold"/>
                  <a:ea typeface="Arial Bold"/>
                  <a:cs typeface="Arial Bold"/>
                  <a:sym typeface="Arial Bold"/>
                </a:rPr>
                <a:t>treamed block-wise processing with cached spectrogram/constellation views</a:t>
              </a:r>
            </a:p>
          </p:txBody>
        </p:sp>
      </p:grpSp>
      <p:grpSp>
        <p:nvGrpSpPr>
          <p:cNvPr name="Group 33" id="33"/>
          <p:cNvGrpSpPr/>
          <p:nvPr/>
        </p:nvGrpSpPr>
        <p:grpSpPr>
          <a:xfrm rot="0">
            <a:off x="6602792" y="5658778"/>
            <a:ext cx="3020917" cy="2397598"/>
            <a:chOff x="0" y="0"/>
            <a:chExt cx="7644867" cy="6067468"/>
          </a:xfrm>
        </p:grpSpPr>
        <p:sp>
          <p:nvSpPr>
            <p:cNvPr name="Freeform 34" id="34"/>
            <p:cNvSpPr/>
            <p:nvPr/>
          </p:nvSpPr>
          <p:spPr>
            <a:xfrm flipH="false" flipV="false" rot="0">
              <a:off x="0" y="0"/>
              <a:ext cx="7644827" cy="6067506"/>
            </a:xfrm>
            <a:custGeom>
              <a:avLst/>
              <a:gdLst/>
              <a:ahLst/>
              <a:cxnLst/>
              <a:rect r="r" b="b" t="t" l="l"/>
              <a:pathLst>
                <a:path h="6067506" w="7644827">
                  <a:moveTo>
                    <a:pt x="0" y="424756"/>
                  </a:moveTo>
                  <a:cubicBezTo>
                    <a:pt x="0" y="190084"/>
                    <a:pt x="162699" y="0"/>
                    <a:pt x="363561" y="0"/>
                  </a:cubicBezTo>
                  <a:lnTo>
                    <a:pt x="7281266" y="0"/>
                  </a:lnTo>
                  <a:cubicBezTo>
                    <a:pt x="7481994" y="0"/>
                    <a:pt x="7644827" y="190084"/>
                    <a:pt x="7644827" y="424756"/>
                  </a:cubicBezTo>
                  <a:lnTo>
                    <a:pt x="7644827" y="5642759"/>
                  </a:lnTo>
                  <a:cubicBezTo>
                    <a:pt x="7644827" y="5877275"/>
                    <a:pt x="7482128" y="6067506"/>
                    <a:pt x="7281266" y="6067506"/>
                  </a:cubicBezTo>
                  <a:lnTo>
                    <a:pt x="363561" y="6067506"/>
                  </a:lnTo>
                  <a:cubicBezTo>
                    <a:pt x="162699" y="6067506"/>
                    <a:pt x="0" y="5877275"/>
                    <a:pt x="0" y="5642759"/>
                  </a:cubicBezTo>
                  <a:close/>
                </a:path>
              </a:pathLst>
            </a:custGeom>
            <a:solidFill>
              <a:srgbClr val="D3FF99"/>
            </a:solidFill>
            <a:ln w="38100" cap="sq">
              <a:solidFill>
                <a:srgbClr val="000000"/>
              </a:solidFill>
              <a:prstDash val="lgDash"/>
              <a:miter/>
            </a:ln>
          </p:spPr>
        </p:sp>
        <p:sp>
          <p:nvSpPr>
            <p:cNvPr name="TextBox 35" id="35"/>
            <p:cNvSpPr txBox="true"/>
            <p:nvPr/>
          </p:nvSpPr>
          <p:spPr>
            <a:xfrm>
              <a:off x="0" y="-38100"/>
              <a:ext cx="7644867" cy="6105568"/>
            </a:xfrm>
            <a:prstGeom prst="rect">
              <a:avLst/>
            </a:prstGeom>
          </p:spPr>
          <p:txBody>
            <a:bodyPr anchor="t" rtlCol="false" tIns="50800" lIns="50800" bIns="50800" rIns="50800"/>
            <a:lstStyle/>
            <a:p>
              <a:pPr algn="l">
                <a:lnSpc>
                  <a:spcPts val="3398"/>
                </a:lnSpc>
              </a:pPr>
              <a:r>
                <a:rPr lang="en-US" sz="2574" b="true">
                  <a:solidFill>
                    <a:srgbClr val="000000"/>
                  </a:solidFill>
                  <a:latin typeface="Arial Bold"/>
                  <a:ea typeface="Arial Bold"/>
                  <a:cs typeface="Arial Bold"/>
                  <a:sym typeface="Arial Bold"/>
                </a:rPr>
                <a:t>Co</a:t>
              </a:r>
              <a:r>
                <a:rPr lang="en-US" sz="2574" b="true">
                  <a:solidFill>
                    <a:srgbClr val="000000"/>
                  </a:solidFill>
                  <a:latin typeface="Arial Bold"/>
                  <a:ea typeface="Arial Bold"/>
                  <a:cs typeface="Arial Bold"/>
                  <a:sym typeface="Arial Bold"/>
                </a:rPr>
                <a:t>mmon ingestion layer abstracts file vs. stream behind one interface</a:t>
              </a:r>
            </a:p>
          </p:txBody>
        </p:sp>
      </p:grpSp>
      <p:sp>
        <p:nvSpPr>
          <p:cNvPr name="Freeform 36" id="36"/>
          <p:cNvSpPr/>
          <p:nvPr/>
        </p:nvSpPr>
        <p:spPr>
          <a:xfrm>
            <a:off x="8862913" y="4204355"/>
            <a:ext cx="5046070" cy="1773404"/>
          </a:xfrm>
          <a:custGeom>
            <a:avLst/>
            <a:gdLst/>
            <a:ahLst/>
            <a:cxnLst/>
            <a:rect r="r" b="b" t="t" l="l"/>
            <a:pathLst>
              <a:path h="1773404" w="5046070">
                <a:moveTo>
                  <a:pt x="0" y="0"/>
                </a:moveTo>
                <a:lnTo>
                  <a:pt x="4817469" y="0"/>
                </a:lnTo>
                <a:cubicBezTo>
                  <a:pt x="4878098" y="0"/>
                  <a:pt x="4936243" y="24084"/>
                  <a:pt x="4979113" y="66955"/>
                </a:cubicBezTo>
                <a:cubicBezTo>
                  <a:pt x="5021985" y="109826"/>
                  <a:pt x="5046069" y="167971"/>
                  <a:pt x="5046069" y="228600"/>
                </a:cubicBezTo>
                <a:lnTo>
                  <a:pt x="5046069" y="1591135"/>
                </a:lnTo>
                <a:cubicBezTo>
                  <a:pt x="5046069" y="1639476"/>
                  <a:pt x="5026866" y="1685837"/>
                  <a:pt x="4992685" y="1720018"/>
                </a:cubicBezTo>
                <a:cubicBezTo>
                  <a:pt x="4958502" y="1754200"/>
                  <a:pt x="4912142" y="1773403"/>
                  <a:pt x="4863801" y="1773403"/>
                </a:cubicBezTo>
                <a:lnTo>
                  <a:pt x="4681533" y="1773403"/>
                </a:lnTo>
              </a:path>
            </a:pathLst>
          </a:custGeom>
          <a:ln cap="flat" w="38100">
            <a:solidFill>
              <a:srgbClr val="000000"/>
            </a:solidFill>
            <a:prstDash val="solid"/>
            <a:headEnd type="none" len="sm" w="sm"/>
            <a:tailEnd type="none" len="sm" w="sm"/>
          </a:ln>
        </p:spPr>
      </p:sp>
      <p:sp>
        <p:nvSpPr>
          <p:cNvPr name="Freeform 37" id="37"/>
          <p:cNvSpPr/>
          <p:nvPr/>
        </p:nvSpPr>
        <p:spPr>
          <a:xfrm>
            <a:off x="8113251" y="4868007"/>
            <a:ext cx="34" cy="790771"/>
          </a:xfrm>
          <a:custGeom>
            <a:avLst/>
            <a:gdLst/>
            <a:ahLst/>
            <a:cxnLst/>
            <a:rect r="r" b="b" t="t" l="l"/>
            <a:pathLst>
              <a:path h="790771" w="34">
                <a:moveTo>
                  <a:pt x="34" y="0"/>
                </a:moveTo>
                <a:lnTo>
                  <a:pt x="34" y="291656"/>
                </a:lnTo>
                <a:cubicBezTo>
                  <a:pt x="34" y="291661"/>
                  <a:pt x="32" y="291665"/>
                  <a:pt x="29" y="291668"/>
                </a:cubicBezTo>
                <a:cubicBezTo>
                  <a:pt x="25" y="291671"/>
                  <a:pt x="21" y="291673"/>
                  <a:pt x="17" y="291673"/>
                </a:cubicBezTo>
                <a:lnTo>
                  <a:pt x="17" y="291673"/>
                </a:lnTo>
                <a:cubicBezTo>
                  <a:pt x="12" y="291673"/>
                  <a:pt x="8" y="291675"/>
                  <a:pt x="4" y="291678"/>
                </a:cubicBezTo>
                <a:cubicBezTo>
                  <a:pt x="1" y="291682"/>
                  <a:pt x="0" y="291686"/>
                  <a:pt x="0" y="291690"/>
                </a:cubicBezTo>
                <a:lnTo>
                  <a:pt x="0" y="790771"/>
                </a:lnTo>
              </a:path>
            </a:pathLst>
          </a:custGeom>
          <a:ln cap="flat" w="38100">
            <a:solidFill>
              <a:srgbClr val="000000"/>
            </a:solidFill>
            <a:prstDash val="solid"/>
            <a:headEnd type="none" len="sm" w="sm"/>
            <a:tailEnd type="none" len="sm" w="sm"/>
          </a:ln>
        </p:spPr>
      </p:sp>
      <p:pic>
        <p:nvPicPr>
          <p:cNvPr name="Picture 38" id="38"/>
          <p:cNvPicPr>
            <a:picLocks noChangeAspect="true"/>
          </p:cNvPicPr>
          <p:nvPr/>
        </p:nvPicPr>
        <p:blipFill>
          <a:blip r:embed="rId8"/>
          <a:stretch>
            <a:fillRect/>
          </a:stretch>
        </p:blipFill>
        <p:spPr>
          <a:xfrm rot="0">
            <a:off x="4303970" y="4993799"/>
            <a:ext cx="1705573" cy="1796411"/>
          </a:xfrm>
          <a:prstGeom prst="rect">
            <a:avLst/>
          </a:prstGeom>
        </p:spPr>
      </p:pic>
      <p:pic>
        <p:nvPicPr>
          <p:cNvPr name="Picture 39" id="39"/>
          <p:cNvPicPr>
            <a:picLocks noChangeAspect="true"/>
          </p:cNvPicPr>
          <p:nvPr/>
        </p:nvPicPr>
        <p:blipFill>
          <a:blip r:embed="rId9"/>
          <a:stretch>
            <a:fillRect/>
          </a:stretch>
        </p:blipFill>
        <p:spPr>
          <a:xfrm rot="0">
            <a:off x="4037102" y="2721936"/>
            <a:ext cx="2266687" cy="1889967"/>
          </a:xfrm>
          <a:prstGeom prst="rect">
            <a:avLst/>
          </a:prstGeom>
        </p:spPr>
      </p:pic>
      <p:sp>
        <p:nvSpPr>
          <p:cNvPr name="TextBox 40" id="40"/>
          <p:cNvSpPr txBox="true"/>
          <p:nvPr/>
        </p:nvSpPr>
        <p:spPr>
          <a:xfrm rot="0">
            <a:off x="266871" y="1100226"/>
            <a:ext cx="1341719" cy="288767"/>
          </a:xfrm>
          <a:prstGeom prst="rect">
            <a:avLst/>
          </a:prstGeom>
        </p:spPr>
        <p:txBody>
          <a:bodyPr anchor="t" rtlCol="false" tIns="0" lIns="0" bIns="0" rIns="0">
            <a:spAutoFit/>
          </a:bodyPr>
          <a:lstStyle/>
          <a:p>
            <a:pPr algn="ctr">
              <a:lnSpc>
                <a:spcPts val="2397"/>
              </a:lnSpc>
            </a:pPr>
            <a:r>
              <a:rPr lang="en-US" sz="1712">
                <a:solidFill>
                  <a:srgbClr val="00C2FF"/>
                </a:solidFill>
                <a:latin typeface="HK Modular"/>
                <a:ea typeface="HK Modular"/>
                <a:cs typeface="HK Modular"/>
                <a:sym typeface="HK Modular"/>
              </a:rPr>
              <a:t>S</a:t>
            </a:r>
            <a:r>
              <a:rPr lang="en-US" sz="1712">
                <a:solidFill>
                  <a:srgbClr val="5085FF"/>
                </a:solidFill>
                <a:latin typeface="HK Modular"/>
                <a:ea typeface="HK Modular"/>
                <a:cs typeface="HK Modular"/>
                <a:sym typeface="HK Modular"/>
              </a:rPr>
              <a:t>p</a:t>
            </a:r>
            <a:r>
              <a:rPr lang="en-US" sz="1712">
                <a:solidFill>
                  <a:srgbClr val="385FFF"/>
                </a:solidFill>
                <a:latin typeface="HK Modular"/>
                <a:ea typeface="HK Modular"/>
                <a:cs typeface="HK Modular"/>
                <a:sym typeface="HK Modular"/>
              </a:rPr>
              <a:t>e</a:t>
            </a:r>
            <a:r>
              <a:rPr lang="en-US" sz="1712">
                <a:solidFill>
                  <a:srgbClr val="5085FF"/>
                </a:solidFill>
                <a:latin typeface="HK Modular"/>
                <a:ea typeface="HK Modular"/>
                <a:cs typeface="HK Modular"/>
                <a:sym typeface="HK Modular"/>
              </a:rPr>
              <a:t>c</a:t>
            </a:r>
            <a:r>
              <a:rPr lang="en-US" sz="1712">
                <a:solidFill>
                  <a:srgbClr val="6E5AFF"/>
                </a:solidFill>
                <a:latin typeface="HK Modular"/>
                <a:ea typeface="HK Modular"/>
                <a:cs typeface="HK Modular"/>
                <a:sym typeface="HK Modular"/>
              </a:rPr>
              <a:t>t</a:t>
            </a:r>
            <a:r>
              <a:rPr lang="en-US" sz="1712">
                <a:solidFill>
                  <a:srgbClr val="5085FF"/>
                </a:solidFill>
                <a:latin typeface="HK Modular"/>
                <a:ea typeface="HK Modular"/>
                <a:cs typeface="HK Modular"/>
                <a:sym typeface="HK Modular"/>
              </a:rPr>
              <a:t>r</a:t>
            </a:r>
            <a:r>
              <a:rPr lang="en-US" sz="1712">
                <a:solidFill>
                  <a:srgbClr val="6E5AFF"/>
                </a:solidFill>
                <a:latin typeface="HK Modular"/>
                <a:ea typeface="HK Modular"/>
                <a:cs typeface="HK Modular"/>
                <a:sym typeface="HK Modular"/>
              </a:rPr>
              <a:t>a</a:t>
            </a:r>
          </a:p>
        </p:txBody>
      </p:sp>
      <p:sp>
        <p:nvSpPr>
          <p:cNvPr name="TextBox 41" id="41"/>
          <p:cNvSpPr txBox="true"/>
          <p:nvPr/>
        </p:nvSpPr>
        <p:spPr>
          <a:xfrm rot="0">
            <a:off x="8666545" y="8463924"/>
            <a:ext cx="6449630" cy="704850"/>
          </a:xfrm>
          <a:prstGeom prst="rect">
            <a:avLst/>
          </a:prstGeom>
        </p:spPr>
        <p:txBody>
          <a:bodyPr anchor="t" rtlCol="false" tIns="0" lIns="0" bIns="0" rIns="0">
            <a:spAutoFit/>
          </a:bodyPr>
          <a:lstStyle/>
          <a:p>
            <a:pPr algn="ctr">
              <a:lnSpc>
                <a:spcPts val="2759"/>
              </a:lnSpc>
            </a:pPr>
            <a:r>
              <a:rPr lang="en-US" sz="2299" b="true">
                <a:solidFill>
                  <a:srgbClr val="000000"/>
                </a:solidFill>
                <a:latin typeface="Arial Bold"/>
                <a:ea typeface="Arial Bold"/>
                <a:cs typeface="Arial Bold"/>
                <a:sym typeface="Arial Bold"/>
              </a:rPr>
              <a:t>Strategies for overcoming the challenges</a:t>
            </a:r>
          </a:p>
          <a:p>
            <a:pPr algn="ctr">
              <a:lnSpc>
                <a:spcPts val="275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2144"/>
            <a:ext cx="18288000" cy="754856"/>
            <a:chOff x="0" y="0"/>
            <a:chExt cx="24384000" cy="1006475"/>
          </a:xfrm>
        </p:grpSpPr>
        <p:sp>
          <p:nvSpPr>
            <p:cNvPr name="Freeform 3" id="3"/>
            <p:cNvSpPr/>
            <p:nvPr/>
          </p:nvSpPr>
          <p:spPr>
            <a:xfrm flipH="false" flipV="false" rot="0">
              <a:off x="0" y="0"/>
              <a:ext cx="24384000" cy="1006475"/>
            </a:xfrm>
            <a:custGeom>
              <a:avLst/>
              <a:gdLst/>
              <a:ahLst/>
              <a:cxnLst/>
              <a:rect r="r" b="b" t="t" l="l"/>
              <a:pathLst>
                <a:path h="1006475" w="24384000">
                  <a:moveTo>
                    <a:pt x="0" y="0"/>
                  </a:moveTo>
                  <a:lnTo>
                    <a:pt x="24384000" y="0"/>
                  </a:lnTo>
                  <a:lnTo>
                    <a:pt x="24384000" y="1006475"/>
                  </a:lnTo>
                  <a:lnTo>
                    <a:pt x="0" y="1006475"/>
                  </a:lnTo>
                  <a:close/>
                </a:path>
              </a:pathLst>
            </a:custGeom>
            <a:solidFill>
              <a:srgbClr val="0070C0"/>
            </a:solidFill>
          </p:spPr>
        </p:sp>
      </p:grpSp>
      <p:grpSp>
        <p:nvGrpSpPr>
          <p:cNvPr name="Group 4" id="4"/>
          <p:cNvGrpSpPr/>
          <p:nvPr/>
        </p:nvGrpSpPr>
        <p:grpSpPr>
          <a:xfrm rot="0">
            <a:off x="914400" y="-71438"/>
            <a:ext cx="16459200" cy="1336849"/>
            <a:chOff x="0" y="0"/>
            <a:chExt cx="21945600" cy="1782465"/>
          </a:xfrm>
        </p:grpSpPr>
        <p:sp>
          <p:nvSpPr>
            <p:cNvPr name="Freeform 5" id="5"/>
            <p:cNvSpPr/>
            <p:nvPr/>
          </p:nvSpPr>
          <p:spPr>
            <a:xfrm flipH="false" flipV="false" rot="0">
              <a:off x="0" y="0"/>
              <a:ext cx="21945600" cy="1782465"/>
            </a:xfrm>
            <a:custGeom>
              <a:avLst/>
              <a:gdLst/>
              <a:ahLst/>
              <a:cxnLst/>
              <a:rect r="r" b="b" t="t" l="l"/>
              <a:pathLst>
                <a:path h="1782465" w="21945600">
                  <a:moveTo>
                    <a:pt x="0" y="0"/>
                  </a:moveTo>
                  <a:lnTo>
                    <a:pt x="21945600" y="0"/>
                  </a:lnTo>
                  <a:lnTo>
                    <a:pt x="21945600" y="1782465"/>
                  </a:lnTo>
                  <a:lnTo>
                    <a:pt x="0" y="1782465"/>
                  </a:lnTo>
                  <a:close/>
                </a:path>
              </a:pathLst>
            </a:custGeom>
            <a:blipFill>
              <a:blip r:embed="rId3">
                <a:alphaModFix amt="0"/>
              </a:blip>
              <a:stretch>
                <a:fillRect l="0" t="-175773" r="0" b="-204023"/>
              </a:stretch>
            </a:blipFill>
          </p:spPr>
        </p:sp>
        <p:sp>
          <p:nvSpPr>
            <p:cNvPr name="TextBox 6" id="6"/>
            <p:cNvSpPr txBox="true"/>
            <p:nvPr/>
          </p:nvSpPr>
          <p:spPr>
            <a:xfrm>
              <a:off x="0" y="0"/>
              <a:ext cx="21945600" cy="1782465"/>
            </a:xfrm>
            <a:prstGeom prst="rect">
              <a:avLst/>
            </a:prstGeom>
          </p:spPr>
          <p:txBody>
            <a:bodyPr anchor="ctr" rtlCol="false" tIns="0" lIns="0" bIns="0" rIns="0"/>
            <a:lstStyle/>
            <a:p>
              <a:pPr algn="ctr">
                <a:lnSpc>
                  <a:spcPts val="6480"/>
                </a:lnSpc>
              </a:pPr>
              <a:r>
                <a:rPr lang="en-US" sz="5400" b="true">
                  <a:solidFill>
                    <a:srgbClr val="006BCB"/>
                  </a:solidFill>
                  <a:latin typeface="Cardo Bold"/>
                  <a:ea typeface="Cardo Bold"/>
                  <a:cs typeface="Cardo Bold"/>
                  <a:sym typeface="Cardo Bold"/>
                </a:rPr>
                <a:t>IMPACT AND BENEFITS</a:t>
              </a:r>
            </a:p>
          </p:txBody>
        </p:sp>
      </p:grpSp>
      <p:grpSp>
        <p:nvGrpSpPr>
          <p:cNvPr name="Group 7" id="7"/>
          <p:cNvGrpSpPr/>
          <p:nvPr/>
        </p:nvGrpSpPr>
        <p:grpSpPr>
          <a:xfrm rot="0">
            <a:off x="149747" y="1984305"/>
            <a:ext cx="9225553" cy="4124285"/>
            <a:chOff x="0" y="0"/>
            <a:chExt cx="12300737" cy="5499047"/>
          </a:xfrm>
        </p:grpSpPr>
        <p:sp>
          <p:nvSpPr>
            <p:cNvPr name="Freeform 8" id="8"/>
            <p:cNvSpPr/>
            <p:nvPr/>
          </p:nvSpPr>
          <p:spPr>
            <a:xfrm flipH="false" flipV="false" rot="0">
              <a:off x="0" y="0"/>
              <a:ext cx="12300617" cy="5498992"/>
            </a:xfrm>
            <a:custGeom>
              <a:avLst/>
              <a:gdLst/>
              <a:ahLst/>
              <a:cxnLst/>
              <a:rect r="r" b="b" t="t" l="l"/>
              <a:pathLst>
                <a:path h="5498992" w="12300617">
                  <a:moveTo>
                    <a:pt x="0" y="384844"/>
                  </a:moveTo>
                  <a:cubicBezTo>
                    <a:pt x="0" y="172340"/>
                    <a:pt x="141454" y="0"/>
                    <a:pt x="315873" y="0"/>
                  </a:cubicBezTo>
                  <a:lnTo>
                    <a:pt x="11984744" y="0"/>
                  </a:lnTo>
                  <a:cubicBezTo>
                    <a:pt x="12159164" y="0"/>
                    <a:pt x="12300617" y="172340"/>
                    <a:pt x="12300617" y="384844"/>
                  </a:cubicBezTo>
                  <a:lnTo>
                    <a:pt x="12300617" y="5114149"/>
                  </a:lnTo>
                  <a:cubicBezTo>
                    <a:pt x="12300617" y="5326653"/>
                    <a:pt x="12159164" y="5498992"/>
                    <a:pt x="11984744" y="5498992"/>
                  </a:cubicBezTo>
                  <a:lnTo>
                    <a:pt x="315873" y="5498992"/>
                  </a:lnTo>
                  <a:cubicBezTo>
                    <a:pt x="141454" y="5498992"/>
                    <a:pt x="0" y="5326652"/>
                    <a:pt x="0" y="5114149"/>
                  </a:cubicBezTo>
                  <a:close/>
                </a:path>
              </a:pathLst>
            </a:custGeom>
            <a:solidFill>
              <a:srgbClr val="DCE6F5"/>
            </a:solidFill>
            <a:ln w="38100" cap="sq">
              <a:solidFill>
                <a:srgbClr val="000000"/>
              </a:solidFill>
              <a:prstDash val="lgDash"/>
              <a:miter/>
            </a:ln>
          </p:spPr>
        </p:sp>
        <p:sp>
          <p:nvSpPr>
            <p:cNvPr name="TextBox 9" id="9"/>
            <p:cNvSpPr txBox="true"/>
            <p:nvPr/>
          </p:nvSpPr>
          <p:spPr>
            <a:xfrm>
              <a:off x="0" y="-9525"/>
              <a:ext cx="12300737" cy="5508572"/>
            </a:xfrm>
            <a:prstGeom prst="rect">
              <a:avLst/>
            </a:prstGeom>
          </p:spPr>
          <p:txBody>
            <a:bodyPr anchor="t" rtlCol="false" tIns="50800" lIns="50800" bIns="50800" rIns="50800"/>
            <a:lstStyle/>
            <a:p>
              <a:pPr algn="ctr">
                <a:lnSpc>
                  <a:spcPts val="2939"/>
                </a:lnSpc>
              </a:pPr>
              <a:r>
                <a:rPr lang="en-US" sz="2449" b="true">
                  <a:solidFill>
                    <a:srgbClr val="000000"/>
                  </a:solidFill>
                  <a:latin typeface="Arial Bold"/>
                  <a:ea typeface="Arial Bold"/>
                  <a:cs typeface="Arial Bold"/>
                  <a:sym typeface="Arial Bold"/>
                </a:rPr>
                <a:t>Impact on Target Users</a:t>
              </a:r>
            </a:p>
            <a:p>
              <a:pPr algn="l" marL="507363" indent="-253681" lvl="1">
                <a:lnSpc>
                  <a:spcPts val="3158"/>
                </a:lnSpc>
                <a:buFont typeface="Arial"/>
                <a:buChar char="•"/>
              </a:pPr>
              <a:r>
                <a:rPr lang="en-US" b="true" sz="2349">
                  <a:solidFill>
                    <a:srgbClr val="000000"/>
                  </a:solidFill>
                  <a:latin typeface="Arial Bold"/>
                  <a:ea typeface="Arial Bold"/>
                  <a:cs typeface="Arial Bold"/>
                  <a:sym typeface="Arial Bold"/>
                </a:rPr>
                <a:t>For analysts: </a:t>
              </a:r>
            </a:p>
            <a:p>
              <a:pPr algn="just">
                <a:lnSpc>
                  <a:spcPts val="2755"/>
                </a:lnSpc>
              </a:pPr>
              <a:r>
                <a:rPr lang="en-US" sz="2049">
                  <a:solidFill>
                    <a:srgbClr val="000000"/>
                  </a:solidFill>
                  <a:latin typeface="Arial"/>
                  <a:ea typeface="Arial"/>
                  <a:cs typeface="Arial"/>
                  <a:sym typeface="Arial"/>
                </a:rPr>
                <a:t>Right now, figuring out what a signal is takes hours of manual guesswork. This tool does that guessing automatically, so the analyst just reviews and confirms instead of doing it all by hand.</a:t>
              </a:r>
            </a:p>
            <a:p>
              <a:pPr algn="just">
                <a:lnSpc>
                  <a:spcPts val="2352"/>
                </a:lnSpc>
              </a:pPr>
            </a:p>
            <a:p>
              <a:pPr algn="just" marL="425289" indent="-212645" lvl="1">
                <a:lnSpc>
                  <a:spcPts val="3158"/>
                </a:lnSpc>
                <a:buFont typeface="Arial"/>
                <a:buChar char="•"/>
              </a:pPr>
              <a:r>
                <a:rPr lang="en-US" b="true" sz="2349">
                  <a:solidFill>
                    <a:srgbClr val="000000"/>
                  </a:solidFill>
                  <a:latin typeface="Arial Bold"/>
                  <a:ea typeface="Arial Bold"/>
                  <a:cs typeface="Arial Bold"/>
                  <a:sym typeface="Arial Bold"/>
                </a:rPr>
                <a:t>For research: </a:t>
              </a:r>
            </a:p>
            <a:p>
              <a:pPr algn="just">
                <a:lnSpc>
                  <a:spcPts val="2755"/>
                </a:lnSpc>
              </a:pPr>
              <a:r>
                <a:rPr lang="en-US" sz="2049">
                  <a:solidFill>
                    <a:srgbClr val="000000"/>
                  </a:solidFill>
                  <a:latin typeface="Arial"/>
                  <a:ea typeface="Arial"/>
                  <a:cs typeface="Arial"/>
                  <a:sym typeface="Arial"/>
                </a:rPr>
                <a:t>B</a:t>
              </a:r>
              <a:r>
                <a:rPr lang="en-US" sz="2049">
                  <a:solidFill>
                    <a:srgbClr val="000000"/>
                  </a:solidFill>
                  <a:latin typeface="Arial"/>
                  <a:ea typeface="Arial"/>
                  <a:cs typeface="Arial"/>
                  <a:sym typeface="Arial"/>
                </a:rPr>
                <a:t>ecause every signal gets analyzed the same automatic way every time, the results are consistent and comparable. And since the tool is built in swappable pieces, researchers can add support for new signal types later without rebuilding the whole thing.</a:t>
              </a:r>
            </a:p>
          </p:txBody>
        </p:sp>
      </p:grpSp>
      <p:grpSp>
        <p:nvGrpSpPr>
          <p:cNvPr name="Group 10" id="10"/>
          <p:cNvGrpSpPr/>
          <p:nvPr/>
        </p:nvGrpSpPr>
        <p:grpSpPr>
          <a:xfrm rot="0">
            <a:off x="278376" y="6980053"/>
            <a:ext cx="4045648" cy="2344050"/>
            <a:chOff x="0" y="0"/>
            <a:chExt cx="5394198" cy="3125400"/>
          </a:xfrm>
        </p:grpSpPr>
        <p:sp>
          <p:nvSpPr>
            <p:cNvPr name="Freeform 11" id="11"/>
            <p:cNvSpPr/>
            <p:nvPr/>
          </p:nvSpPr>
          <p:spPr>
            <a:xfrm flipH="false" flipV="false" rot="0">
              <a:off x="0" y="0"/>
              <a:ext cx="5394198" cy="3125476"/>
            </a:xfrm>
            <a:custGeom>
              <a:avLst/>
              <a:gdLst/>
              <a:ahLst/>
              <a:cxnLst/>
              <a:rect r="r" b="b" t="t" l="l"/>
              <a:pathLst>
                <a:path h="3125476" w="5394198">
                  <a:moveTo>
                    <a:pt x="0" y="218821"/>
                  </a:moveTo>
                  <a:cubicBezTo>
                    <a:pt x="0" y="97917"/>
                    <a:pt x="97917" y="0"/>
                    <a:pt x="218821" y="0"/>
                  </a:cubicBezTo>
                  <a:lnTo>
                    <a:pt x="5175377" y="0"/>
                  </a:lnTo>
                  <a:cubicBezTo>
                    <a:pt x="5296154" y="0"/>
                    <a:pt x="5394198" y="97917"/>
                    <a:pt x="5394198" y="218821"/>
                  </a:cubicBezTo>
                  <a:lnTo>
                    <a:pt x="5394198" y="2906655"/>
                  </a:lnTo>
                  <a:cubicBezTo>
                    <a:pt x="5394198" y="3027432"/>
                    <a:pt x="5296281" y="3125476"/>
                    <a:pt x="5175377" y="3125476"/>
                  </a:cubicBezTo>
                  <a:lnTo>
                    <a:pt x="218821" y="3125476"/>
                  </a:lnTo>
                  <a:cubicBezTo>
                    <a:pt x="97917" y="3125349"/>
                    <a:pt x="0" y="3027432"/>
                    <a:pt x="0" y="2906655"/>
                  </a:cubicBezTo>
                  <a:close/>
                </a:path>
              </a:pathLst>
            </a:custGeom>
            <a:solidFill>
              <a:srgbClr val="DCE6F5"/>
            </a:solidFill>
            <a:ln w="38100" cap="sq">
              <a:solidFill>
                <a:srgbClr val="000000"/>
              </a:solidFill>
              <a:prstDash val="lgDash"/>
              <a:miter/>
            </a:ln>
          </p:spPr>
        </p:sp>
        <p:sp>
          <p:nvSpPr>
            <p:cNvPr name="TextBox 12" id="12"/>
            <p:cNvSpPr txBox="true"/>
            <p:nvPr/>
          </p:nvSpPr>
          <p:spPr>
            <a:xfrm>
              <a:off x="0" y="-19050"/>
              <a:ext cx="5394198" cy="3144450"/>
            </a:xfrm>
            <a:prstGeom prst="rect">
              <a:avLst/>
            </a:prstGeom>
          </p:spPr>
          <p:txBody>
            <a:bodyPr anchor="t" rtlCol="false" tIns="50800" lIns="50800" bIns="50800" rIns="50800"/>
            <a:lstStyle/>
            <a:p>
              <a:pPr algn="ctr">
                <a:lnSpc>
                  <a:spcPts val="2340"/>
                </a:lnSpc>
              </a:pPr>
            </a:p>
            <a:p>
              <a:pPr algn="ctr">
                <a:lnSpc>
                  <a:spcPts val="2340"/>
                </a:lnSpc>
              </a:pPr>
            </a:p>
            <a:p>
              <a:pPr algn="ctr">
                <a:lnSpc>
                  <a:spcPts val="2340"/>
                </a:lnSpc>
              </a:pPr>
            </a:p>
            <a:p>
              <a:pPr algn="r">
                <a:lnSpc>
                  <a:spcPts val="2819"/>
                </a:lnSpc>
              </a:pPr>
              <a:r>
                <a:rPr lang="en-US" sz="2349" b="true">
                  <a:solidFill>
                    <a:srgbClr val="000000"/>
                  </a:solidFill>
                  <a:latin typeface="Arial Bold"/>
                  <a:ea typeface="Arial Bold"/>
                  <a:cs typeface="Arial Bold"/>
                  <a:sym typeface="Arial Bold"/>
                </a:rPr>
                <a:t>     Analyst Productivity</a:t>
              </a:r>
            </a:p>
            <a:p>
              <a:pPr algn="r">
                <a:lnSpc>
                  <a:spcPts val="2070"/>
                </a:lnSpc>
              </a:pPr>
              <a:r>
                <a:rPr lang="en-US" sz="1725">
                  <a:solidFill>
                    <a:srgbClr val="000000"/>
                  </a:solidFill>
                  <a:latin typeface="Arial"/>
                  <a:ea typeface="Arial"/>
                  <a:cs typeface="Arial"/>
                  <a:sym typeface="Arial"/>
                </a:rPr>
                <a:t>Replaces manual parameter guesswork with automated, confidence-scored detection</a:t>
              </a:r>
            </a:p>
          </p:txBody>
        </p:sp>
      </p:grpSp>
      <p:grpSp>
        <p:nvGrpSpPr>
          <p:cNvPr name="Group 13" id="13"/>
          <p:cNvGrpSpPr/>
          <p:nvPr/>
        </p:nvGrpSpPr>
        <p:grpSpPr>
          <a:xfrm rot="0">
            <a:off x="4762524" y="6980053"/>
            <a:ext cx="4045648" cy="2344050"/>
            <a:chOff x="0" y="0"/>
            <a:chExt cx="5394198" cy="3125400"/>
          </a:xfrm>
        </p:grpSpPr>
        <p:sp>
          <p:nvSpPr>
            <p:cNvPr name="Freeform 14" id="14"/>
            <p:cNvSpPr/>
            <p:nvPr/>
          </p:nvSpPr>
          <p:spPr>
            <a:xfrm flipH="false" flipV="false" rot="0">
              <a:off x="0" y="0"/>
              <a:ext cx="5394198" cy="3125476"/>
            </a:xfrm>
            <a:custGeom>
              <a:avLst/>
              <a:gdLst/>
              <a:ahLst/>
              <a:cxnLst/>
              <a:rect r="r" b="b" t="t" l="l"/>
              <a:pathLst>
                <a:path h="3125476" w="5394198">
                  <a:moveTo>
                    <a:pt x="0" y="218821"/>
                  </a:moveTo>
                  <a:cubicBezTo>
                    <a:pt x="0" y="97917"/>
                    <a:pt x="97917" y="0"/>
                    <a:pt x="218821" y="0"/>
                  </a:cubicBezTo>
                  <a:lnTo>
                    <a:pt x="5175377" y="0"/>
                  </a:lnTo>
                  <a:cubicBezTo>
                    <a:pt x="5296154" y="0"/>
                    <a:pt x="5394198" y="97917"/>
                    <a:pt x="5394198" y="218821"/>
                  </a:cubicBezTo>
                  <a:lnTo>
                    <a:pt x="5394198" y="2906655"/>
                  </a:lnTo>
                  <a:cubicBezTo>
                    <a:pt x="5394198" y="3027432"/>
                    <a:pt x="5296281" y="3125476"/>
                    <a:pt x="5175377" y="3125476"/>
                  </a:cubicBezTo>
                  <a:lnTo>
                    <a:pt x="218821" y="3125476"/>
                  </a:lnTo>
                  <a:cubicBezTo>
                    <a:pt x="97917" y="3125349"/>
                    <a:pt x="0" y="3027432"/>
                    <a:pt x="0" y="2906655"/>
                  </a:cubicBezTo>
                  <a:close/>
                </a:path>
              </a:pathLst>
            </a:custGeom>
            <a:solidFill>
              <a:srgbClr val="FDEBD3"/>
            </a:solidFill>
            <a:ln w="38100" cap="sq">
              <a:solidFill>
                <a:srgbClr val="000000"/>
              </a:solidFill>
              <a:prstDash val="lgDash"/>
              <a:miter/>
            </a:ln>
          </p:spPr>
        </p:sp>
        <p:sp>
          <p:nvSpPr>
            <p:cNvPr name="TextBox 15" id="15"/>
            <p:cNvSpPr txBox="true"/>
            <p:nvPr/>
          </p:nvSpPr>
          <p:spPr>
            <a:xfrm>
              <a:off x="0" y="-19050"/>
              <a:ext cx="5394198" cy="3144450"/>
            </a:xfrm>
            <a:prstGeom prst="rect">
              <a:avLst/>
            </a:prstGeom>
          </p:spPr>
          <p:txBody>
            <a:bodyPr anchor="t" rtlCol="false" tIns="50800" lIns="50800" bIns="50800" rIns="50800"/>
            <a:lstStyle/>
            <a:p>
              <a:pPr algn="l">
                <a:lnSpc>
                  <a:spcPts val="2340"/>
                </a:lnSpc>
              </a:pPr>
            </a:p>
            <a:p>
              <a:pPr algn="l">
                <a:lnSpc>
                  <a:spcPts val="2340"/>
                </a:lnSpc>
              </a:pPr>
            </a:p>
            <a:p>
              <a:pPr algn="l">
                <a:lnSpc>
                  <a:spcPts val="2340"/>
                </a:lnSpc>
              </a:pPr>
            </a:p>
            <a:p>
              <a:pPr algn="l">
                <a:lnSpc>
                  <a:spcPts val="2340"/>
                </a:lnSpc>
              </a:pPr>
              <a:r>
                <a:rPr lang="en-US" sz="1950" b="true">
                  <a:solidFill>
                    <a:srgbClr val="1F3864"/>
                  </a:solidFill>
                  <a:latin typeface="Arial Bold"/>
                  <a:ea typeface="Arial Bold"/>
                  <a:cs typeface="Arial Bold"/>
                  <a:sym typeface="Arial Bold"/>
                </a:rPr>
                <a:t>                             </a:t>
              </a:r>
            </a:p>
            <a:p>
              <a:pPr algn="r">
                <a:lnSpc>
                  <a:spcPts val="2939"/>
                </a:lnSpc>
              </a:pPr>
              <a:r>
                <a:rPr lang="en-US" sz="2449" b="true">
                  <a:solidFill>
                    <a:srgbClr val="1F3864"/>
                  </a:solidFill>
                  <a:latin typeface="Arial Bold"/>
                  <a:ea typeface="Arial Bold"/>
                  <a:cs typeface="Arial Bold"/>
                  <a:sym typeface="Arial Bold"/>
                </a:rPr>
                <a:t>                     </a:t>
              </a:r>
              <a:r>
                <a:rPr lang="en-US" sz="2449" b="true">
                  <a:solidFill>
                    <a:srgbClr val="000000"/>
                  </a:solidFill>
                  <a:latin typeface="Arial Bold"/>
                  <a:ea typeface="Arial Bold"/>
                  <a:cs typeface="Arial Bold"/>
                  <a:sym typeface="Arial Bold"/>
                </a:rPr>
                <a:t>Consistency</a:t>
              </a:r>
            </a:p>
            <a:p>
              <a:pPr algn="r">
                <a:lnSpc>
                  <a:spcPts val="2070"/>
                </a:lnSpc>
              </a:pPr>
              <a:r>
                <a:rPr lang="en-US" sz="1725">
                  <a:solidFill>
                    <a:srgbClr val="000000"/>
                  </a:solidFill>
                  <a:latin typeface="Arial"/>
                  <a:ea typeface="Arial"/>
                  <a:cs typeface="Arial"/>
                  <a:sym typeface="Arial"/>
                </a:rPr>
                <a:t>Every capture gets a header/payload correlation and a BER estimate</a:t>
              </a:r>
            </a:p>
          </p:txBody>
        </p:sp>
      </p:grpSp>
      <p:grpSp>
        <p:nvGrpSpPr>
          <p:cNvPr name="Group 16" id="16"/>
          <p:cNvGrpSpPr/>
          <p:nvPr/>
        </p:nvGrpSpPr>
        <p:grpSpPr>
          <a:xfrm rot="0">
            <a:off x="9164300" y="6980053"/>
            <a:ext cx="4045648" cy="2344050"/>
            <a:chOff x="0" y="0"/>
            <a:chExt cx="5394198" cy="3125400"/>
          </a:xfrm>
        </p:grpSpPr>
        <p:sp>
          <p:nvSpPr>
            <p:cNvPr name="Freeform 17" id="17"/>
            <p:cNvSpPr/>
            <p:nvPr/>
          </p:nvSpPr>
          <p:spPr>
            <a:xfrm flipH="false" flipV="false" rot="0">
              <a:off x="0" y="0"/>
              <a:ext cx="5394198" cy="3125476"/>
            </a:xfrm>
            <a:custGeom>
              <a:avLst/>
              <a:gdLst/>
              <a:ahLst/>
              <a:cxnLst/>
              <a:rect r="r" b="b" t="t" l="l"/>
              <a:pathLst>
                <a:path h="3125476" w="5394198">
                  <a:moveTo>
                    <a:pt x="0" y="218821"/>
                  </a:moveTo>
                  <a:cubicBezTo>
                    <a:pt x="0" y="97917"/>
                    <a:pt x="97917" y="0"/>
                    <a:pt x="218821" y="0"/>
                  </a:cubicBezTo>
                  <a:lnTo>
                    <a:pt x="5175377" y="0"/>
                  </a:lnTo>
                  <a:cubicBezTo>
                    <a:pt x="5296154" y="0"/>
                    <a:pt x="5394198" y="97917"/>
                    <a:pt x="5394198" y="218821"/>
                  </a:cubicBezTo>
                  <a:lnTo>
                    <a:pt x="5394198" y="2906655"/>
                  </a:lnTo>
                  <a:cubicBezTo>
                    <a:pt x="5394198" y="3027432"/>
                    <a:pt x="5296281" y="3125476"/>
                    <a:pt x="5175377" y="3125476"/>
                  </a:cubicBezTo>
                  <a:lnTo>
                    <a:pt x="218821" y="3125476"/>
                  </a:lnTo>
                  <a:cubicBezTo>
                    <a:pt x="97917" y="3125349"/>
                    <a:pt x="0" y="3027432"/>
                    <a:pt x="0" y="2906655"/>
                  </a:cubicBezTo>
                  <a:close/>
                </a:path>
              </a:pathLst>
            </a:custGeom>
            <a:solidFill>
              <a:srgbClr val="E2F0D9"/>
            </a:solidFill>
            <a:ln w="38100" cap="sq">
              <a:solidFill>
                <a:srgbClr val="000000"/>
              </a:solidFill>
              <a:prstDash val="lgDash"/>
              <a:miter/>
            </a:ln>
          </p:spPr>
        </p:sp>
        <p:sp>
          <p:nvSpPr>
            <p:cNvPr name="TextBox 18" id="18"/>
            <p:cNvSpPr txBox="true"/>
            <p:nvPr/>
          </p:nvSpPr>
          <p:spPr>
            <a:xfrm>
              <a:off x="0" y="-19050"/>
              <a:ext cx="5394198" cy="3144450"/>
            </a:xfrm>
            <a:prstGeom prst="rect">
              <a:avLst/>
            </a:prstGeom>
          </p:spPr>
          <p:txBody>
            <a:bodyPr anchor="t" rtlCol="false" tIns="50800" lIns="50800" bIns="50800" rIns="50800"/>
            <a:lstStyle/>
            <a:p>
              <a:pPr algn="l">
                <a:lnSpc>
                  <a:spcPts val="2340"/>
                </a:lnSpc>
              </a:pPr>
            </a:p>
            <a:p>
              <a:pPr algn="l">
                <a:lnSpc>
                  <a:spcPts val="2340"/>
                </a:lnSpc>
              </a:pPr>
            </a:p>
            <a:p>
              <a:pPr algn="r">
                <a:lnSpc>
                  <a:spcPts val="2819"/>
                </a:lnSpc>
              </a:pPr>
              <a:r>
                <a:rPr lang="en-US" sz="2349" b="true">
                  <a:solidFill>
                    <a:srgbClr val="1F3864"/>
                  </a:solidFill>
                  <a:latin typeface="Arial Bold"/>
                  <a:ea typeface="Arial Bold"/>
                  <a:cs typeface="Arial Bold"/>
                  <a:sym typeface="Arial Bold"/>
                </a:rPr>
                <a:t>                                   </a:t>
              </a:r>
              <a:r>
                <a:rPr lang="en-US" sz="2349" b="true">
                  <a:solidFill>
                    <a:srgbClr val="000000"/>
                  </a:solidFill>
                  <a:latin typeface="Arial Bold"/>
                  <a:ea typeface="Arial Bold"/>
                  <a:cs typeface="Arial Bold"/>
                  <a:sym typeface="Arial Bold"/>
                </a:rPr>
                <a:t>Reusability</a:t>
              </a:r>
            </a:p>
            <a:p>
              <a:pPr algn="r">
                <a:lnSpc>
                  <a:spcPts val="2070"/>
                </a:lnSpc>
              </a:pPr>
              <a:r>
                <a:rPr lang="en-US" sz="1725">
                  <a:solidFill>
                    <a:srgbClr val="000000"/>
                  </a:solidFill>
                  <a:latin typeface="Arial"/>
                  <a:ea typeface="Arial"/>
                  <a:cs typeface="Arial"/>
                  <a:sym typeface="Arial"/>
                </a:rPr>
                <a:t>Modular decoder bank extends to new modulation/FEC schemes without a rebuild</a:t>
              </a:r>
            </a:p>
          </p:txBody>
        </p:sp>
      </p:grpSp>
      <p:grpSp>
        <p:nvGrpSpPr>
          <p:cNvPr name="Group 19" id="19"/>
          <p:cNvGrpSpPr/>
          <p:nvPr/>
        </p:nvGrpSpPr>
        <p:grpSpPr>
          <a:xfrm rot="0">
            <a:off x="13648099" y="6980053"/>
            <a:ext cx="4045648" cy="2344050"/>
            <a:chOff x="0" y="0"/>
            <a:chExt cx="5394198" cy="3125400"/>
          </a:xfrm>
        </p:grpSpPr>
        <p:sp>
          <p:nvSpPr>
            <p:cNvPr name="Freeform 20" id="20"/>
            <p:cNvSpPr/>
            <p:nvPr/>
          </p:nvSpPr>
          <p:spPr>
            <a:xfrm flipH="false" flipV="false" rot="0">
              <a:off x="0" y="0"/>
              <a:ext cx="5394198" cy="3125476"/>
            </a:xfrm>
            <a:custGeom>
              <a:avLst/>
              <a:gdLst/>
              <a:ahLst/>
              <a:cxnLst/>
              <a:rect r="r" b="b" t="t" l="l"/>
              <a:pathLst>
                <a:path h="3125476" w="5394198">
                  <a:moveTo>
                    <a:pt x="0" y="218821"/>
                  </a:moveTo>
                  <a:cubicBezTo>
                    <a:pt x="0" y="97917"/>
                    <a:pt x="97917" y="0"/>
                    <a:pt x="218821" y="0"/>
                  </a:cubicBezTo>
                  <a:lnTo>
                    <a:pt x="5175377" y="0"/>
                  </a:lnTo>
                  <a:cubicBezTo>
                    <a:pt x="5296154" y="0"/>
                    <a:pt x="5394198" y="97917"/>
                    <a:pt x="5394198" y="218821"/>
                  </a:cubicBezTo>
                  <a:lnTo>
                    <a:pt x="5394198" y="2906655"/>
                  </a:lnTo>
                  <a:cubicBezTo>
                    <a:pt x="5394198" y="3027432"/>
                    <a:pt x="5296281" y="3125476"/>
                    <a:pt x="5175377" y="3125476"/>
                  </a:cubicBezTo>
                  <a:lnTo>
                    <a:pt x="218821" y="3125476"/>
                  </a:lnTo>
                  <a:cubicBezTo>
                    <a:pt x="97917" y="3125349"/>
                    <a:pt x="0" y="3027432"/>
                    <a:pt x="0" y="2906655"/>
                  </a:cubicBezTo>
                  <a:close/>
                </a:path>
              </a:pathLst>
            </a:custGeom>
            <a:solidFill>
              <a:srgbClr val="DCE6F5"/>
            </a:solidFill>
            <a:ln w="38100" cap="sq">
              <a:solidFill>
                <a:srgbClr val="000000"/>
              </a:solidFill>
              <a:prstDash val="lgDash"/>
              <a:miter/>
            </a:ln>
          </p:spPr>
        </p:sp>
        <p:sp>
          <p:nvSpPr>
            <p:cNvPr name="TextBox 21" id="21"/>
            <p:cNvSpPr txBox="true"/>
            <p:nvPr/>
          </p:nvSpPr>
          <p:spPr>
            <a:xfrm>
              <a:off x="0" y="-19050"/>
              <a:ext cx="5394198" cy="3144450"/>
            </a:xfrm>
            <a:prstGeom prst="rect">
              <a:avLst/>
            </a:prstGeom>
          </p:spPr>
          <p:txBody>
            <a:bodyPr anchor="t" rtlCol="false" tIns="50800" lIns="50800" bIns="50800" rIns="50800"/>
            <a:lstStyle/>
            <a:p>
              <a:pPr algn="l">
                <a:lnSpc>
                  <a:spcPts val="2340"/>
                </a:lnSpc>
              </a:pPr>
            </a:p>
            <a:p>
              <a:pPr algn="l">
                <a:lnSpc>
                  <a:spcPts val="2340"/>
                </a:lnSpc>
              </a:pPr>
            </a:p>
            <a:p>
              <a:pPr algn="l">
                <a:lnSpc>
                  <a:spcPts val="2340"/>
                </a:lnSpc>
              </a:pPr>
            </a:p>
            <a:p>
              <a:pPr algn="r">
                <a:lnSpc>
                  <a:spcPts val="2819"/>
                </a:lnSpc>
              </a:pPr>
              <a:r>
                <a:rPr lang="en-US" sz="2349" b="true">
                  <a:solidFill>
                    <a:srgbClr val="000000"/>
                  </a:solidFill>
                  <a:latin typeface="Arial Bold"/>
                  <a:ea typeface="Arial Bold"/>
                  <a:cs typeface="Arial Bold"/>
                  <a:sym typeface="Arial Bold"/>
                </a:rPr>
                <a:t>                         Applicability</a:t>
              </a:r>
            </a:p>
            <a:p>
              <a:pPr algn="r">
                <a:lnSpc>
                  <a:spcPts val="2070"/>
                </a:lnSpc>
              </a:pPr>
              <a:r>
                <a:rPr lang="en-US" sz="1725">
                  <a:solidFill>
                    <a:srgbClr val="000000"/>
                  </a:solidFill>
                  <a:latin typeface="Arial"/>
                  <a:ea typeface="Arial"/>
                  <a:cs typeface="Arial"/>
                  <a:sym typeface="Arial"/>
                </a:rPr>
                <a:t>Satellite-link verification, spectrum-interference monitoring,general</a:t>
              </a:r>
            </a:p>
            <a:p>
              <a:pPr algn="r">
                <a:lnSpc>
                  <a:spcPts val="2070"/>
                </a:lnSpc>
              </a:pPr>
              <a:r>
                <a:rPr lang="en-US" sz="1725">
                  <a:solidFill>
                    <a:srgbClr val="000000"/>
                  </a:solidFill>
                  <a:latin typeface="Arial"/>
                  <a:ea typeface="Arial"/>
                  <a:cs typeface="Arial"/>
                  <a:sym typeface="Arial"/>
                </a:rPr>
                <a:t>RF/SIGINT triage</a:t>
              </a:r>
            </a:p>
          </p:txBody>
        </p:sp>
      </p:grpSp>
      <p:grpSp>
        <p:nvGrpSpPr>
          <p:cNvPr name="Group 22" id="22"/>
          <p:cNvGrpSpPr/>
          <p:nvPr/>
        </p:nvGrpSpPr>
        <p:grpSpPr>
          <a:xfrm rot="0">
            <a:off x="6972300" y="9534525"/>
            <a:ext cx="4806001" cy="547688"/>
            <a:chOff x="0" y="0"/>
            <a:chExt cx="6408001" cy="730250"/>
          </a:xfrm>
        </p:grpSpPr>
        <p:sp>
          <p:nvSpPr>
            <p:cNvPr name="Freeform 23" id="23"/>
            <p:cNvSpPr/>
            <p:nvPr/>
          </p:nvSpPr>
          <p:spPr>
            <a:xfrm flipH="false" flipV="false" rot="0">
              <a:off x="0" y="0"/>
              <a:ext cx="6408000" cy="730250"/>
            </a:xfrm>
            <a:custGeom>
              <a:avLst/>
              <a:gdLst/>
              <a:ahLst/>
              <a:cxnLst/>
              <a:rect r="r" b="b" t="t" l="l"/>
              <a:pathLst>
                <a:path h="730250" w="6408000">
                  <a:moveTo>
                    <a:pt x="0" y="0"/>
                  </a:moveTo>
                  <a:lnTo>
                    <a:pt x="6408000" y="0"/>
                  </a:lnTo>
                  <a:lnTo>
                    <a:pt x="6408000" y="730250"/>
                  </a:lnTo>
                  <a:lnTo>
                    <a:pt x="0" y="730250"/>
                  </a:lnTo>
                  <a:close/>
                </a:path>
              </a:pathLst>
            </a:custGeom>
            <a:blipFill>
              <a:blip r:embed="rId3">
                <a:alphaModFix amt="0"/>
              </a:blip>
              <a:stretch>
                <a:fillRect l="0" t="-120982" r="0" b="-120982"/>
              </a:stretch>
            </a:blipFill>
          </p:spPr>
        </p:sp>
        <p:sp>
          <p:nvSpPr>
            <p:cNvPr name="TextBox 24" id="24"/>
            <p:cNvSpPr txBox="true"/>
            <p:nvPr/>
          </p:nvSpPr>
          <p:spPr>
            <a:xfrm>
              <a:off x="0" y="-38100"/>
              <a:ext cx="6408001" cy="768350"/>
            </a:xfrm>
            <a:prstGeom prst="rect">
              <a:avLst/>
            </a:prstGeom>
          </p:spPr>
          <p:txBody>
            <a:bodyPr anchor="ctr" rtlCol="false" tIns="0" lIns="0" bIns="0" rIns="0"/>
            <a:lstStyle/>
            <a:p>
              <a:pPr algn="ctr">
                <a:lnSpc>
                  <a:spcPts val="2160"/>
                </a:lnSpc>
              </a:pPr>
              <a:r>
                <a:rPr lang="en-US" sz="1800">
                  <a:solidFill>
                    <a:srgbClr val="FFFFFF"/>
                  </a:solidFill>
                  <a:latin typeface="Trade Gothic Condensed"/>
                  <a:ea typeface="Trade Gothic Condensed"/>
                  <a:cs typeface="Trade Gothic Condensed"/>
                  <a:sym typeface="Trade Gothic Condensed"/>
                </a:rPr>
                <a:t>@SIH Idea submission</a:t>
              </a:r>
            </a:p>
          </p:txBody>
        </p:sp>
      </p:grpSp>
      <p:grpSp>
        <p:nvGrpSpPr>
          <p:cNvPr name="Group 25" id="25"/>
          <p:cNvGrpSpPr/>
          <p:nvPr/>
        </p:nvGrpSpPr>
        <p:grpSpPr>
          <a:xfrm rot="0">
            <a:off x="14670129" y="2248"/>
            <a:ext cx="3374774" cy="1593504"/>
            <a:chOff x="0" y="0"/>
            <a:chExt cx="4499699" cy="2124672"/>
          </a:xfrm>
        </p:grpSpPr>
        <p:sp>
          <p:nvSpPr>
            <p:cNvPr name="Freeform 26" id="26"/>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4"/>
              <a:stretch>
                <a:fillRect l="0" t="0" r="0" b="1"/>
              </a:stretch>
            </a:blipFill>
          </p:spPr>
        </p:sp>
      </p:grpSp>
      <p:sp>
        <p:nvSpPr>
          <p:cNvPr name="Freeform 27" id="27"/>
          <p:cNvSpPr/>
          <p:nvPr/>
        </p:nvSpPr>
        <p:spPr>
          <a:xfrm flipH="false" flipV="false" rot="0">
            <a:off x="0" y="0"/>
            <a:ext cx="1914606" cy="1914606"/>
          </a:xfrm>
          <a:custGeom>
            <a:avLst/>
            <a:gdLst/>
            <a:ahLst/>
            <a:cxnLst/>
            <a:rect r="r" b="b" t="t" l="l"/>
            <a:pathLst>
              <a:path h="1914606" w="1914606">
                <a:moveTo>
                  <a:pt x="0" y="0"/>
                </a:moveTo>
                <a:lnTo>
                  <a:pt x="1914606" y="0"/>
                </a:lnTo>
                <a:lnTo>
                  <a:pt x="1914606" y="1914606"/>
                </a:lnTo>
                <a:lnTo>
                  <a:pt x="0" y="1914606"/>
                </a:lnTo>
                <a:lnTo>
                  <a:pt x="0" y="0"/>
                </a:lnTo>
                <a:close/>
              </a:path>
            </a:pathLst>
          </a:custGeom>
          <a:blipFill>
            <a:blip r:embed="rId5"/>
            <a:stretch>
              <a:fillRect l="0" t="0" r="0" b="0"/>
            </a:stretch>
          </a:blipFill>
        </p:spPr>
      </p:sp>
      <p:sp>
        <p:nvSpPr>
          <p:cNvPr name="Freeform 28" id="28"/>
          <p:cNvSpPr/>
          <p:nvPr/>
        </p:nvSpPr>
        <p:spPr>
          <a:xfrm flipH="false" flipV="false" rot="0">
            <a:off x="149747" y="59515"/>
            <a:ext cx="1620343" cy="1440838"/>
          </a:xfrm>
          <a:custGeom>
            <a:avLst/>
            <a:gdLst/>
            <a:ahLst/>
            <a:cxnLst/>
            <a:rect r="r" b="b" t="t" l="l"/>
            <a:pathLst>
              <a:path h="1440838" w="1620343">
                <a:moveTo>
                  <a:pt x="0" y="0"/>
                </a:moveTo>
                <a:lnTo>
                  <a:pt x="1620343" y="0"/>
                </a:lnTo>
                <a:lnTo>
                  <a:pt x="1620343" y="1440838"/>
                </a:lnTo>
                <a:lnTo>
                  <a:pt x="0" y="1440838"/>
                </a:lnTo>
                <a:lnTo>
                  <a:pt x="0" y="0"/>
                </a:lnTo>
                <a:close/>
              </a:path>
            </a:pathLst>
          </a:custGeom>
          <a:blipFill>
            <a:blip r:embed="rId6"/>
            <a:stretch>
              <a:fillRect l="0" t="0" r="0" b="0"/>
            </a:stretch>
          </a:blipFill>
        </p:spPr>
      </p:sp>
      <p:sp>
        <p:nvSpPr>
          <p:cNvPr name="Freeform 29" id="29"/>
          <p:cNvSpPr/>
          <p:nvPr/>
        </p:nvSpPr>
        <p:spPr>
          <a:xfrm flipH="false" flipV="false" rot="0">
            <a:off x="479959" y="419484"/>
            <a:ext cx="1020394" cy="750656"/>
          </a:xfrm>
          <a:custGeom>
            <a:avLst/>
            <a:gdLst/>
            <a:ahLst/>
            <a:cxnLst/>
            <a:rect r="r" b="b" t="t" l="l"/>
            <a:pathLst>
              <a:path h="750656" w="1020394">
                <a:moveTo>
                  <a:pt x="0" y="0"/>
                </a:moveTo>
                <a:lnTo>
                  <a:pt x="1020394" y="0"/>
                </a:lnTo>
                <a:lnTo>
                  <a:pt x="1020394" y="750657"/>
                </a:lnTo>
                <a:lnTo>
                  <a:pt x="0" y="750657"/>
                </a:lnTo>
                <a:lnTo>
                  <a:pt x="0" y="0"/>
                </a:lnTo>
                <a:close/>
              </a:path>
            </a:pathLst>
          </a:custGeom>
          <a:blipFill>
            <a:blip r:embed="rId7"/>
            <a:stretch>
              <a:fillRect l="0" t="0" r="0" b="0"/>
            </a:stretch>
          </a:blipFill>
        </p:spPr>
      </p:sp>
      <p:sp>
        <p:nvSpPr>
          <p:cNvPr name="Freeform 30" id="30"/>
          <p:cNvSpPr/>
          <p:nvPr/>
        </p:nvSpPr>
        <p:spPr>
          <a:xfrm flipH="false" flipV="false" rot="0">
            <a:off x="479959" y="7200900"/>
            <a:ext cx="846261" cy="1106224"/>
          </a:xfrm>
          <a:custGeom>
            <a:avLst/>
            <a:gdLst/>
            <a:ahLst/>
            <a:cxnLst/>
            <a:rect r="r" b="b" t="t" l="l"/>
            <a:pathLst>
              <a:path h="1106224" w="846261">
                <a:moveTo>
                  <a:pt x="0" y="0"/>
                </a:moveTo>
                <a:lnTo>
                  <a:pt x="846262" y="0"/>
                </a:lnTo>
                <a:lnTo>
                  <a:pt x="846262" y="1106224"/>
                </a:lnTo>
                <a:lnTo>
                  <a:pt x="0" y="110622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1" id="31"/>
          <p:cNvSpPr/>
          <p:nvPr/>
        </p:nvSpPr>
        <p:spPr>
          <a:xfrm flipH="false" flipV="false" rot="0">
            <a:off x="13781449" y="7095364"/>
            <a:ext cx="1084070" cy="1171968"/>
          </a:xfrm>
          <a:custGeom>
            <a:avLst/>
            <a:gdLst/>
            <a:ahLst/>
            <a:cxnLst/>
            <a:rect r="r" b="b" t="t" l="l"/>
            <a:pathLst>
              <a:path h="1171968" w="1084070">
                <a:moveTo>
                  <a:pt x="0" y="0"/>
                </a:moveTo>
                <a:lnTo>
                  <a:pt x="1084070" y="0"/>
                </a:lnTo>
                <a:lnTo>
                  <a:pt x="1084070" y="1171968"/>
                </a:lnTo>
                <a:lnTo>
                  <a:pt x="0" y="117196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2" id="32"/>
          <p:cNvSpPr/>
          <p:nvPr/>
        </p:nvSpPr>
        <p:spPr>
          <a:xfrm flipH="false" flipV="false" rot="0">
            <a:off x="4980298" y="7128236"/>
            <a:ext cx="1288403" cy="1178888"/>
          </a:xfrm>
          <a:custGeom>
            <a:avLst/>
            <a:gdLst/>
            <a:ahLst/>
            <a:cxnLst/>
            <a:rect r="r" b="b" t="t" l="l"/>
            <a:pathLst>
              <a:path h="1178888" w="1288403">
                <a:moveTo>
                  <a:pt x="0" y="0"/>
                </a:moveTo>
                <a:lnTo>
                  <a:pt x="1288402" y="0"/>
                </a:lnTo>
                <a:lnTo>
                  <a:pt x="1288402" y="1178888"/>
                </a:lnTo>
                <a:lnTo>
                  <a:pt x="0" y="117888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3" id="33"/>
          <p:cNvSpPr/>
          <p:nvPr/>
        </p:nvSpPr>
        <p:spPr>
          <a:xfrm flipH="false" flipV="false" rot="0">
            <a:off x="9376176" y="7128236"/>
            <a:ext cx="1164446" cy="1106224"/>
          </a:xfrm>
          <a:custGeom>
            <a:avLst/>
            <a:gdLst/>
            <a:ahLst/>
            <a:cxnLst/>
            <a:rect r="r" b="b" t="t" l="l"/>
            <a:pathLst>
              <a:path h="1106224" w="1164446">
                <a:moveTo>
                  <a:pt x="0" y="0"/>
                </a:moveTo>
                <a:lnTo>
                  <a:pt x="1164447" y="0"/>
                </a:lnTo>
                <a:lnTo>
                  <a:pt x="1164447" y="1106224"/>
                </a:lnTo>
                <a:lnTo>
                  <a:pt x="0" y="110622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34" id="34"/>
          <p:cNvGrpSpPr/>
          <p:nvPr/>
        </p:nvGrpSpPr>
        <p:grpSpPr>
          <a:xfrm rot="0">
            <a:off x="9865500" y="3179698"/>
            <a:ext cx="2149422" cy="1426554"/>
            <a:chOff x="0" y="0"/>
            <a:chExt cx="566103" cy="375718"/>
          </a:xfrm>
        </p:grpSpPr>
        <p:sp>
          <p:nvSpPr>
            <p:cNvPr name="Freeform 35" id="35"/>
            <p:cNvSpPr/>
            <p:nvPr/>
          </p:nvSpPr>
          <p:spPr>
            <a:xfrm flipH="false" flipV="false" rot="0">
              <a:off x="0" y="0"/>
              <a:ext cx="566103" cy="375718"/>
            </a:xfrm>
            <a:custGeom>
              <a:avLst/>
              <a:gdLst/>
              <a:ahLst/>
              <a:cxnLst/>
              <a:rect r="r" b="b" t="t" l="l"/>
              <a:pathLst>
                <a:path h="375718" w="566103">
                  <a:moveTo>
                    <a:pt x="61232" y="0"/>
                  </a:moveTo>
                  <a:lnTo>
                    <a:pt x="504871" y="0"/>
                  </a:lnTo>
                  <a:cubicBezTo>
                    <a:pt x="521111" y="0"/>
                    <a:pt x="536685" y="6451"/>
                    <a:pt x="548169" y="17934"/>
                  </a:cubicBezTo>
                  <a:cubicBezTo>
                    <a:pt x="559652" y="29417"/>
                    <a:pt x="566103" y="44992"/>
                    <a:pt x="566103" y="61232"/>
                  </a:cubicBezTo>
                  <a:lnTo>
                    <a:pt x="566103" y="314486"/>
                  </a:lnTo>
                  <a:cubicBezTo>
                    <a:pt x="566103" y="330726"/>
                    <a:pt x="559652" y="346300"/>
                    <a:pt x="548169" y="357784"/>
                  </a:cubicBezTo>
                  <a:cubicBezTo>
                    <a:pt x="536685" y="369267"/>
                    <a:pt x="521111" y="375718"/>
                    <a:pt x="504871" y="375718"/>
                  </a:cubicBezTo>
                  <a:lnTo>
                    <a:pt x="61232" y="375718"/>
                  </a:lnTo>
                  <a:cubicBezTo>
                    <a:pt x="44992" y="375718"/>
                    <a:pt x="29417" y="369267"/>
                    <a:pt x="17934" y="357784"/>
                  </a:cubicBezTo>
                  <a:cubicBezTo>
                    <a:pt x="6451" y="346300"/>
                    <a:pt x="0" y="330726"/>
                    <a:pt x="0" y="314486"/>
                  </a:cubicBezTo>
                  <a:lnTo>
                    <a:pt x="0" y="61232"/>
                  </a:lnTo>
                  <a:cubicBezTo>
                    <a:pt x="0" y="44992"/>
                    <a:pt x="6451" y="29417"/>
                    <a:pt x="17934" y="17934"/>
                  </a:cubicBezTo>
                  <a:cubicBezTo>
                    <a:pt x="29417" y="6451"/>
                    <a:pt x="44992" y="0"/>
                    <a:pt x="61232" y="0"/>
                  </a:cubicBezTo>
                  <a:close/>
                </a:path>
              </a:pathLst>
            </a:custGeom>
            <a:gradFill rotWithShape="true">
              <a:gsLst>
                <a:gs pos="0">
                  <a:srgbClr val="7AF6EE">
                    <a:alpha val="100000"/>
                  </a:srgbClr>
                </a:gs>
                <a:gs pos="100000">
                  <a:srgbClr val="EAFFFE">
                    <a:alpha val="100000"/>
                  </a:srgbClr>
                </a:gs>
              </a:gsLst>
              <a:lin ang="5400000"/>
            </a:gradFill>
          </p:spPr>
        </p:sp>
        <p:sp>
          <p:nvSpPr>
            <p:cNvPr name="TextBox 36" id="36"/>
            <p:cNvSpPr txBox="true"/>
            <p:nvPr/>
          </p:nvSpPr>
          <p:spPr>
            <a:xfrm>
              <a:off x="0" y="-19050"/>
              <a:ext cx="566103" cy="394768"/>
            </a:xfrm>
            <a:prstGeom prst="rect">
              <a:avLst/>
            </a:prstGeom>
          </p:spPr>
          <p:txBody>
            <a:bodyPr anchor="ctr" rtlCol="false" tIns="50800" lIns="50800" bIns="50800" rIns="50800"/>
            <a:lstStyle/>
            <a:p>
              <a:pPr algn="ctr">
                <a:lnSpc>
                  <a:spcPts val="2759"/>
                </a:lnSpc>
              </a:pPr>
            </a:p>
          </p:txBody>
        </p:sp>
      </p:grpSp>
      <p:grpSp>
        <p:nvGrpSpPr>
          <p:cNvPr name="Group 37" id="37"/>
          <p:cNvGrpSpPr/>
          <p:nvPr/>
        </p:nvGrpSpPr>
        <p:grpSpPr>
          <a:xfrm rot="0">
            <a:off x="12572351" y="3191973"/>
            <a:ext cx="2151496" cy="1426554"/>
            <a:chOff x="0" y="0"/>
            <a:chExt cx="566649" cy="375718"/>
          </a:xfrm>
        </p:grpSpPr>
        <p:sp>
          <p:nvSpPr>
            <p:cNvPr name="Freeform 38" id="38"/>
            <p:cNvSpPr/>
            <p:nvPr/>
          </p:nvSpPr>
          <p:spPr>
            <a:xfrm flipH="false" flipV="false" rot="0">
              <a:off x="0" y="0"/>
              <a:ext cx="566649" cy="375718"/>
            </a:xfrm>
            <a:custGeom>
              <a:avLst/>
              <a:gdLst/>
              <a:ahLst/>
              <a:cxnLst/>
              <a:rect r="r" b="b" t="t" l="l"/>
              <a:pathLst>
                <a:path h="375718" w="566649">
                  <a:moveTo>
                    <a:pt x="61173" y="0"/>
                  </a:moveTo>
                  <a:lnTo>
                    <a:pt x="505476" y="0"/>
                  </a:lnTo>
                  <a:cubicBezTo>
                    <a:pt x="521700" y="0"/>
                    <a:pt x="537260" y="6445"/>
                    <a:pt x="548732" y="17917"/>
                  </a:cubicBezTo>
                  <a:cubicBezTo>
                    <a:pt x="560204" y="29389"/>
                    <a:pt x="566649" y="44949"/>
                    <a:pt x="566649" y="61173"/>
                  </a:cubicBezTo>
                  <a:lnTo>
                    <a:pt x="566649" y="314545"/>
                  </a:lnTo>
                  <a:cubicBezTo>
                    <a:pt x="566649" y="348330"/>
                    <a:pt x="539261" y="375718"/>
                    <a:pt x="505476" y="375718"/>
                  </a:cubicBezTo>
                  <a:lnTo>
                    <a:pt x="61173" y="375718"/>
                  </a:lnTo>
                  <a:cubicBezTo>
                    <a:pt x="27388" y="375718"/>
                    <a:pt x="0" y="348330"/>
                    <a:pt x="0" y="314545"/>
                  </a:cubicBezTo>
                  <a:lnTo>
                    <a:pt x="0" y="61173"/>
                  </a:lnTo>
                  <a:cubicBezTo>
                    <a:pt x="0" y="27388"/>
                    <a:pt x="27388" y="0"/>
                    <a:pt x="61173" y="0"/>
                  </a:cubicBezTo>
                  <a:close/>
                </a:path>
              </a:pathLst>
            </a:custGeom>
            <a:gradFill rotWithShape="true">
              <a:gsLst>
                <a:gs pos="0">
                  <a:srgbClr val="7AF6EE">
                    <a:alpha val="100000"/>
                  </a:srgbClr>
                </a:gs>
                <a:gs pos="100000">
                  <a:srgbClr val="EAFFFE">
                    <a:alpha val="100000"/>
                  </a:srgbClr>
                </a:gs>
              </a:gsLst>
              <a:lin ang="5400000"/>
            </a:gradFill>
          </p:spPr>
        </p:sp>
        <p:sp>
          <p:nvSpPr>
            <p:cNvPr name="TextBox 39" id="39"/>
            <p:cNvSpPr txBox="true"/>
            <p:nvPr/>
          </p:nvSpPr>
          <p:spPr>
            <a:xfrm>
              <a:off x="0" y="-19050"/>
              <a:ext cx="566649" cy="394768"/>
            </a:xfrm>
            <a:prstGeom prst="rect">
              <a:avLst/>
            </a:prstGeom>
          </p:spPr>
          <p:txBody>
            <a:bodyPr anchor="ctr" rtlCol="false" tIns="50800" lIns="50800" bIns="50800" rIns="50800"/>
            <a:lstStyle/>
            <a:p>
              <a:pPr algn="ctr">
                <a:lnSpc>
                  <a:spcPts val="2759"/>
                </a:lnSpc>
              </a:pPr>
            </a:p>
          </p:txBody>
        </p:sp>
      </p:grpSp>
      <p:grpSp>
        <p:nvGrpSpPr>
          <p:cNvPr name="Group 40" id="40"/>
          <p:cNvGrpSpPr/>
          <p:nvPr/>
        </p:nvGrpSpPr>
        <p:grpSpPr>
          <a:xfrm rot="0">
            <a:off x="15307067" y="3191973"/>
            <a:ext cx="1952233" cy="1426554"/>
            <a:chOff x="0" y="0"/>
            <a:chExt cx="514168" cy="375718"/>
          </a:xfrm>
        </p:grpSpPr>
        <p:sp>
          <p:nvSpPr>
            <p:cNvPr name="Freeform 41" id="41"/>
            <p:cNvSpPr/>
            <p:nvPr/>
          </p:nvSpPr>
          <p:spPr>
            <a:xfrm flipH="false" flipV="false" rot="0">
              <a:off x="0" y="0"/>
              <a:ext cx="514168" cy="375718"/>
            </a:xfrm>
            <a:custGeom>
              <a:avLst/>
              <a:gdLst/>
              <a:ahLst/>
              <a:cxnLst/>
              <a:rect r="r" b="b" t="t" l="l"/>
              <a:pathLst>
                <a:path h="375718" w="514168">
                  <a:moveTo>
                    <a:pt x="67416" y="0"/>
                  </a:moveTo>
                  <a:lnTo>
                    <a:pt x="446752" y="0"/>
                  </a:lnTo>
                  <a:cubicBezTo>
                    <a:pt x="483985" y="0"/>
                    <a:pt x="514168" y="30183"/>
                    <a:pt x="514168" y="67416"/>
                  </a:cubicBezTo>
                  <a:lnTo>
                    <a:pt x="514168" y="308301"/>
                  </a:lnTo>
                  <a:cubicBezTo>
                    <a:pt x="514168" y="326181"/>
                    <a:pt x="507066" y="343329"/>
                    <a:pt x="494423" y="355972"/>
                  </a:cubicBezTo>
                  <a:cubicBezTo>
                    <a:pt x="481780" y="368615"/>
                    <a:pt x="464632" y="375718"/>
                    <a:pt x="446752" y="375718"/>
                  </a:cubicBezTo>
                  <a:lnTo>
                    <a:pt x="67416" y="375718"/>
                  </a:lnTo>
                  <a:cubicBezTo>
                    <a:pt x="49536" y="375718"/>
                    <a:pt x="32389" y="368615"/>
                    <a:pt x="19746" y="355972"/>
                  </a:cubicBezTo>
                  <a:cubicBezTo>
                    <a:pt x="7103" y="343329"/>
                    <a:pt x="0" y="326181"/>
                    <a:pt x="0" y="308301"/>
                  </a:cubicBezTo>
                  <a:lnTo>
                    <a:pt x="0" y="67416"/>
                  </a:lnTo>
                  <a:cubicBezTo>
                    <a:pt x="0" y="49536"/>
                    <a:pt x="7103" y="32389"/>
                    <a:pt x="19746" y="19746"/>
                  </a:cubicBezTo>
                  <a:cubicBezTo>
                    <a:pt x="32389" y="7103"/>
                    <a:pt x="49536" y="0"/>
                    <a:pt x="67416" y="0"/>
                  </a:cubicBezTo>
                  <a:close/>
                </a:path>
              </a:pathLst>
            </a:custGeom>
            <a:gradFill rotWithShape="true">
              <a:gsLst>
                <a:gs pos="0">
                  <a:srgbClr val="7AF6EE">
                    <a:alpha val="100000"/>
                  </a:srgbClr>
                </a:gs>
                <a:gs pos="100000">
                  <a:srgbClr val="EAFFFE">
                    <a:alpha val="100000"/>
                  </a:srgbClr>
                </a:gs>
              </a:gsLst>
              <a:lin ang="5400000"/>
            </a:gradFill>
          </p:spPr>
        </p:sp>
        <p:sp>
          <p:nvSpPr>
            <p:cNvPr name="TextBox 42" id="42"/>
            <p:cNvSpPr txBox="true"/>
            <p:nvPr/>
          </p:nvSpPr>
          <p:spPr>
            <a:xfrm>
              <a:off x="0" y="-19050"/>
              <a:ext cx="514168" cy="394768"/>
            </a:xfrm>
            <a:prstGeom prst="rect">
              <a:avLst/>
            </a:prstGeom>
          </p:spPr>
          <p:txBody>
            <a:bodyPr anchor="ctr" rtlCol="false" tIns="50800" lIns="50800" bIns="50800" rIns="50800"/>
            <a:lstStyle/>
            <a:p>
              <a:pPr algn="ctr">
                <a:lnSpc>
                  <a:spcPts val="2759"/>
                </a:lnSpc>
              </a:pPr>
            </a:p>
          </p:txBody>
        </p:sp>
      </p:grpSp>
      <p:grpSp>
        <p:nvGrpSpPr>
          <p:cNvPr name="Group 43" id="43"/>
          <p:cNvGrpSpPr/>
          <p:nvPr/>
        </p:nvGrpSpPr>
        <p:grpSpPr>
          <a:xfrm rot="0">
            <a:off x="9865500" y="5051446"/>
            <a:ext cx="7393800" cy="1818601"/>
            <a:chOff x="0" y="0"/>
            <a:chExt cx="1947338" cy="478973"/>
          </a:xfrm>
        </p:grpSpPr>
        <p:sp>
          <p:nvSpPr>
            <p:cNvPr name="Freeform 44" id="44"/>
            <p:cNvSpPr/>
            <p:nvPr/>
          </p:nvSpPr>
          <p:spPr>
            <a:xfrm flipH="false" flipV="false" rot="0">
              <a:off x="0" y="0"/>
              <a:ext cx="1947338" cy="478973"/>
            </a:xfrm>
            <a:custGeom>
              <a:avLst/>
              <a:gdLst/>
              <a:ahLst/>
              <a:cxnLst/>
              <a:rect r="r" b="b" t="t" l="l"/>
              <a:pathLst>
                <a:path h="478973" w="1947338">
                  <a:moveTo>
                    <a:pt x="17800" y="0"/>
                  </a:moveTo>
                  <a:lnTo>
                    <a:pt x="1929538" y="0"/>
                  </a:lnTo>
                  <a:cubicBezTo>
                    <a:pt x="1934259" y="0"/>
                    <a:pt x="1938787" y="1875"/>
                    <a:pt x="1942125" y="5214"/>
                  </a:cubicBezTo>
                  <a:cubicBezTo>
                    <a:pt x="1945463" y="8552"/>
                    <a:pt x="1947338" y="13079"/>
                    <a:pt x="1947338" y="17800"/>
                  </a:cubicBezTo>
                  <a:lnTo>
                    <a:pt x="1947338" y="461173"/>
                  </a:lnTo>
                  <a:cubicBezTo>
                    <a:pt x="1947338" y="471004"/>
                    <a:pt x="1939369" y="478973"/>
                    <a:pt x="1929538" y="478973"/>
                  </a:cubicBezTo>
                  <a:lnTo>
                    <a:pt x="17800" y="478973"/>
                  </a:lnTo>
                  <a:cubicBezTo>
                    <a:pt x="13079" y="478973"/>
                    <a:pt x="8552" y="477098"/>
                    <a:pt x="5214" y="473760"/>
                  </a:cubicBezTo>
                  <a:cubicBezTo>
                    <a:pt x="1875" y="470421"/>
                    <a:pt x="0" y="465894"/>
                    <a:pt x="0" y="461173"/>
                  </a:cubicBezTo>
                  <a:lnTo>
                    <a:pt x="0" y="17800"/>
                  </a:lnTo>
                  <a:cubicBezTo>
                    <a:pt x="0" y="7970"/>
                    <a:pt x="7970" y="0"/>
                    <a:pt x="17800" y="0"/>
                  </a:cubicBezTo>
                  <a:close/>
                </a:path>
              </a:pathLst>
            </a:custGeom>
            <a:gradFill rotWithShape="true">
              <a:gsLst>
                <a:gs pos="0">
                  <a:srgbClr val="7AF6EE">
                    <a:alpha val="100000"/>
                  </a:srgbClr>
                </a:gs>
                <a:gs pos="100000">
                  <a:srgbClr val="EAFFFE">
                    <a:alpha val="100000"/>
                  </a:srgbClr>
                </a:gs>
              </a:gsLst>
              <a:lin ang="5400000"/>
            </a:gradFill>
          </p:spPr>
        </p:sp>
        <p:sp>
          <p:nvSpPr>
            <p:cNvPr name="TextBox 45" id="45"/>
            <p:cNvSpPr txBox="true"/>
            <p:nvPr/>
          </p:nvSpPr>
          <p:spPr>
            <a:xfrm>
              <a:off x="0" y="-19050"/>
              <a:ext cx="1947338" cy="498023"/>
            </a:xfrm>
            <a:prstGeom prst="rect">
              <a:avLst/>
            </a:prstGeom>
          </p:spPr>
          <p:txBody>
            <a:bodyPr anchor="ctr" rtlCol="false" tIns="50800" lIns="50800" bIns="50800" rIns="50800"/>
            <a:lstStyle/>
            <a:p>
              <a:pPr algn="ctr">
                <a:lnSpc>
                  <a:spcPts val="2519"/>
                </a:lnSpc>
              </a:pPr>
              <a:r>
                <a:rPr lang="en-US" sz="2099" b="true">
                  <a:solidFill>
                    <a:srgbClr val="000000"/>
                  </a:solidFill>
                  <a:latin typeface="Arial Bold"/>
                  <a:ea typeface="Arial Bold"/>
                  <a:cs typeface="Arial Bold"/>
                  <a:sym typeface="Arial Bold"/>
                </a:rPr>
                <a:t>Proposed Analysis Tool</a:t>
              </a:r>
            </a:p>
            <a:p>
              <a:pPr algn="ctr">
                <a:lnSpc>
                  <a:spcPts val="2519"/>
                </a:lnSpc>
              </a:pPr>
              <a:r>
                <a:rPr lang="en-US" sz="2099" b="true">
                  <a:solidFill>
                    <a:srgbClr val="000000"/>
                  </a:solidFill>
                  <a:latin typeface="Arial Bold"/>
                  <a:ea typeface="Arial Bold"/>
                  <a:cs typeface="Arial Bold"/>
                  <a:sym typeface="Arial Bold"/>
                </a:rPr>
                <a:t>Identifies modulation, FEC &amp; interleaving of captured signals --&gt; supports satellite link verification, interference detection, and space-based SIGINT</a:t>
              </a:r>
            </a:p>
            <a:p>
              <a:pPr algn="ctr">
                <a:lnSpc>
                  <a:spcPts val="2759"/>
                </a:lnSpc>
              </a:pPr>
            </a:p>
          </p:txBody>
        </p:sp>
      </p:grpSp>
      <p:sp>
        <p:nvSpPr>
          <p:cNvPr name="Freeform 46" id="46"/>
          <p:cNvSpPr/>
          <p:nvPr/>
        </p:nvSpPr>
        <p:spPr>
          <a:xfrm flipH="false" flipV="false" rot="0">
            <a:off x="13056679" y="1256755"/>
            <a:ext cx="1808840" cy="974449"/>
          </a:xfrm>
          <a:custGeom>
            <a:avLst/>
            <a:gdLst/>
            <a:ahLst/>
            <a:cxnLst/>
            <a:rect r="r" b="b" t="t" l="l"/>
            <a:pathLst>
              <a:path h="974449" w="1808840">
                <a:moveTo>
                  <a:pt x="0" y="0"/>
                </a:moveTo>
                <a:lnTo>
                  <a:pt x="1808840" y="0"/>
                </a:lnTo>
                <a:lnTo>
                  <a:pt x="1808840" y="974449"/>
                </a:lnTo>
                <a:lnTo>
                  <a:pt x="0" y="974449"/>
                </a:lnTo>
                <a:lnTo>
                  <a:pt x="0" y="0"/>
                </a:lnTo>
                <a:close/>
              </a:path>
            </a:pathLst>
          </a:custGeom>
          <a:blipFill>
            <a:blip r:embed="rId16"/>
            <a:stretch>
              <a:fillRect l="0" t="0" r="0" b="0"/>
            </a:stretch>
          </a:blipFill>
        </p:spPr>
      </p:sp>
      <p:sp>
        <p:nvSpPr>
          <p:cNvPr name="TextBox 47" id="47"/>
          <p:cNvSpPr txBox="true"/>
          <p:nvPr/>
        </p:nvSpPr>
        <p:spPr>
          <a:xfrm rot="0">
            <a:off x="278376" y="6441965"/>
            <a:ext cx="8817121" cy="428082"/>
          </a:xfrm>
          <a:prstGeom prst="rect">
            <a:avLst/>
          </a:prstGeom>
        </p:spPr>
        <p:txBody>
          <a:bodyPr anchor="t" rtlCol="false" tIns="0" lIns="0" bIns="0" rIns="0">
            <a:spAutoFit/>
          </a:bodyPr>
          <a:lstStyle/>
          <a:p>
            <a:pPr algn="l">
              <a:lnSpc>
                <a:spcPts val="3060"/>
              </a:lnSpc>
            </a:pPr>
            <a:r>
              <a:rPr lang="en-US" sz="2550" b="true">
                <a:solidFill>
                  <a:srgbClr val="1F3864"/>
                </a:solidFill>
                <a:latin typeface="Arial Bold"/>
                <a:ea typeface="Arial Bold"/>
                <a:cs typeface="Arial Bold"/>
                <a:sym typeface="Arial Bold"/>
              </a:rPr>
              <a:t>Key Benefits</a:t>
            </a:r>
          </a:p>
        </p:txBody>
      </p:sp>
      <p:sp>
        <p:nvSpPr>
          <p:cNvPr name="TextBox 48" id="48"/>
          <p:cNvSpPr txBox="true"/>
          <p:nvPr/>
        </p:nvSpPr>
        <p:spPr>
          <a:xfrm rot="0">
            <a:off x="278376" y="1129839"/>
            <a:ext cx="1399561" cy="319034"/>
          </a:xfrm>
          <a:prstGeom prst="rect">
            <a:avLst/>
          </a:prstGeom>
        </p:spPr>
        <p:txBody>
          <a:bodyPr anchor="t" rtlCol="false" tIns="0" lIns="0" bIns="0" rIns="0">
            <a:spAutoFit/>
          </a:bodyPr>
          <a:lstStyle/>
          <a:p>
            <a:pPr algn="ctr">
              <a:lnSpc>
                <a:spcPts val="2500"/>
              </a:lnSpc>
            </a:pPr>
            <a:r>
              <a:rPr lang="en-US" sz="1786">
                <a:solidFill>
                  <a:srgbClr val="00C2FF"/>
                </a:solidFill>
                <a:latin typeface="HK Modular"/>
                <a:ea typeface="HK Modular"/>
                <a:cs typeface="HK Modular"/>
                <a:sym typeface="HK Modular"/>
              </a:rPr>
              <a:t>S</a:t>
            </a:r>
            <a:r>
              <a:rPr lang="en-US" sz="1786">
                <a:solidFill>
                  <a:srgbClr val="5085FF"/>
                </a:solidFill>
                <a:latin typeface="HK Modular"/>
                <a:ea typeface="HK Modular"/>
                <a:cs typeface="HK Modular"/>
                <a:sym typeface="HK Modular"/>
              </a:rPr>
              <a:t>p</a:t>
            </a:r>
            <a:r>
              <a:rPr lang="en-US" sz="1786">
                <a:solidFill>
                  <a:srgbClr val="385FFF"/>
                </a:solidFill>
                <a:latin typeface="HK Modular"/>
                <a:ea typeface="HK Modular"/>
                <a:cs typeface="HK Modular"/>
                <a:sym typeface="HK Modular"/>
              </a:rPr>
              <a:t>e</a:t>
            </a:r>
            <a:r>
              <a:rPr lang="en-US" sz="1786">
                <a:solidFill>
                  <a:srgbClr val="5085FF"/>
                </a:solidFill>
                <a:latin typeface="HK Modular"/>
                <a:ea typeface="HK Modular"/>
                <a:cs typeface="HK Modular"/>
                <a:sym typeface="HK Modular"/>
              </a:rPr>
              <a:t>c</a:t>
            </a:r>
            <a:r>
              <a:rPr lang="en-US" sz="1786">
                <a:solidFill>
                  <a:srgbClr val="6E5AFF"/>
                </a:solidFill>
                <a:latin typeface="HK Modular"/>
                <a:ea typeface="HK Modular"/>
                <a:cs typeface="HK Modular"/>
                <a:sym typeface="HK Modular"/>
              </a:rPr>
              <a:t>t</a:t>
            </a:r>
            <a:r>
              <a:rPr lang="en-US" sz="1786">
                <a:solidFill>
                  <a:srgbClr val="5085FF"/>
                </a:solidFill>
                <a:latin typeface="HK Modular"/>
                <a:ea typeface="HK Modular"/>
                <a:cs typeface="HK Modular"/>
                <a:sym typeface="HK Modular"/>
              </a:rPr>
              <a:t>r</a:t>
            </a:r>
            <a:r>
              <a:rPr lang="en-US" sz="1786">
                <a:solidFill>
                  <a:srgbClr val="6E5AFF"/>
                </a:solidFill>
                <a:latin typeface="HK Modular"/>
                <a:ea typeface="HK Modular"/>
                <a:cs typeface="HK Modular"/>
                <a:sym typeface="HK Modular"/>
              </a:rPr>
              <a:t>a</a:t>
            </a:r>
          </a:p>
        </p:txBody>
      </p:sp>
      <p:sp>
        <p:nvSpPr>
          <p:cNvPr name="TextBox 49" id="49"/>
          <p:cNvSpPr txBox="true"/>
          <p:nvPr/>
        </p:nvSpPr>
        <p:spPr>
          <a:xfrm rot="0">
            <a:off x="9899115" y="3263808"/>
            <a:ext cx="2149422" cy="1047750"/>
          </a:xfrm>
          <a:prstGeom prst="rect">
            <a:avLst/>
          </a:prstGeom>
        </p:spPr>
        <p:txBody>
          <a:bodyPr anchor="t" rtlCol="false" tIns="0" lIns="0" bIns="0" rIns="0">
            <a:spAutoFit/>
          </a:bodyPr>
          <a:lstStyle/>
          <a:p>
            <a:pPr algn="ctr">
              <a:lnSpc>
                <a:spcPts val="2759"/>
              </a:lnSpc>
              <a:spcBef>
                <a:spcPct val="0"/>
              </a:spcBef>
            </a:pPr>
            <a:r>
              <a:rPr lang="en-US" b="true" sz="2299">
                <a:solidFill>
                  <a:srgbClr val="000000"/>
                </a:solidFill>
                <a:latin typeface="Arial Bold"/>
                <a:ea typeface="Arial Bold"/>
                <a:cs typeface="Arial Bold"/>
                <a:sym typeface="Arial Bold"/>
              </a:rPr>
              <a:t>Ground station/ SDR reciever</a:t>
            </a:r>
          </a:p>
        </p:txBody>
      </p:sp>
      <p:sp>
        <p:nvSpPr>
          <p:cNvPr name="TextBox 50" id="50"/>
          <p:cNvSpPr txBox="true"/>
          <p:nvPr/>
        </p:nvSpPr>
        <p:spPr>
          <a:xfrm rot="0">
            <a:off x="12497353" y="3371850"/>
            <a:ext cx="2151496" cy="1047750"/>
          </a:xfrm>
          <a:prstGeom prst="rect">
            <a:avLst/>
          </a:prstGeom>
        </p:spPr>
        <p:txBody>
          <a:bodyPr anchor="t" rtlCol="false" tIns="0" lIns="0" bIns="0" rIns="0">
            <a:spAutoFit/>
          </a:bodyPr>
          <a:lstStyle/>
          <a:p>
            <a:pPr algn="ctr">
              <a:lnSpc>
                <a:spcPts val="2759"/>
              </a:lnSpc>
              <a:spcBef>
                <a:spcPct val="0"/>
              </a:spcBef>
            </a:pPr>
            <a:r>
              <a:rPr lang="en-US" b="true" sz="2299">
                <a:solidFill>
                  <a:srgbClr val="000000"/>
                </a:solidFill>
                <a:latin typeface="Arial Bold"/>
                <a:ea typeface="Arial Bold"/>
                <a:cs typeface="Arial Bold"/>
                <a:sym typeface="Arial Bold"/>
              </a:rPr>
              <a:t>Spectrum monitoring station</a:t>
            </a:r>
          </a:p>
        </p:txBody>
      </p:sp>
      <p:sp>
        <p:nvSpPr>
          <p:cNvPr name="TextBox 51" id="51"/>
          <p:cNvSpPr txBox="true"/>
          <p:nvPr/>
        </p:nvSpPr>
        <p:spPr>
          <a:xfrm rot="0">
            <a:off x="15307067" y="3371850"/>
            <a:ext cx="1952233" cy="1047750"/>
          </a:xfrm>
          <a:prstGeom prst="rect">
            <a:avLst/>
          </a:prstGeom>
        </p:spPr>
        <p:txBody>
          <a:bodyPr anchor="t" rtlCol="false" tIns="0" lIns="0" bIns="0" rIns="0">
            <a:spAutoFit/>
          </a:bodyPr>
          <a:lstStyle/>
          <a:p>
            <a:pPr algn="ctr">
              <a:lnSpc>
                <a:spcPts val="2759"/>
              </a:lnSpc>
              <a:spcBef>
                <a:spcPct val="0"/>
              </a:spcBef>
            </a:pPr>
            <a:r>
              <a:rPr lang="en-US" b="true" sz="2299">
                <a:solidFill>
                  <a:srgbClr val="000000"/>
                </a:solidFill>
                <a:latin typeface="Arial Bold"/>
                <a:ea typeface="Arial Bold"/>
                <a:cs typeface="Arial Bold"/>
                <a:sym typeface="Arial Bold"/>
              </a:rPr>
              <a:t>SIGINT / RF Surveillance Unit</a:t>
            </a:r>
          </a:p>
        </p:txBody>
      </p:sp>
      <p:sp>
        <p:nvSpPr>
          <p:cNvPr name="Freeform 52" id="52"/>
          <p:cNvSpPr/>
          <p:nvPr/>
        </p:nvSpPr>
        <p:spPr>
          <a:xfrm flipH="false" flipV="false" rot="5400000">
            <a:off x="13377799" y="2844768"/>
            <a:ext cx="542507" cy="151902"/>
          </a:xfrm>
          <a:custGeom>
            <a:avLst/>
            <a:gdLst/>
            <a:ahLst/>
            <a:cxnLst/>
            <a:rect r="r" b="b" t="t" l="l"/>
            <a:pathLst>
              <a:path h="151902" w="542507">
                <a:moveTo>
                  <a:pt x="0" y="0"/>
                </a:moveTo>
                <a:lnTo>
                  <a:pt x="542507" y="0"/>
                </a:lnTo>
                <a:lnTo>
                  <a:pt x="542507" y="151902"/>
                </a:lnTo>
                <a:lnTo>
                  <a:pt x="0" y="15190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53" id="53"/>
          <p:cNvSpPr/>
          <p:nvPr/>
        </p:nvSpPr>
        <p:spPr>
          <a:xfrm flipH="false" flipV="false" rot="5400000">
            <a:off x="10622261" y="2840409"/>
            <a:ext cx="549319" cy="153809"/>
          </a:xfrm>
          <a:custGeom>
            <a:avLst/>
            <a:gdLst/>
            <a:ahLst/>
            <a:cxnLst/>
            <a:rect r="r" b="b" t="t" l="l"/>
            <a:pathLst>
              <a:path h="153809" w="549319">
                <a:moveTo>
                  <a:pt x="0" y="0"/>
                </a:moveTo>
                <a:lnTo>
                  <a:pt x="549319" y="0"/>
                </a:lnTo>
                <a:lnTo>
                  <a:pt x="549319" y="153809"/>
                </a:lnTo>
                <a:lnTo>
                  <a:pt x="0" y="15380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54" id="54"/>
          <p:cNvSpPr/>
          <p:nvPr/>
        </p:nvSpPr>
        <p:spPr>
          <a:xfrm flipH="false" flipV="false" rot="5400000">
            <a:off x="16008524" y="2840409"/>
            <a:ext cx="549319" cy="153809"/>
          </a:xfrm>
          <a:custGeom>
            <a:avLst/>
            <a:gdLst/>
            <a:ahLst/>
            <a:cxnLst/>
            <a:rect r="r" b="b" t="t" l="l"/>
            <a:pathLst>
              <a:path h="153809" w="549319">
                <a:moveTo>
                  <a:pt x="0" y="0"/>
                </a:moveTo>
                <a:lnTo>
                  <a:pt x="549319" y="0"/>
                </a:lnTo>
                <a:lnTo>
                  <a:pt x="549319" y="153809"/>
                </a:lnTo>
                <a:lnTo>
                  <a:pt x="0" y="15380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AutoShape 55" id="55"/>
          <p:cNvSpPr/>
          <p:nvPr/>
        </p:nvSpPr>
        <p:spPr>
          <a:xfrm>
            <a:off x="10881360" y="2630416"/>
            <a:ext cx="5401823" cy="12238"/>
          </a:xfrm>
          <a:prstGeom prst="line">
            <a:avLst/>
          </a:prstGeom>
          <a:ln cap="flat" w="19050">
            <a:solidFill>
              <a:srgbClr val="000000"/>
            </a:solidFill>
            <a:prstDash val="solid"/>
            <a:headEnd type="none" len="sm" w="sm"/>
            <a:tailEnd type="none" len="sm" w="sm"/>
          </a:ln>
        </p:spPr>
      </p:sp>
      <p:sp>
        <p:nvSpPr>
          <p:cNvPr name="AutoShape 56" id="56"/>
          <p:cNvSpPr/>
          <p:nvPr/>
        </p:nvSpPr>
        <p:spPr>
          <a:xfrm flipV="true">
            <a:off x="13649052" y="2345504"/>
            <a:ext cx="0" cy="303962"/>
          </a:xfrm>
          <a:prstGeom prst="line">
            <a:avLst/>
          </a:prstGeom>
          <a:ln cap="flat" w="19050">
            <a:solidFill>
              <a:srgbClr val="000000"/>
            </a:solidFill>
            <a:prstDash val="solid"/>
            <a:headEnd type="none" len="sm" w="sm"/>
            <a:tailEnd type="none" len="sm" w="sm"/>
          </a:ln>
        </p:spPr>
      </p:sp>
      <p:sp>
        <p:nvSpPr>
          <p:cNvPr name="Freeform 57" id="57"/>
          <p:cNvSpPr/>
          <p:nvPr/>
        </p:nvSpPr>
        <p:spPr>
          <a:xfrm flipH="false" flipV="false" rot="5400000">
            <a:off x="13422291" y="4759435"/>
            <a:ext cx="456268" cy="127755"/>
          </a:xfrm>
          <a:custGeom>
            <a:avLst/>
            <a:gdLst/>
            <a:ahLst/>
            <a:cxnLst/>
            <a:rect r="r" b="b" t="t" l="l"/>
            <a:pathLst>
              <a:path h="127755" w="456268">
                <a:moveTo>
                  <a:pt x="0" y="0"/>
                </a:moveTo>
                <a:lnTo>
                  <a:pt x="456267" y="0"/>
                </a:lnTo>
                <a:lnTo>
                  <a:pt x="456267" y="127755"/>
                </a:lnTo>
                <a:lnTo>
                  <a:pt x="0" y="127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58" id="58"/>
          <p:cNvSpPr/>
          <p:nvPr/>
        </p:nvSpPr>
        <p:spPr>
          <a:xfrm flipH="false" flipV="false" rot="5400000">
            <a:off x="16055050" y="4759435"/>
            <a:ext cx="456268" cy="127755"/>
          </a:xfrm>
          <a:custGeom>
            <a:avLst/>
            <a:gdLst/>
            <a:ahLst/>
            <a:cxnLst/>
            <a:rect r="r" b="b" t="t" l="l"/>
            <a:pathLst>
              <a:path h="127755" w="456268">
                <a:moveTo>
                  <a:pt x="0" y="0"/>
                </a:moveTo>
                <a:lnTo>
                  <a:pt x="456267" y="0"/>
                </a:lnTo>
                <a:lnTo>
                  <a:pt x="456267" y="127755"/>
                </a:lnTo>
                <a:lnTo>
                  <a:pt x="0" y="127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59" id="59"/>
          <p:cNvSpPr/>
          <p:nvPr/>
        </p:nvSpPr>
        <p:spPr>
          <a:xfrm flipH="false" flipV="false" rot="5400000">
            <a:off x="10653226" y="4752239"/>
            <a:ext cx="456268" cy="127755"/>
          </a:xfrm>
          <a:custGeom>
            <a:avLst/>
            <a:gdLst/>
            <a:ahLst/>
            <a:cxnLst/>
            <a:rect r="r" b="b" t="t" l="l"/>
            <a:pathLst>
              <a:path h="127755" w="456268">
                <a:moveTo>
                  <a:pt x="0" y="0"/>
                </a:moveTo>
                <a:lnTo>
                  <a:pt x="456268" y="0"/>
                </a:lnTo>
                <a:lnTo>
                  <a:pt x="456268" y="127755"/>
                </a:lnTo>
                <a:lnTo>
                  <a:pt x="0" y="127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2144"/>
            <a:ext cx="18288000" cy="754856"/>
            <a:chOff x="0" y="0"/>
            <a:chExt cx="24384000" cy="1006475"/>
          </a:xfrm>
        </p:grpSpPr>
        <p:sp>
          <p:nvSpPr>
            <p:cNvPr name="Freeform 3" id="3"/>
            <p:cNvSpPr/>
            <p:nvPr/>
          </p:nvSpPr>
          <p:spPr>
            <a:xfrm flipH="false" flipV="false" rot="0">
              <a:off x="0" y="0"/>
              <a:ext cx="24384000" cy="1006475"/>
            </a:xfrm>
            <a:custGeom>
              <a:avLst/>
              <a:gdLst/>
              <a:ahLst/>
              <a:cxnLst/>
              <a:rect r="r" b="b" t="t" l="l"/>
              <a:pathLst>
                <a:path h="1006475" w="24384000">
                  <a:moveTo>
                    <a:pt x="0" y="0"/>
                  </a:moveTo>
                  <a:lnTo>
                    <a:pt x="24384000" y="0"/>
                  </a:lnTo>
                  <a:lnTo>
                    <a:pt x="24384000" y="1006475"/>
                  </a:lnTo>
                  <a:lnTo>
                    <a:pt x="0" y="1006475"/>
                  </a:lnTo>
                  <a:close/>
                </a:path>
              </a:pathLst>
            </a:custGeom>
            <a:solidFill>
              <a:srgbClr val="0070C0"/>
            </a:solidFill>
          </p:spPr>
        </p:sp>
      </p:grpSp>
      <p:grpSp>
        <p:nvGrpSpPr>
          <p:cNvPr name="Group 4" id="4"/>
          <p:cNvGrpSpPr/>
          <p:nvPr/>
        </p:nvGrpSpPr>
        <p:grpSpPr>
          <a:xfrm rot="0">
            <a:off x="914400" y="-71438"/>
            <a:ext cx="16459200" cy="1714500"/>
            <a:chOff x="0" y="0"/>
            <a:chExt cx="21945600" cy="2286000"/>
          </a:xfrm>
        </p:grpSpPr>
        <p:sp>
          <p:nvSpPr>
            <p:cNvPr name="Freeform 5" id="5"/>
            <p:cNvSpPr/>
            <p:nvPr/>
          </p:nvSpPr>
          <p:spPr>
            <a:xfrm flipH="false" flipV="false" rot="0">
              <a:off x="0" y="0"/>
              <a:ext cx="21945600" cy="2286000"/>
            </a:xfrm>
            <a:custGeom>
              <a:avLst/>
              <a:gdLst/>
              <a:ahLst/>
              <a:cxnLst/>
              <a:rect r="r" b="b" t="t" l="l"/>
              <a:pathLst>
                <a:path h="2286000" w="21945600">
                  <a:moveTo>
                    <a:pt x="0" y="0"/>
                  </a:moveTo>
                  <a:lnTo>
                    <a:pt x="21945600" y="0"/>
                  </a:lnTo>
                  <a:lnTo>
                    <a:pt x="21945600" y="2286000"/>
                  </a:lnTo>
                  <a:lnTo>
                    <a:pt x="0" y="2286000"/>
                  </a:lnTo>
                  <a:close/>
                </a:path>
              </a:pathLst>
            </a:custGeom>
            <a:blipFill>
              <a:blip r:embed="rId3">
                <a:alphaModFix amt="0"/>
              </a:blip>
              <a:stretch>
                <a:fillRect l="0" t="-137056" r="0" b="-137056"/>
              </a:stretch>
            </a:blipFill>
          </p:spPr>
        </p:sp>
        <p:sp>
          <p:nvSpPr>
            <p:cNvPr name="TextBox 6" id="6"/>
            <p:cNvSpPr txBox="true"/>
            <p:nvPr/>
          </p:nvSpPr>
          <p:spPr>
            <a:xfrm>
              <a:off x="0" y="0"/>
              <a:ext cx="21945600" cy="2286000"/>
            </a:xfrm>
            <a:prstGeom prst="rect">
              <a:avLst/>
            </a:prstGeom>
          </p:spPr>
          <p:txBody>
            <a:bodyPr anchor="ctr" rtlCol="false" tIns="0" lIns="0" bIns="0" rIns="0"/>
            <a:lstStyle/>
            <a:p>
              <a:pPr algn="ctr">
                <a:lnSpc>
                  <a:spcPts val="6480"/>
                </a:lnSpc>
              </a:pPr>
              <a:r>
                <a:rPr lang="en-US" sz="5400" b="true">
                  <a:solidFill>
                    <a:srgbClr val="006BCB"/>
                  </a:solidFill>
                  <a:latin typeface="Cardo Bold"/>
                  <a:ea typeface="Cardo Bold"/>
                  <a:cs typeface="Cardo Bold"/>
                  <a:sym typeface="Cardo Bold"/>
                </a:rPr>
                <a:t>RESEARCH  AND REFERENCES</a:t>
              </a:r>
            </a:p>
          </p:txBody>
        </p:sp>
      </p:grpSp>
      <p:grpSp>
        <p:nvGrpSpPr>
          <p:cNvPr name="Group 7" id="7"/>
          <p:cNvGrpSpPr/>
          <p:nvPr/>
        </p:nvGrpSpPr>
        <p:grpSpPr>
          <a:xfrm rot="0">
            <a:off x="279265" y="3652625"/>
            <a:ext cx="8638712" cy="5704604"/>
            <a:chOff x="0" y="0"/>
            <a:chExt cx="11518282" cy="7606139"/>
          </a:xfrm>
        </p:grpSpPr>
        <p:sp>
          <p:nvSpPr>
            <p:cNvPr name="Freeform 8" id="8"/>
            <p:cNvSpPr/>
            <p:nvPr/>
          </p:nvSpPr>
          <p:spPr>
            <a:xfrm flipH="false" flipV="false" rot="0">
              <a:off x="0" y="0"/>
              <a:ext cx="11518282" cy="7606138"/>
            </a:xfrm>
            <a:custGeom>
              <a:avLst/>
              <a:gdLst/>
              <a:ahLst/>
              <a:cxnLst/>
              <a:rect r="r" b="b" t="t" l="l"/>
              <a:pathLst>
                <a:path h="7606138" w="11518282">
                  <a:moveTo>
                    <a:pt x="0" y="532403"/>
                  </a:moveTo>
                  <a:cubicBezTo>
                    <a:pt x="0" y="238421"/>
                    <a:pt x="242960" y="0"/>
                    <a:pt x="542538" y="0"/>
                  </a:cubicBezTo>
                  <a:lnTo>
                    <a:pt x="10975745" y="0"/>
                  </a:lnTo>
                  <a:cubicBezTo>
                    <a:pt x="11275457" y="0"/>
                    <a:pt x="11518282" y="238421"/>
                    <a:pt x="11518282" y="532403"/>
                  </a:cubicBezTo>
                  <a:lnTo>
                    <a:pt x="11518282" y="7073736"/>
                  </a:lnTo>
                  <a:cubicBezTo>
                    <a:pt x="11518282" y="7367850"/>
                    <a:pt x="11275323" y="7606138"/>
                    <a:pt x="10975745" y="7606138"/>
                  </a:cubicBezTo>
                  <a:lnTo>
                    <a:pt x="542538" y="7606138"/>
                  </a:lnTo>
                  <a:cubicBezTo>
                    <a:pt x="242960" y="7606138"/>
                    <a:pt x="0" y="7367718"/>
                    <a:pt x="0" y="7073736"/>
                  </a:cubicBezTo>
                  <a:close/>
                </a:path>
              </a:pathLst>
            </a:custGeom>
            <a:solidFill>
              <a:srgbClr val="DCE6F5"/>
            </a:solidFill>
            <a:ln w="47625" cap="sq">
              <a:solidFill>
                <a:srgbClr val="000000"/>
              </a:solidFill>
              <a:prstDash val="lgDash"/>
              <a:miter/>
            </a:ln>
          </p:spPr>
        </p:sp>
        <p:sp>
          <p:nvSpPr>
            <p:cNvPr name="TextBox 9" id="9"/>
            <p:cNvSpPr txBox="true"/>
            <p:nvPr/>
          </p:nvSpPr>
          <p:spPr>
            <a:xfrm>
              <a:off x="0" y="-19050"/>
              <a:ext cx="11518282" cy="7625189"/>
            </a:xfrm>
            <a:prstGeom prst="rect">
              <a:avLst/>
            </a:prstGeom>
          </p:spPr>
          <p:txBody>
            <a:bodyPr anchor="t" rtlCol="false" tIns="50800" lIns="50800" bIns="50800" rIns="50800"/>
            <a:lstStyle/>
            <a:p>
              <a:pPr algn="l">
                <a:lnSpc>
                  <a:spcPts val="2700"/>
                </a:lnSpc>
              </a:pPr>
              <a:r>
                <a:rPr lang="en-US" sz="2250">
                  <a:solidFill>
                    <a:srgbClr val="1F3864"/>
                  </a:solidFill>
                  <a:latin typeface="Arial"/>
                  <a:ea typeface="Arial"/>
                  <a:cs typeface="Arial"/>
                  <a:sym typeface="Arial"/>
                </a:rPr>
                <a:t>Tools, Libraries &amp; DSP References</a:t>
              </a:r>
            </a:p>
            <a:p>
              <a:pPr algn="l" marL="429815" indent="-214907" lvl="1">
                <a:lnSpc>
                  <a:spcPts val="3026"/>
                </a:lnSpc>
                <a:buFont typeface="Arial"/>
                <a:buChar char="•"/>
              </a:pPr>
              <a:r>
                <a:rPr lang="en-US" b="true" sz="2374">
                  <a:solidFill>
                    <a:srgbClr val="000000"/>
                  </a:solidFill>
                  <a:latin typeface="Arial Bold"/>
                  <a:ea typeface="Arial Bold"/>
                  <a:cs typeface="Arial Bold"/>
                  <a:sym typeface="Arial Bold"/>
                </a:rPr>
                <a:t>PySDR </a:t>
              </a:r>
              <a:r>
                <a:rPr lang="en-US" sz="2374">
                  <a:solidFill>
                    <a:srgbClr val="000000"/>
                  </a:solidFill>
                  <a:latin typeface="Arial"/>
                  <a:ea typeface="Arial"/>
                  <a:cs typeface="Arial"/>
                  <a:sym typeface="Arial"/>
                </a:rPr>
                <a:t>— Hands-On DSP Guide (Ch.1–4: IQ sampling &amp; frequency domain; Ch.7–10: digital modulation &amp; sync)</a:t>
              </a:r>
            </a:p>
            <a:p>
              <a:pPr algn="l" marL="429815" indent="-214907" lvl="1">
                <a:lnSpc>
                  <a:spcPts val="3026"/>
                </a:lnSpc>
                <a:buFont typeface="Arial"/>
                <a:buChar char="•"/>
              </a:pPr>
              <a:r>
                <a:rPr lang="en-US" b="true" sz="2374">
                  <a:solidFill>
                    <a:srgbClr val="000000"/>
                  </a:solidFill>
                  <a:latin typeface="Arial Bold"/>
                  <a:ea typeface="Arial Bold"/>
                  <a:cs typeface="Arial Bold"/>
                  <a:sym typeface="Arial Bold"/>
                </a:rPr>
                <a:t>GNU Radio Guided Tutorials &amp; GNU Radio Companion</a:t>
              </a:r>
              <a:r>
                <a:rPr lang="en-US" sz="2374">
                  <a:solidFill>
                    <a:srgbClr val="000000"/>
                  </a:solidFill>
                  <a:latin typeface="Arial"/>
                  <a:ea typeface="Arial"/>
                  <a:cs typeface="Arial"/>
                  <a:sym typeface="Arial"/>
                </a:rPr>
                <a:t> — SDR block concepts, visual signal-chain simulation for synthetic test data</a:t>
              </a:r>
            </a:p>
            <a:p>
              <a:pPr algn="l" marL="429815" indent="-214907" lvl="1">
                <a:lnSpc>
                  <a:spcPts val="3026"/>
                </a:lnSpc>
                <a:buFont typeface="Arial"/>
                <a:buChar char="•"/>
              </a:pPr>
              <a:r>
                <a:rPr lang="en-US" b="true" sz="2374">
                  <a:solidFill>
                    <a:srgbClr val="000000"/>
                  </a:solidFill>
                  <a:latin typeface="Arial Bold"/>
                  <a:ea typeface="Arial Bold"/>
                  <a:cs typeface="Arial Bold"/>
                  <a:sym typeface="Arial Bold"/>
                </a:rPr>
                <a:t>PyQt6 official docs &amp; PyQtGraph</a:t>
              </a:r>
              <a:r>
                <a:rPr lang="en-US" sz="2374">
                  <a:solidFill>
                    <a:srgbClr val="000000"/>
                  </a:solidFill>
                  <a:latin typeface="Arial"/>
                  <a:ea typeface="Arial"/>
                  <a:cs typeface="Arial"/>
                  <a:sym typeface="Arial"/>
                </a:rPr>
                <a:t> — GUI and high-performance real-time plotting</a:t>
              </a:r>
            </a:p>
            <a:p>
              <a:pPr algn="l" marL="429815" indent="-214907" lvl="1">
                <a:lnSpc>
                  <a:spcPts val="3026"/>
                </a:lnSpc>
                <a:buFont typeface="Arial"/>
                <a:buChar char="•"/>
              </a:pPr>
              <a:r>
                <a:rPr lang="en-US" b="true" sz="2374">
                  <a:solidFill>
                    <a:srgbClr val="000000"/>
                  </a:solidFill>
                  <a:latin typeface="Arial Bold"/>
                  <a:ea typeface="Arial Bold"/>
                  <a:cs typeface="Arial Bold"/>
                  <a:sym typeface="Arial Bold"/>
                </a:rPr>
                <a:t>SciPy (scipy.io.wavfile, scipy.signal.correlate) &amp; NumPy</a:t>
              </a:r>
              <a:r>
                <a:rPr lang="en-US" sz="2374">
                  <a:solidFill>
                    <a:srgbClr val="000000"/>
                  </a:solidFill>
                  <a:latin typeface="Arial"/>
                  <a:ea typeface="Arial"/>
                  <a:cs typeface="Arial"/>
                  <a:sym typeface="Arial"/>
                </a:rPr>
                <a:t> — file I/O, array ops, correlation</a:t>
              </a:r>
            </a:p>
            <a:p>
              <a:pPr algn="l" marL="429815" indent="-214907" lvl="1">
                <a:lnSpc>
                  <a:spcPts val="3026"/>
                </a:lnSpc>
                <a:buFont typeface="Arial"/>
                <a:buChar char="•"/>
              </a:pPr>
              <a:r>
                <a:rPr lang="en-US" b="true" sz="2374">
                  <a:solidFill>
                    <a:srgbClr val="000000"/>
                  </a:solidFill>
                  <a:latin typeface="Arial Bold"/>
                  <a:ea typeface="Arial Bold"/>
                  <a:cs typeface="Arial Bold"/>
                  <a:sym typeface="Arial Bold"/>
                </a:rPr>
                <a:t>Python bitarray &amp; struct</a:t>
              </a:r>
              <a:r>
                <a:rPr lang="en-US" sz="2374">
                  <a:solidFill>
                    <a:srgbClr val="000000"/>
                  </a:solidFill>
                  <a:latin typeface="Arial"/>
                  <a:ea typeface="Arial"/>
                  <a:cs typeface="Arial"/>
                  <a:sym typeface="Arial"/>
                </a:rPr>
                <a:t> — bitwise operations and binary parsing</a:t>
              </a:r>
            </a:p>
          </p:txBody>
        </p:sp>
      </p:grpSp>
      <p:grpSp>
        <p:nvGrpSpPr>
          <p:cNvPr name="Group 10" id="10"/>
          <p:cNvGrpSpPr/>
          <p:nvPr/>
        </p:nvGrpSpPr>
        <p:grpSpPr>
          <a:xfrm rot="0">
            <a:off x="9144000" y="2521787"/>
            <a:ext cx="8346690" cy="4465304"/>
            <a:chOff x="0" y="0"/>
            <a:chExt cx="11181080" cy="5981643"/>
          </a:xfrm>
        </p:grpSpPr>
        <p:sp>
          <p:nvSpPr>
            <p:cNvPr name="Freeform 11" id="11"/>
            <p:cNvSpPr/>
            <p:nvPr/>
          </p:nvSpPr>
          <p:spPr>
            <a:xfrm flipH="false" flipV="false" rot="0">
              <a:off x="0" y="0"/>
              <a:ext cx="11181080" cy="5981643"/>
            </a:xfrm>
            <a:custGeom>
              <a:avLst/>
              <a:gdLst/>
              <a:ahLst/>
              <a:cxnLst/>
              <a:rect r="r" b="b" t="t" l="l"/>
              <a:pathLst>
                <a:path h="5981643" w="11181080">
                  <a:moveTo>
                    <a:pt x="0" y="418682"/>
                  </a:moveTo>
                  <a:cubicBezTo>
                    <a:pt x="0" y="187460"/>
                    <a:pt x="214884" y="0"/>
                    <a:pt x="479933" y="0"/>
                  </a:cubicBezTo>
                  <a:lnTo>
                    <a:pt x="10701147" y="0"/>
                  </a:lnTo>
                  <a:cubicBezTo>
                    <a:pt x="10966196" y="0"/>
                    <a:pt x="11181080" y="187460"/>
                    <a:pt x="11181080" y="418682"/>
                  </a:cubicBezTo>
                  <a:lnTo>
                    <a:pt x="11181080" y="5562961"/>
                  </a:lnTo>
                  <a:cubicBezTo>
                    <a:pt x="11181080" y="5794183"/>
                    <a:pt x="10966196" y="5981643"/>
                    <a:pt x="10701147" y="5981643"/>
                  </a:cubicBezTo>
                  <a:lnTo>
                    <a:pt x="479933" y="5981643"/>
                  </a:lnTo>
                  <a:cubicBezTo>
                    <a:pt x="214884" y="5981643"/>
                    <a:pt x="0" y="5794183"/>
                    <a:pt x="0" y="5562961"/>
                  </a:cubicBezTo>
                  <a:close/>
                </a:path>
              </a:pathLst>
            </a:custGeom>
            <a:solidFill>
              <a:srgbClr val="FDEBD3"/>
            </a:solidFill>
            <a:ln w="47625" cap="sq">
              <a:solidFill>
                <a:srgbClr val="000000"/>
              </a:solidFill>
              <a:prstDash val="lgDash"/>
              <a:miter/>
            </a:ln>
          </p:spPr>
        </p:sp>
        <p:sp>
          <p:nvSpPr>
            <p:cNvPr name="TextBox 12" id="12"/>
            <p:cNvSpPr txBox="true"/>
            <p:nvPr/>
          </p:nvSpPr>
          <p:spPr>
            <a:xfrm>
              <a:off x="0" y="-19050"/>
              <a:ext cx="11181080" cy="6000693"/>
            </a:xfrm>
            <a:prstGeom prst="rect">
              <a:avLst/>
            </a:prstGeom>
          </p:spPr>
          <p:txBody>
            <a:bodyPr anchor="t" rtlCol="false" tIns="50800" lIns="50800" bIns="50800" rIns="50800"/>
            <a:lstStyle/>
            <a:p>
              <a:pPr algn="l">
                <a:lnSpc>
                  <a:spcPts val="3659"/>
                </a:lnSpc>
              </a:pPr>
              <a:r>
                <a:rPr lang="en-US" sz="3049" b="true">
                  <a:solidFill>
                    <a:srgbClr val="1F3864"/>
                  </a:solidFill>
                  <a:latin typeface="Arial Bold"/>
                  <a:ea typeface="Arial Bold"/>
                  <a:cs typeface="Arial Bold"/>
                  <a:sym typeface="Arial Bold"/>
                </a:rPr>
                <a:t>        </a:t>
              </a:r>
              <a:r>
                <a:rPr lang="en-US" sz="3049" b="true">
                  <a:solidFill>
                    <a:srgbClr val="1F3864"/>
                  </a:solidFill>
                  <a:latin typeface="Arial Bold"/>
                  <a:ea typeface="Arial Bold"/>
                  <a:cs typeface="Arial Bold"/>
                  <a:sym typeface="Arial Bold"/>
                </a:rPr>
                <a:t>FEC, Datasets &amp; Benchmarks</a:t>
              </a:r>
            </a:p>
            <a:p>
              <a:pPr algn="just" marL="393621" indent="-196810" lvl="1">
                <a:lnSpc>
                  <a:spcPts val="2771"/>
                </a:lnSpc>
                <a:buFont typeface="Arial"/>
                <a:buChar char="•"/>
              </a:pPr>
              <a:r>
                <a:rPr lang="en-US" sz="2175">
                  <a:solidFill>
                    <a:srgbClr val="000000"/>
                  </a:solidFill>
                  <a:latin typeface="Arial"/>
                  <a:ea typeface="Arial"/>
                  <a:cs typeface="Arial"/>
                  <a:sym typeface="Arial"/>
                </a:rPr>
                <a:t>Bernard Sklar, Digital Communications, Ch.8 — fading channels &amp; interleaving theory</a:t>
              </a:r>
            </a:p>
            <a:p>
              <a:pPr algn="just" marL="393621" indent="-196810" lvl="1">
                <a:lnSpc>
                  <a:spcPts val="2771"/>
                </a:lnSpc>
                <a:buFont typeface="Arial"/>
                <a:buChar char="•"/>
              </a:pPr>
              <a:r>
                <a:rPr lang="en-US" sz="2175">
                  <a:solidFill>
                    <a:srgbClr val="000000"/>
                  </a:solidFill>
                  <a:latin typeface="Arial"/>
                  <a:ea typeface="Arial"/>
                  <a:cs typeface="Arial"/>
                  <a:sym typeface="Arial"/>
                </a:rPr>
                <a:t>reedsolo · scikit-dsp-comm · pyldpc — Reed Solomon, convolutional/Viterbi and LDPC decoder libraries</a:t>
              </a:r>
            </a:p>
            <a:p>
              <a:pPr algn="just" marL="393621" indent="-196810" lvl="1">
                <a:lnSpc>
                  <a:spcPts val="2771"/>
                </a:lnSpc>
                <a:buFont typeface="Arial"/>
                <a:buChar char="•"/>
              </a:pPr>
              <a:r>
                <a:rPr lang="en-US" sz="2175">
                  <a:solidFill>
                    <a:srgbClr val="000000"/>
                  </a:solidFill>
                  <a:latin typeface="Arial"/>
                  <a:ea typeface="Arial"/>
                  <a:cs typeface="Arial"/>
                  <a:sym typeface="Arial"/>
                </a:rPr>
                <a:t>SigIDWiki · RevSpace “Decode Everything” · SatNOGS DB — real-world .iq/.wav sample datasets for testing</a:t>
              </a:r>
            </a:p>
            <a:p>
              <a:pPr algn="just" marL="393621" indent="-196810" lvl="1">
                <a:lnSpc>
                  <a:spcPts val="2771"/>
                </a:lnSpc>
                <a:buFont typeface="Arial"/>
                <a:buChar char="•"/>
              </a:pPr>
              <a:r>
                <a:rPr lang="en-US" sz="2175">
                  <a:solidFill>
                    <a:srgbClr val="000000"/>
                  </a:solidFill>
                  <a:latin typeface="Arial"/>
                  <a:ea typeface="Arial"/>
                  <a:cs typeface="Arial"/>
                  <a:sym typeface="Arial"/>
                </a:rPr>
                <a:t>go2DECODE / Procitec — reference commercial signal-analysis tools for benchmarking</a:t>
              </a:r>
            </a:p>
            <a:p>
              <a:pPr algn="just" marL="393621" indent="-196810" lvl="1">
                <a:lnSpc>
                  <a:spcPts val="2771"/>
                </a:lnSpc>
                <a:buFont typeface="Arial"/>
                <a:buChar char="•"/>
              </a:pPr>
              <a:r>
                <a:rPr lang="en-US" sz="2175">
                  <a:solidFill>
                    <a:srgbClr val="000000"/>
                  </a:solidFill>
                  <a:latin typeface="Arial"/>
                  <a:ea typeface="Arial"/>
                  <a:cs typeface="Arial"/>
                  <a:sym typeface="Arial"/>
                </a:rPr>
                <a:t>Synthetic FSK/QPSK generators (NumPy + GNU Radio) — ground-truth signals for pipeline validation</a:t>
              </a:r>
            </a:p>
          </p:txBody>
        </p:sp>
      </p:grpSp>
      <p:grpSp>
        <p:nvGrpSpPr>
          <p:cNvPr name="Group 13" id="13"/>
          <p:cNvGrpSpPr/>
          <p:nvPr/>
        </p:nvGrpSpPr>
        <p:grpSpPr>
          <a:xfrm rot="0">
            <a:off x="6972300" y="9534525"/>
            <a:ext cx="4806001" cy="547688"/>
            <a:chOff x="0" y="0"/>
            <a:chExt cx="6408001" cy="730250"/>
          </a:xfrm>
        </p:grpSpPr>
        <p:sp>
          <p:nvSpPr>
            <p:cNvPr name="Freeform 14" id="14"/>
            <p:cNvSpPr/>
            <p:nvPr/>
          </p:nvSpPr>
          <p:spPr>
            <a:xfrm flipH="false" flipV="false" rot="0">
              <a:off x="0" y="0"/>
              <a:ext cx="6408000" cy="730250"/>
            </a:xfrm>
            <a:custGeom>
              <a:avLst/>
              <a:gdLst/>
              <a:ahLst/>
              <a:cxnLst/>
              <a:rect r="r" b="b" t="t" l="l"/>
              <a:pathLst>
                <a:path h="730250" w="6408000">
                  <a:moveTo>
                    <a:pt x="0" y="0"/>
                  </a:moveTo>
                  <a:lnTo>
                    <a:pt x="6408000" y="0"/>
                  </a:lnTo>
                  <a:lnTo>
                    <a:pt x="6408000" y="730250"/>
                  </a:lnTo>
                  <a:lnTo>
                    <a:pt x="0" y="730250"/>
                  </a:lnTo>
                  <a:close/>
                </a:path>
              </a:pathLst>
            </a:custGeom>
            <a:blipFill>
              <a:blip r:embed="rId3">
                <a:alphaModFix amt="0"/>
              </a:blip>
              <a:stretch>
                <a:fillRect l="0" t="-120982" r="0" b="-120982"/>
              </a:stretch>
            </a:blipFill>
          </p:spPr>
        </p:sp>
        <p:sp>
          <p:nvSpPr>
            <p:cNvPr name="TextBox 15" id="15"/>
            <p:cNvSpPr txBox="true"/>
            <p:nvPr/>
          </p:nvSpPr>
          <p:spPr>
            <a:xfrm>
              <a:off x="0" y="-38100"/>
              <a:ext cx="6408001" cy="768350"/>
            </a:xfrm>
            <a:prstGeom prst="rect">
              <a:avLst/>
            </a:prstGeom>
          </p:spPr>
          <p:txBody>
            <a:bodyPr anchor="ctr" rtlCol="false" tIns="0" lIns="0" bIns="0" rIns="0"/>
            <a:lstStyle/>
            <a:p>
              <a:pPr algn="ctr">
                <a:lnSpc>
                  <a:spcPts val="2160"/>
                </a:lnSpc>
              </a:pPr>
              <a:r>
                <a:rPr lang="en-US" sz="1800">
                  <a:solidFill>
                    <a:srgbClr val="FFFFFF"/>
                  </a:solidFill>
                  <a:latin typeface="Trade Gothic Condensed"/>
                  <a:ea typeface="Trade Gothic Condensed"/>
                  <a:cs typeface="Trade Gothic Condensed"/>
                  <a:sym typeface="Trade Gothic Condensed"/>
                </a:rPr>
                <a:t>@SIH Idea submission</a:t>
              </a:r>
            </a:p>
          </p:txBody>
        </p:sp>
      </p:grpSp>
      <p:grpSp>
        <p:nvGrpSpPr>
          <p:cNvPr name="Group 16" id="16"/>
          <p:cNvGrpSpPr/>
          <p:nvPr/>
        </p:nvGrpSpPr>
        <p:grpSpPr>
          <a:xfrm rot="0">
            <a:off x="14670129" y="2248"/>
            <a:ext cx="3374774" cy="1593504"/>
            <a:chOff x="0" y="0"/>
            <a:chExt cx="4499699" cy="2124672"/>
          </a:xfrm>
        </p:grpSpPr>
        <p:sp>
          <p:nvSpPr>
            <p:cNvPr name="Freeform 17" id="17"/>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4"/>
              <a:stretch>
                <a:fillRect l="0" t="0" r="0" b="1"/>
              </a:stretch>
            </a:blipFill>
          </p:spPr>
        </p:sp>
      </p:grpSp>
      <p:sp>
        <p:nvSpPr>
          <p:cNvPr name="Freeform 18" id="18"/>
          <p:cNvSpPr/>
          <p:nvPr/>
        </p:nvSpPr>
        <p:spPr>
          <a:xfrm flipH="false" flipV="false" rot="0">
            <a:off x="0" y="0"/>
            <a:ext cx="1920716" cy="1920716"/>
          </a:xfrm>
          <a:custGeom>
            <a:avLst/>
            <a:gdLst/>
            <a:ahLst/>
            <a:cxnLst/>
            <a:rect r="r" b="b" t="t" l="l"/>
            <a:pathLst>
              <a:path h="1920716" w="1920716">
                <a:moveTo>
                  <a:pt x="0" y="0"/>
                </a:moveTo>
                <a:lnTo>
                  <a:pt x="1920716" y="0"/>
                </a:lnTo>
                <a:lnTo>
                  <a:pt x="1920716" y="1920716"/>
                </a:lnTo>
                <a:lnTo>
                  <a:pt x="0" y="1920716"/>
                </a:lnTo>
                <a:lnTo>
                  <a:pt x="0" y="0"/>
                </a:lnTo>
                <a:close/>
              </a:path>
            </a:pathLst>
          </a:custGeom>
          <a:blipFill>
            <a:blip r:embed="rId5"/>
            <a:stretch>
              <a:fillRect l="0" t="0" r="0" b="0"/>
            </a:stretch>
          </a:blipFill>
        </p:spPr>
      </p:sp>
      <p:sp>
        <p:nvSpPr>
          <p:cNvPr name="Freeform 19" id="19"/>
          <p:cNvSpPr/>
          <p:nvPr/>
        </p:nvSpPr>
        <p:spPr>
          <a:xfrm flipH="false" flipV="false" rot="0">
            <a:off x="150225" y="59705"/>
            <a:ext cx="1625514" cy="1445436"/>
          </a:xfrm>
          <a:custGeom>
            <a:avLst/>
            <a:gdLst/>
            <a:ahLst/>
            <a:cxnLst/>
            <a:rect r="r" b="b" t="t" l="l"/>
            <a:pathLst>
              <a:path h="1445436" w="1625514">
                <a:moveTo>
                  <a:pt x="0" y="0"/>
                </a:moveTo>
                <a:lnTo>
                  <a:pt x="1625514" y="0"/>
                </a:lnTo>
                <a:lnTo>
                  <a:pt x="1625514" y="1445436"/>
                </a:lnTo>
                <a:lnTo>
                  <a:pt x="0" y="1445436"/>
                </a:lnTo>
                <a:lnTo>
                  <a:pt x="0" y="0"/>
                </a:lnTo>
                <a:close/>
              </a:path>
            </a:pathLst>
          </a:custGeom>
          <a:blipFill>
            <a:blip r:embed="rId6"/>
            <a:stretch>
              <a:fillRect l="0" t="0" r="0" b="0"/>
            </a:stretch>
          </a:blipFill>
        </p:spPr>
      </p:sp>
      <p:sp>
        <p:nvSpPr>
          <p:cNvPr name="Freeform 20" id="20"/>
          <p:cNvSpPr/>
          <p:nvPr/>
        </p:nvSpPr>
        <p:spPr>
          <a:xfrm flipH="false" flipV="false" rot="0">
            <a:off x="481491" y="420823"/>
            <a:ext cx="1023650" cy="753052"/>
          </a:xfrm>
          <a:custGeom>
            <a:avLst/>
            <a:gdLst/>
            <a:ahLst/>
            <a:cxnLst/>
            <a:rect r="r" b="b" t="t" l="l"/>
            <a:pathLst>
              <a:path h="753052" w="1023650">
                <a:moveTo>
                  <a:pt x="0" y="0"/>
                </a:moveTo>
                <a:lnTo>
                  <a:pt x="1023650" y="0"/>
                </a:lnTo>
                <a:lnTo>
                  <a:pt x="1023650" y="753052"/>
                </a:lnTo>
                <a:lnTo>
                  <a:pt x="0" y="753052"/>
                </a:lnTo>
                <a:lnTo>
                  <a:pt x="0" y="0"/>
                </a:lnTo>
                <a:close/>
              </a:path>
            </a:pathLst>
          </a:custGeom>
          <a:blipFill>
            <a:blip r:embed="rId7"/>
            <a:stretch>
              <a:fillRect l="0" t="0" r="0" b="0"/>
            </a:stretch>
          </a:blipFill>
        </p:spPr>
      </p:sp>
      <p:sp>
        <p:nvSpPr>
          <p:cNvPr name="Freeform 21" id="21"/>
          <p:cNvSpPr/>
          <p:nvPr/>
        </p:nvSpPr>
        <p:spPr>
          <a:xfrm flipH="false" flipV="false" rot="0">
            <a:off x="410170" y="2521787"/>
            <a:ext cx="1142217" cy="856662"/>
          </a:xfrm>
          <a:custGeom>
            <a:avLst/>
            <a:gdLst/>
            <a:ahLst/>
            <a:cxnLst/>
            <a:rect r="r" b="b" t="t" l="l"/>
            <a:pathLst>
              <a:path h="856662" w="1142217">
                <a:moveTo>
                  <a:pt x="0" y="0"/>
                </a:moveTo>
                <a:lnTo>
                  <a:pt x="1142217" y="0"/>
                </a:lnTo>
                <a:lnTo>
                  <a:pt x="1142217" y="856662"/>
                </a:lnTo>
                <a:lnTo>
                  <a:pt x="0" y="8566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2" id="22"/>
          <p:cNvGrpSpPr/>
          <p:nvPr/>
        </p:nvGrpSpPr>
        <p:grpSpPr>
          <a:xfrm rot="0">
            <a:off x="9832464" y="7158540"/>
            <a:ext cx="7008882" cy="2198689"/>
            <a:chOff x="0" y="0"/>
            <a:chExt cx="11902440" cy="3733800"/>
          </a:xfrm>
        </p:grpSpPr>
        <p:sp>
          <p:nvSpPr>
            <p:cNvPr name="Freeform 23" id="23">
              <a:hlinkClick r:id="rId10" tooltip="https://pypi.org/project/reedsolo/"/>
            </p:cNvPr>
            <p:cNvSpPr/>
            <p:nvPr/>
          </p:nvSpPr>
          <p:spPr>
            <a:xfrm flipH="false" flipV="false" rot="0">
              <a:off x="0" y="0"/>
              <a:ext cx="11902440" cy="3733800"/>
            </a:xfrm>
            <a:custGeom>
              <a:avLst/>
              <a:gdLst/>
              <a:ahLst/>
              <a:cxnLst/>
              <a:rect r="r" b="b" t="t" l="l"/>
              <a:pathLst>
                <a:path h="3733800" w="11902440">
                  <a:moveTo>
                    <a:pt x="0" y="0"/>
                  </a:moveTo>
                  <a:lnTo>
                    <a:pt x="11902440" y="0"/>
                  </a:lnTo>
                  <a:lnTo>
                    <a:pt x="11902440" y="3733800"/>
                  </a:lnTo>
                  <a:lnTo>
                    <a:pt x="0" y="3733800"/>
                  </a:lnTo>
                  <a:close/>
                </a:path>
              </a:pathLst>
            </a:custGeom>
            <a:blipFill>
              <a:blip r:embed="rId11"/>
              <a:stretch>
                <a:fillRect l="0" t="0" r="0" b="0"/>
              </a:stretch>
            </a:blipFill>
          </p:spPr>
        </p:sp>
      </p:grpSp>
      <p:grpSp>
        <p:nvGrpSpPr>
          <p:cNvPr name="Group 24" id="24"/>
          <p:cNvGrpSpPr/>
          <p:nvPr/>
        </p:nvGrpSpPr>
        <p:grpSpPr>
          <a:xfrm rot="0">
            <a:off x="12361673" y="7158540"/>
            <a:ext cx="560607" cy="550942"/>
            <a:chOff x="0" y="0"/>
            <a:chExt cx="883920" cy="868680"/>
          </a:xfrm>
        </p:grpSpPr>
        <p:sp>
          <p:nvSpPr>
            <p:cNvPr name="Freeform 25" id="25"/>
            <p:cNvSpPr/>
            <p:nvPr/>
          </p:nvSpPr>
          <p:spPr>
            <a:xfrm flipH="false" flipV="false" rot="0">
              <a:off x="0" y="0"/>
              <a:ext cx="883920" cy="868680"/>
            </a:xfrm>
            <a:custGeom>
              <a:avLst/>
              <a:gdLst/>
              <a:ahLst/>
              <a:cxnLst/>
              <a:rect r="r" b="b" t="t" l="l"/>
              <a:pathLst>
                <a:path h="868680" w="883920">
                  <a:moveTo>
                    <a:pt x="0" y="0"/>
                  </a:moveTo>
                  <a:lnTo>
                    <a:pt x="883920" y="0"/>
                  </a:lnTo>
                  <a:lnTo>
                    <a:pt x="883920" y="868680"/>
                  </a:lnTo>
                  <a:lnTo>
                    <a:pt x="0" y="868680"/>
                  </a:lnTo>
                  <a:close/>
                </a:path>
              </a:pathLst>
            </a:custGeom>
            <a:blipFill>
              <a:blip r:embed="rId12"/>
              <a:stretch>
                <a:fillRect l="0" t="0" r="0" b="0"/>
              </a:stretch>
            </a:blipFill>
          </p:spPr>
        </p:sp>
      </p:grpSp>
      <p:sp>
        <p:nvSpPr>
          <p:cNvPr name="Freeform 26" id="26"/>
          <p:cNvSpPr/>
          <p:nvPr/>
        </p:nvSpPr>
        <p:spPr>
          <a:xfrm flipH="false" flipV="false" rot="0">
            <a:off x="3863854" y="8087934"/>
            <a:ext cx="1093472" cy="1093472"/>
          </a:xfrm>
          <a:custGeom>
            <a:avLst/>
            <a:gdLst/>
            <a:ahLst/>
            <a:cxnLst/>
            <a:rect r="r" b="b" t="t" l="l"/>
            <a:pathLst>
              <a:path h="1093472" w="1093472">
                <a:moveTo>
                  <a:pt x="0" y="0"/>
                </a:moveTo>
                <a:lnTo>
                  <a:pt x="1093471" y="0"/>
                </a:lnTo>
                <a:lnTo>
                  <a:pt x="1093471" y="1093472"/>
                </a:lnTo>
                <a:lnTo>
                  <a:pt x="0" y="109347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7" id="27"/>
          <p:cNvSpPr/>
          <p:nvPr/>
        </p:nvSpPr>
        <p:spPr>
          <a:xfrm flipH="false" flipV="false" rot="0">
            <a:off x="9696228" y="2696967"/>
            <a:ext cx="272473" cy="457938"/>
          </a:xfrm>
          <a:custGeom>
            <a:avLst/>
            <a:gdLst/>
            <a:ahLst/>
            <a:cxnLst/>
            <a:rect r="r" b="b" t="t" l="l"/>
            <a:pathLst>
              <a:path h="457938" w="272473">
                <a:moveTo>
                  <a:pt x="0" y="0"/>
                </a:moveTo>
                <a:lnTo>
                  <a:pt x="272473" y="0"/>
                </a:lnTo>
                <a:lnTo>
                  <a:pt x="272473" y="457938"/>
                </a:lnTo>
                <a:lnTo>
                  <a:pt x="0" y="45793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TextBox 28" id="28"/>
          <p:cNvSpPr txBox="true"/>
          <p:nvPr/>
        </p:nvSpPr>
        <p:spPr>
          <a:xfrm rot="0">
            <a:off x="1920716" y="2726280"/>
            <a:ext cx="5726799" cy="428625"/>
          </a:xfrm>
          <a:prstGeom prst="rect">
            <a:avLst/>
          </a:prstGeom>
        </p:spPr>
        <p:txBody>
          <a:bodyPr anchor="t" rtlCol="false" tIns="0" lIns="0" bIns="0" rIns="0">
            <a:spAutoFit/>
          </a:bodyPr>
          <a:lstStyle/>
          <a:p>
            <a:pPr algn="l">
              <a:lnSpc>
                <a:spcPts val="3240"/>
              </a:lnSpc>
            </a:pPr>
            <a:r>
              <a:rPr lang="en-US" sz="2700" b="true">
                <a:solidFill>
                  <a:srgbClr val="1F3864"/>
                </a:solidFill>
                <a:latin typeface="Arial Bold"/>
                <a:ea typeface="Arial Bold"/>
                <a:cs typeface="Arial Bold"/>
                <a:sym typeface="Arial Bold"/>
              </a:rPr>
              <a:t>References &amp; Learning Resources</a:t>
            </a:r>
          </a:p>
        </p:txBody>
      </p:sp>
      <p:sp>
        <p:nvSpPr>
          <p:cNvPr name="TextBox 29" id="29"/>
          <p:cNvSpPr txBox="true"/>
          <p:nvPr/>
        </p:nvSpPr>
        <p:spPr>
          <a:xfrm rot="0">
            <a:off x="279265" y="1133597"/>
            <a:ext cx="1404028" cy="319900"/>
          </a:xfrm>
          <a:prstGeom prst="rect">
            <a:avLst/>
          </a:prstGeom>
        </p:spPr>
        <p:txBody>
          <a:bodyPr anchor="t" rtlCol="false" tIns="0" lIns="0" bIns="0" rIns="0">
            <a:spAutoFit/>
          </a:bodyPr>
          <a:lstStyle/>
          <a:p>
            <a:pPr algn="ctr">
              <a:lnSpc>
                <a:spcPts val="2508"/>
              </a:lnSpc>
            </a:pPr>
            <a:r>
              <a:rPr lang="en-US" sz="1791">
                <a:solidFill>
                  <a:srgbClr val="00C2FF"/>
                </a:solidFill>
                <a:latin typeface="HK Modular"/>
                <a:ea typeface="HK Modular"/>
                <a:cs typeface="HK Modular"/>
                <a:sym typeface="HK Modular"/>
              </a:rPr>
              <a:t>S</a:t>
            </a:r>
            <a:r>
              <a:rPr lang="en-US" sz="1791">
                <a:solidFill>
                  <a:srgbClr val="5085FF"/>
                </a:solidFill>
                <a:latin typeface="HK Modular"/>
                <a:ea typeface="HK Modular"/>
                <a:cs typeface="HK Modular"/>
                <a:sym typeface="HK Modular"/>
              </a:rPr>
              <a:t>p</a:t>
            </a:r>
            <a:r>
              <a:rPr lang="en-US" sz="1791">
                <a:solidFill>
                  <a:srgbClr val="385FFF"/>
                </a:solidFill>
                <a:latin typeface="HK Modular"/>
                <a:ea typeface="HK Modular"/>
                <a:cs typeface="HK Modular"/>
                <a:sym typeface="HK Modular"/>
              </a:rPr>
              <a:t>e</a:t>
            </a:r>
            <a:r>
              <a:rPr lang="en-US" sz="1791">
                <a:solidFill>
                  <a:srgbClr val="5085FF"/>
                </a:solidFill>
                <a:latin typeface="HK Modular"/>
                <a:ea typeface="HK Modular"/>
                <a:cs typeface="HK Modular"/>
                <a:sym typeface="HK Modular"/>
              </a:rPr>
              <a:t>c</a:t>
            </a:r>
            <a:r>
              <a:rPr lang="en-US" sz="1791">
                <a:solidFill>
                  <a:srgbClr val="6E5AFF"/>
                </a:solidFill>
                <a:latin typeface="HK Modular"/>
                <a:ea typeface="HK Modular"/>
                <a:cs typeface="HK Modular"/>
                <a:sym typeface="HK Modular"/>
              </a:rPr>
              <a:t>t</a:t>
            </a:r>
            <a:r>
              <a:rPr lang="en-US" sz="1791">
                <a:solidFill>
                  <a:srgbClr val="5085FF"/>
                </a:solidFill>
                <a:latin typeface="HK Modular"/>
                <a:ea typeface="HK Modular"/>
                <a:cs typeface="HK Modular"/>
                <a:sym typeface="HK Modular"/>
              </a:rPr>
              <a:t>r</a:t>
            </a:r>
            <a:r>
              <a:rPr lang="en-US" sz="1791">
                <a:solidFill>
                  <a:srgbClr val="6E5AFF"/>
                </a:solidFill>
                <a:latin typeface="HK Modular"/>
                <a:ea typeface="HK Modular"/>
                <a:cs typeface="HK Modular"/>
                <a:sym typeface="HK Modular"/>
              </a:rPr>
              <a:t>a</a:t>
            </a:r>
          </a:p>
        </p:txBody>
      </p:sp>
      <p:sp>
        <p:nvSpPr>
          <p:cNvPr name="TextBox 30" id="30"/>
          <p:cNvSpPr txBox="true"/>
          <p:nvPr/>
        </p:nvSpPr>
        <p:spPr>
          <a:xfrm rot="0">
            <a:off x="12912755" y="7223025"/>
            <a:ext cx="928212" cy="486457"/>
          </a:xfrm>
          <a:prstGeom prst="rect">
            <a:avLst/>
          </a:prstGeom>
        </p:spPr>
        <p:txBody>
          <a:bodyPr anchor="t" rtlCol="false" tIns="0" lIns="0" bIns="0" rIns="0">
            <a:spAutoFit/>
          </a:bodyPr>
          <a:lstStyle/>
          <a:p>
            <a:pPr algn="l">
              <a:lnSpc>
                <a:spcPts val="4034"/>
              </a:lnSpc>
            </a:pPr>
            <a:r>
              <a:rPr lang="en-US" sz="2882" b="true">
                <a:solidFill>
                  <a:srgbClr val="000000"/>
                </a:solidFill>
                <a:latin typeface="Canva Sans Bold"/>
                <a:ea typeface="Canva Sans Bold"/>
                <a:cs typeface="Canva Sans Bold"/>
                <a:sym typeface="Canva Sans Bold"/>
              </a:rPr>
              <a:t>Links</a:t>
            </a:r>
          </a:p>
        </p:txBody>
      </p:sp>
      <p:sp>
        <p:nvSpPr>
          <p:cNvPr name="TextBox 31" id="31"/>
          <p:cNvSpPr txBox="true"/>
          <p:nvPr/>
        </p:nvSpPr>
        <p:spPr>
          <a:xfrm rot="0">
            <a:off x="10314307" y="8178390"/>
            <a:ext cx="3302902" cy="295275"/>
          </a:xfrm>
          <a:prstGeom prst="rect">
            <a:avLst/>
          </a:prstGeom>
        </p:spPr>
        <p:txBody>
          <a:bodyPr anchor="t" rtlCol="false" tIns="0" lIns="0" bIns="0" rIns="0">
            <a:spAutoFit/>
          </a:bodyPr>
          <a:lstStyle/>
          <a:p>
            <a:pPr algn="ctr" marL="427482" indent="-213741" lvl="1">
              <a:lnSpc>
                <a:spcPts val="2375"/>
              </a:lnSpc>
              <a:buFont typeface="Arial"/>
              <a:buChar char="•"/>
            </a:pPr>
            <a:r>
              <a:rPr lang="en-US" b="true" sz="1979" u="sng">
                <a:solidFill>
                  <a:srgbClr val="000000"/>
                </a:solidFill>
                <a:latin typeface="Canva Sans Bold"/>
                <a:ea typeface="Canva Sans Bold"/>
                <a:cs typeface="Canva Sans Bold"/>
                <a:sym typeface="Canva Sans Bold"/>
                <a:hlinkClick r:id="rId17" tooltip="https://pysdr.org"/>
              </a:rPr>
              <a:t>PySDR Documentation</a:t>
            </a:r>
          </a:p>
        </p:txBody>
      </p:sp>
      <p:sp>
        <p:nvSpPr>
          <p:cNvPr name="TextBox 32" id="32"/>
          <p:cNvSpPr txBox="true"/>
          <p:nvPr/>
        </p:nvSpPr>
        <p:spPr>
          <a:xfrm rot="0">
            <a:off x="10325407" y="8521290"/>
            <a:ext cx="2694140" cy="330708"/>
          </a:xfrm>
          <a:prstGeom prst="rect">
            <a:avLst/>
          </a:prstGeom>
        </p:spPr>
        <p:txBody>
          <a:bodyPr anchor="t" rtlCol="false" tIns="0" lIns="0" bIns="0" rIns="0">
            <a:spAutoFit/>
          </a:bodyPr>
          <a:lstStyle/>
          <a:p>
            <a:pPr algn="l" marL="427482" indent="-213741" lvl="1">
              <a:lnSpc>
                <a:spcPts val="2771"/>
              </a:lnSpc>
              <a:buFont typeface="Arial"/>
              <a:buChar char="•"/>
            </a:pPr>
            <a:r>
              <a:rPr lang="en-US" b="true" sz="1979" u="sng">
                <a:solidFill>
                  <a:srgbClr val="000000"/>
                </a:solidFill>
                <a:latin typeface="Canva Sans Bold"/>
                <a:ea typeface="Canva Sans Bold"/>
                <a:cs typeface="Canva Sans Bold"/>
                <a:sym typeface="Canva Sans Bold"/>
                <a:hlinkClick r:id="rId18" tooltip="https://getsamplefiles.com/sample-audio-files/wav"/>
              </a:rPr>
              <a:t>Dataset used</a:t>
            </a:r>
          </a:p>
        </p:txBody>
      </p:sp>
      <p:sp>
        <p:nvSpPr>
          <p:cNvPr name="TextBox 33" id="33"/>
          <p:cNvSpPr txBox="true"/>
          <p:nvPr/>
        </p:nvSpPr>
        <p:spPr>
          <a:xfrm rot="0">
            <a:off x="10314307" y="7880932"/>
            <a:ext cx="7008882" cy="295275"/>
          </a:xfrm>
          <a:prstGeom prst="rect">
            <a:avLst/>
          </a:prstGeom>
        </p:spPr>
        <p:txBody>
          <a:bodyPr anchor="t" rtlCol="false" tIns="0" lIns="0" bIns="0" rIns="0">
            <a:spAutoFit/>
          </a:bodyPr>
          <a:lstStyle/>
          <a:p>
            <a:pPr algn="l" marL="427482" indent="-213741" lvl="1">
              <a:lnSpc>
                <a:spcPts val="2375"/>
              </a:lnSpc>
              <a:buFont typeface="Arial"/>
              <a:buChar char="•"/>
            </a:pPr>
            <a:r>
              <a:rPr lang="en-US" b="true" sz="1979" u="sng">
                <a:solidFill>
                  <a:srgbClr val="000000"/>
                </a:solidFill>
                <a:latin typeface="Canva Sans Bold"/>
                <a:ea typeface="Canva Sans Bold"/>
                <a:cs typeface="Canva Sans Bold"/>
                <a:sym typeface="Canva Sans Bold"/>
                <a:hlinkClick r:id="rId19" tooltip="https://github.com/gourabde7/Spectra"/>
              </a:rPr>
              <a:t>Project GitHub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DAHTybhzYpY</dc:identifier>
  <dcterms:modified xsi:type="dcterms:W3CDTF">2011-08-01T06:04:30Z</dcterms:modified>
  <cp:revision>1</cp:revision>
  <dc:title>SIH2026_IDEA_PPT_PS26147_COMINT_Signal_Analysis_Workbench (1).pptx</dc:title>
</cp:coreProperties>
</file>